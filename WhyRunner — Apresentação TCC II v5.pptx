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280" r:id="rId53"/>
    <p:sldId id="281" r:id="rId54"/>
    <p:sldId id="282" r:id="rId55"/>
    <p:sldId id="283" r:id="rId56"/>
    <p:sldId id="284" r:id="rId57"/>
    <p:sldId id="285" r:id="rId58"/>
    <p:sldId id="286" r:id="rId59"/>
    <p:sldId id="287" r:id="rId60"/>
    <p:sldId id="288" r:id="rId61"/>
    <p:sldId id="289" r:id="rId62"/>
    <p:sldId id="290" r:id="rId63"/>
    <p:sldId id="291" r:id="rId64"/>
    <p:sldId id="292" r:id="rId65"/>
    <p:sldId id="293" r:id="rId66"/>
    <p:sldId id="294" r:id="rId67"/>
    <p:sldId id="295" r:id="rId68"/>
    <p:sldId id="296" r:id="rId69"/>
    <p:sldId id="297" r:id="rId70"/>
    <p:sldId id="298" r:id="rId71"/>
    <p:sldId id="299" r:id="rId72"/>
    <p:sldId id="300" r:id="rId73"/>
    <p:sldId id="301" r:id="rId74"/>
    <p:sldId id="302" r:id="rId75"/>
    <p:sldId id="303" r:id="rId76"/>
    <p:sldId id="304" r:id="rId77"/>
    <p:sldId id="305" r:id="rId78"/>
    <p:sldId id="306" r:id="rId79"/>
    <p:sldId id="307" r:id="rId80"/>
    <p:sldId id="308" r:id="rId81"/>
    <p:sldId id="309" r:id="rId82"/>
    <p:sldId id="310" r:id="rId83"/>
    <p:sldId id="311" r:id="rId84"/>
    <p:sldId id="312" r:id="rId85"/>
    <p:sldId id="313" r:id="rId86"/>
    <p:sldId id="314" r:id="rId87"/>
    <p:sldId id="315" r:id="rId88"/>
    <p:sldId id="316" r:id="rId89"/>
    <p:sldId id="317" r:id="rId90"/>
    <p:sldId id="318" r:id="rId91"/>
    <p:sldId id="319" r:id="rId92"/>
    <p:sldId id="320" r:id="rId93"/>
    <p:sldId id="321" r:id="rId94"/>
    <p:sldId id="322" r:id="rId95"/>
    <p:sldId id="323" r:id="rId96"/>
    <p:sldId id="324" r:id="rId97"/>
    <p:sldId id="325" r:id="rId98"/>
    <p:sldId id="326" r:id="rId99"/>
    <p:sldId id="327" r:id="rId100"/>
    <p:sldId id="328" r:id="rId101"/>
    <p:sldId id="329" r:id="rId102"/>
    <p:sldId id="330" r:id="rId103"/>
    <p:sldId id="331" r:id="rId104"/>
    <p:sldId id="332" r:id="rId105"/>
    <p:sldId id="333" r:id="rId106"/>
    <p:sldId id="334" r:id="rId107"/>
    <p:sldId id="335" r:id="rId108"/>
    <p:sldId id="336" r:id="rId109"/>
    <p:sldId id="337" r:id="rId110"/>
    <p:sldId id="338" r:id="rId111"/>
    <p:sldId id="339" r:id="rId112"/>
    <p:sldId id="340" r:id="rId113"/>
    <p:sldId id="341" r:id="rId114"/>
    <p:sldId id="342" r:id="rId115"/>
    <p:sldId id="343" r:id="rId116"/>
    <p:sldId id="344" r:id="rId117"/>
    <p:sldId id="345" r:id="rId118"/>
    <p:sldId id="346" r:id="rId119"/>
    <p:sldId id="347" r:id="rId120"/>
    <p:sldId id="348" r:id="rId121"/>
    <p:sldId id="349" r:id="rId14"/>
    <p:sldId id="350" r:id="rId122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4ab60b7-2759-f0ca-8802-cf2776c57ed1}">
          <p14:sldIdLst>
            <p14:sldId id="256"/>
          </p14:sldIdLst>
        </p14:section>
        <p14:section name="Introdução" id="{eaac551f-4214-2913-b10b-ef1a0af77074}">
          <p14:sldIdLst>
            <p14:sldId id="257"/>
            <p14:sldId id="258"/>
          </p14:sldIdLst>
        </p14:section>
        <p14:section name="Trabalhos relacionados" id="{96d8f200-8e3f-2256-7803-618dec6fa8e6}">
          <p14:sldIdLst>
            <p14:sldId id="259"/>
          </p14:sldIdLst>
        </p14:section>
        <p14:section name="Metodologia" id="{0c10b5ba-a3bc-3664-b2a2-62a1239676ac}">
          <p14:sldIdLst>
            <p14:sldId id="260"/>
            <p14:sldId id="261"/>
            <p14:sldId id="262"/>
          </p14:sldIdLst>
        </p14:section>
        <p14:section name="Resultados" id="{6e54e262-8e6b-4997-f4ac-450b196d192d}">
          <p14:sldIdLst>
            <p14:sldId id="263"/>
            <p14:sldId id="264"/>
            <p14:sldId id="265"/>
          </p14:sldIdLst>
        </p14:section>
        <p14:section name="Discussão e cronograma" id="{20deca9a-0b7f-e2cd-946d-5c2692820231}">
          <p14:sldIdLst>
            <p14:sldId id="266"/>
            <p14:sldId id="267"/>
          </p14:sldIdLst>
        </p14:section>
        <p14:section name="Referências" id="{4ccfc0aa-a1d4-30a0-57c8-cb84e1396ea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referências, incluindo os quatro sistemas comparados, o artigo do winnowing de Schleimer, Wilkerson e Aiken, e o SUS de Brooke.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Eu sou o Juan, e este é o WhyRunner: um juiz online para o ensino de programação, com dicas de IA que o professor controla. As seis siglas à direita são os vereditos que o sistema devolve; vamos voltar a 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roteiro: primeiro o problema e a pergunta de pesquisa, depois como o sistema foi construído. Em seguida o produto, na ordem em que ele é usado: o professor, o aluno, as aulas da turma e a detecção de plágio. Só então como ele funciona por dentro, o desempenho medido, como os alunos vão avaliar, e por fim limitações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1: Introdução, o problema e 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juiz online recebe o código, roda contra casos de teste e devolve um veredito. Em sistemas como o BOCA, o aluno vê só isto: resposta errada, sem explicação. Para quem está aprendendo, isso não ensina nada. Foi a minha experiência em maratonas de programação usando esses sistemas como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Daí a pergunta de pesquisa: será que feedback gerado por IA, somado a atividades montadas pelo professor, torna um juiz online mais útil para o ensino? O resto da apresentação mostra o que foi construído para responder isso, e como vamos 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geral é desenvolver e avaliar um juiz online voltado ao ensino. Três pilares: executar código com segurança em várias linguagens; explicar o erro, com dicas de IA que não entregam a solução; e deixar o professor no controle, montando aulas, torneios e decidindo quanto a IA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Analisei quatro sistemas. O Ataux, TCC da UFCG de 2021, não tem juiz próprio: o professor monta listas por turma com problemas do Codeforces, o aluno envia lá, e o Ataux sincroniza os vereditos pela API do Codeforces e gera a planilha de notas, com desconto por atraso; detecção de plágio ficou como trabalho futuro. O Gamma Online Judge, da UnB, guarda e julga os problemas das maratonas da UnB, com as linguagens do ICPC e vereditos no padrão ICPC, usando o MOJ Tools; a versão de 2023 acrescentou contests virtuais, mas não há turmas. O Run Codes, criado no ICMC-USP, tem disciplinas e exercícios com correção automática por casos de teste e suporta doze linguagens, segundo um artigo da UFC de 2022; hoje, 28 de outubro, o domínio run.codes aparece à venda. O BOCA, de 2004, é o sistema da Maratona da SBC: por padrão aceita C, C++, Java, Kotlin e Python, e responde YES ou NO com o motivo, como Wrong answer ou Time limit exceeded; o autojuiz só prepara a correção, quem confirma o veredito é um juiz humano. Nenhum deles explica 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 a tabela: turmas e listas com prazo não são novidade, o Ataux e o Run Codes têm. O diferencial está em três coisas. Dicas por IA, sob controle do professor. Restrições de como resolver, por exemplo proibir laço aninhado ou exigir um algoritmo. E blocos e Parsons em Portugol, para quem nunca programou.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2: Metodologia, como o sistema foi construído.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desenvolvimento foi iterativo, a partir de um levantamento na literatura, de conversas com alunos e da minha experiência. A fila começou com BullMQ e depois AWS SQS, e terminou no próprio PostgreSQL com LISTEN e NOTIFY. O backend NestJS separado virou Server Actions do Next.js. O Supabase virou PostgreSQL com Drizzle. E a execução em contêiner Docker por envio virou o isolate, o sandbox da IOI. Um MVP foi testado informalmente no Discord.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MVP: cinco colegas usaram o sistema no meu servidor do Discord, sem roteiro nem questionário. É um teste informal, não a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reclamações viraram mudanças: o torneio não mostrava o código de cada tentativa; o placar só mostrava medalhas; e o erro de importar JSON dizia só Invalid format. Todas foram corrigidas antes da versão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lado bom: o visual estilo terminal, e o nome. O Why lido como o uai mineiro, que é justamente a ideia de explicar por que o código falhou. A seguir, o sistema como ele é hoje, começando pelo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3: O professor, criar problemas e torneios.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professor começa pelo banco de problemas: busca por título ou pelo código do problema, como DEMO-101, filtro por dificuldade, por tags agrupadas e só pelos meus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já tem uma lista pronta importa vários problemas de uma vez a partir de um arquivo JSON, com o formato documentado na própria tela e um modelo para baixar. Erro de formato aponta o problema e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problema é novo, antes de publicar o autor precisa provar que os casos de teste estão certos: escolhe uma linguagem, cola uma solução de referência ou pede para a IA gerar uma, e o judge roda a solução contra todos os casos. Se alguma saída não bate, o erro está no caso de teste. Se ele mudar um teste depois, a publicação trava até validar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 isso: pedi à IA soluções de referência em Python e em C para os dez problemas de exemplo e julguei todas no judge. Python passou em 10 de 10; C em 8 de 10. As duas falhas vieram do último modelo da cadeia, o Claude Haiku, que escreveu uma frase antes do código, apesar da instrução; não compilou. É exatamente o caso que a validação antes de publicar existe para pegar.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Mais duas ajudas de IA na criação: a narrativa, uma pequena história no estilo do Advent of Code para contextualizar o enunciado; e as tags, de um catálogo fixo de temas. As duas só preenchem o formulário; nada é salvo sem 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revisão com IA lê o enunciado e os casos de teste e sugere casos de borda que faltam; aqui, o menor primo e o menor número composto. Cada sugestão entra nos testes com um clique.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pré-visualização mostra o enunciado renderizado, com Markdown e LaTeX e a narrativa, exatamente como o aluno vai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problemas no banco, o professor cria um torneio: nome, descrição, datas, se é privado e o nível máximo de ajuda da IA. A mudança de nível vale a partir do próximo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problemas são buscados pelo código e viram A, B, C, D na ordem escolhida.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 torneio privado, o aluno pede para entrar e o professor aprova ou rejeita. O pedido gera uma notificação para o professor, e a aprovação uma para 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torneio, a IA tem quatro níveis: desligada; conceito, que só nomeia a área do erro; dica, que explica o que está errado sem código; e precisa, que aponta a linha. O professor define o máximo, o servidor aplica, e o aluno libera um nível por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torneio rodando, o professor acompanha o placar: em cada célula, as tentativas e o minuto do acerto; verde é resolvido, vermelho só tentativas erradas; e atualiza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Lendo uma célula: 2 tentativas, resolvido no minuto 22, e a estrela marca o primeiro a resolver aquele problema. Empate em número de problemas é desfeito pela penalidade: soma dos minutos dos acertos mais 20 por tentativa errada antes do acerto.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4: O aluno, resolver e entender 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mesmo sistema visto pelo aluno. A tela inicial mostra exercícios pendentes da turma, o último torneio, o que resolveu recentemente e sugestões de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editor é o Monaco, o mesmo do VS Code, com destaque de sintaxe nas seis linguagens. O código é salvo no navegador por problema e linguagem, então fechar a aba não perde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enviar, cada tentativa aparece com a hora, a linguagem e o veredito com a sua cor. Este aluno de demonstração errou, não compilou, estourou tempo, quebrou, estourou memória e por fim acertou. Os seis vereditos são explicados na parte do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envio guarda o código, então o aluno sabe qual versão deu qual veredito. Se o caso que falhou é um exemplo público, ele vê a entrada, a própria saída e a esperada; se é escondido, como aqui, vê só o número do caso, para não dar para extrair os testes. O botão Explicar pede à IA uma dica sobre o erro, dentro do nível que o professor liberou.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notificações avisam quando um envio foi julgado, quando um pedido para entrar num torneio foi aprovado e quando uma nova aula foi liberada. Eventos repetidos se agrupam numa entrada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a paleta de comandos: Ctrl K abre uma busca por problemas, páginas e ações, como criar turma. O atalho aparece no menu, ao lado do botão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5: Aulas e turma, listas com prazo e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dos torneios, o professor tem turmas. Para entrar, o aluno digita o código de seis letras da turma, aqui ALGV4D.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aula é uma lista de exercícios montada pelo professor com problemas do banco, com prazo. Depois do prazo o professor revisa as entregas.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um formato. No modo blocos, no estilo Scratch, os blocos têm rótulos em português e viram Portugol, que roda no judge como qualquer outra linguagem; aqui, a entrega de um aluno com o código gerado embaixo.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modo Parsons, o aluno recebe as linhas da solução do professor, embaralhadas, e só ordena e indenta. A solução do professor precisa passar no judge antes de virar exercício.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restrições de solução: limite de laços aninhados, construções proibidas ou obrigatórias, e um algoritmo exigido, verificado pela IA. Uma solução correta que viola a restrição recebe um veredito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restrições estruturais analisam o texto do código, não uma árvore sintática. Medi com 30 amostras: violações reais, código limpo e nomes que contêm a palavra proibida, todos certos. Mas quando a palavra está dentro de uma string ou de um comentário, o verificador erra 10 de 11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do prazo, o professor revisa: nota automática pela fração de casos que passaram, e um comentário por exercício. Aqui, a saída estava certa mas violou a restrição de laço aninhado.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boletim: cada aluno numa linha, cada exercício numa coluna, com a soma por aula e o total. Traço indica aula não entregue. As notas vêm do mesmo cálculo da revisão, então os dois nunca discordam.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boletim exporta para CSV. Três cuidados: segue a RFC 4180 para aspas e quebras de linha; começa com um BOM para o Excel abrir os acentos certos; e neutraliza células que começam com igual, mais, menos ou arroba, para um nome de aluno malicioso não virar fórmula no Excel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6: Plágio, quem copiou de quem.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envios de um torneio ou de uma aula, o professor pode pedir o relatório de similaridade: escolhe o problema, se compara o último envio ou o melhor de cada aluno, e a similaridade mínima. A tela avisa: nota alta é motivo para ler os dois códigos, não prova de cópia.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Clicando no par, os dois códigos aparecem lado a lado, com os trechos coincidentes da mesma cor. Aqui a aluna renomeou tudo e adicionou comentários: cem por cento coincidente mesmo assim.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comparação existe para cada exercício de uma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algoritmo é o do MOSS, de Schleimer, Wilkerson e Aiken. O código vira tokens, com um tokenizador por linguagem. Grupos de 5 tokens viram hashes, os k-gramas. O winnowing escolhe o menor hash de cada janela, e esses são as impressões digitais. Pares que compartilham impressões são comparados por greedy string tiling, que encontra os trechos iguais, e a similaridade é a fração de tokens cobertos.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truque está na normalização: identificadores viram V, números viram N, strings viram S, e comentários e espaços somem. Além disso, o código que a maioria da turma compartilha, como o esqueleto do problema, é descontado.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medir a qualidade, escrevi 36 soluções independentes: 4 problemas, em Python, C e Java, cada um com 3 autores de estilos diferentes. Cada uma ganhou 6 cópias ofuscadas automaticamente: renomear, reformatar, comentários, reordenar funções, inserir código morto e tudo junto. Tudo junto tem mediana de 84%; soluções independentes do mesmo problema, 34%.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curva ROC, a área é 0,998. O melhor limiar foi 0,52. No relatório da turma, com o filtro de código comum, nenhuma solução independente passou de 16%. Cuidado: as ofuscações são automáticas e sistemáticas, não as de um aluno esperto.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custo cresce com o quadrado do número de alunos, porque compara todos os pares. Mesmo assim: 30 alunos em cerca de 16 ms, 200 alunos em 364 a 420 ms, 300, o máximo do relatório, em menos de um segundo. Duas limitações ficam para a discussão: só compara a mesma linguagem e não detecta código gerado por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7: Por dentro, arquitetura e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o que vimos roda sobre esta arquitetura. O navegador fala com o Next.js por Server Actions. A action grava o envio como PENDING e dispara um NOTIFY no PostgreSQL. O judge, em Rust, está escutando; pega o envio, compila e roda cada caso de teste no isolate, e grava o veredito no mesmo banco. Não há fila externa nem API entre os dois. A IA é chamada só pelo Next.js, por uma cadeia de três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os dois serviços compartilham o banco, mas não o código, o status do envio e a linguagem são enums definidos duas vezes, em Rust e no Drizzle. Se um lado ganhar um valor e o outro não, o judge quebra ao ler a linha. O script check-enum-sync compara os dois e falha o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execução roda numa caixa nova do isolate, o sandbox usado na Olimpíada Internacional de Informática. A caixa não tem rede, tem limite de tempo de CPU e de parede, de memória, e no máximo 64 processos, o que contém fork bombs. Depois de cada caso de teste a caixa é destruída. Não precisamos de Docker privilegiado, só de duas capabilities do Linux.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judge roda seis linguagens: C, C++, Java, Python, Rust e Portugol. Linguagens compiladas compilam uma vez por envio, numa caixa própria, e o tempo de compilação não conta no limite do problema. Portugol é o caso especial: o interpretador recompila o programa em toda execução, por isso ganha mais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a versão 3, o judge só dizia passou ou falhou. Agora cada falha tem nome, no padrão das maratonas. Aceito: passou em todos os casos. Resposta errada: terminou, mas a saída é diferente. Tempo excedido: o limite do problema vezes um fator da linguagem; Java ganha o dobro mais meio segundo, Python o triplo. Memória excedida: 128 MB em C, C++ e Python. Erro de compilação: o aluno vê a saída do compilador. Erro de execução: divisão por zero, índice fora do vetor. O veredito do envio é o do primeiro caso que falhou; o erro do juiz, quando a falha é nossa, nunca penaliza 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placar, seguimos a convenção da ICPC: tentativas rejeitadas custam 20 minutos de penalidade quando o problema é resolvido, mas erro de compilação não conta. Quem não compilou não chegou a ser julgado.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o MLE é difícil: o limite de memória do isolate, sem cgroups, é de espaço de endereçamento. Quando estoura, o malloc falha e o programa quebra; não há um sinal limpo de falta de memória. Então o judge deduz: se o pico chegou a 90% do limite, ou se a saída de erro tem MemoryError ou bad_alloc, é MLE.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a saída é configurável por problema. Exata: idêntica, ignorando só espaços no começo e no fim. Tokens: palavra por palavra; é o padrão de problema novo. Float: números aceitos dentro de uma tolerância. E corretor: um programa do professor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corretor serve para problemas com mais de uma resposta certa. Neste exemplo, imprimir qualquer divisor de N: 12 aceita 2, 3, 4 ou 6. O professor escreve um pequeno programa que decide. O código do corretor nunca chega ao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protocolo é o do testlib: entrada, saída do aluno e resposta esperada. Código zero é aceito; um é resposta errada, e o que ele imprimir vira a mensagem para o aluno; qualquer outra coisa é erro do juiz, que não penaliza o aluno. O corretor roda no isolate como qualquer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Peguei as saídas esperadas dos dez problemas de exemplo e as reescrevi como um programa correto costuma escrever: espaço no fim da linha, linhas em branco, quebra de linha do Windows, floats com outra precisão. O modo tokens aceita todas as de espaço. Floats com outra precisão só passam no modo float: 7 de 12. No histórico real, as 16 respostas erradas eram todas erros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8: Desempenho, benchmarks e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banca não ter que acreditar em mim, todos os números a seguir vêm de scripts no diretório bench do repositório, com os resultados brutos commitados. Máquina: Ryzen 5 5600, 32 GB de RAM, CachyOS. O judge roda na mesma imagem Docker de produção, contra um PostgreSQL descartável.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mudança de desempenho: o judge virou um pool de workers. Um dispatcher escuta o NOTIFY, faz a varredura a cada 60 segundos e reaproveita envios travados; os workers pegam envios com FOR UPDATE SKIP LOCKED, então dois nunca pegam o mesmo. Cada worker tem a sua caixa do isolate.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benchmark simula uma turma apertando enviar ao mesmo tempo: 40 ou 100 envios de uma vez, misturando as seis linguagens. Com um worker, 100 envios levam 143 segundos. Com 4, 51; com 8, 38. Não escala linearmente porque compiladores e a JVM disputam CPU e disco.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o aluno sente é a espera. Com um worker a mediana é 66 segundos e o percentil 95 é 134. Com 8 workers, a mediana cai para 18 segundos e o p95 para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parte honesta: em produção, o judge roda numa máquina da Fly.io com uma vCPU. Prendi o contêiner a uma CPU e repeti: com 1 worker, 80 segundos; com 4, 82. Nenhum ganho. O pool só ajuda com vários núcleos.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judge ocioso: do INSERT até o judge pegar a linha, cerca de 1 milissegundo. C fica pronto em 76 ms, Python em 87 ms, Java em 1,1 s. Portugol leva 7,2 s, porque o interpretador recompila o programa em cada caso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compila em 40 ms, C++ em 309, Rust em 236, Java em 619. Rodar um olá mundo leva poucos milissegundos, exceto Portugol: 1,3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C, C++ e Rust ficam abaixo de 4 MB, Python em 7,9 MB. Java usa 44 MB e Portugol 87, por causa da JVM.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custa a segurança? O mesmo programa direto e dentro do isolate: 5 a 6 ms a mais por execução na maioria das linguagens. Só criar e destruir uma caixa vazia leva 2,6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Escrevi dois programas para cada veredito em cada linguagem: 72 programas, julgados pelo código real. Aceito, resposta errada e tempo excedido: 100%. Três causas de erro: o console do Portugol imprime erros na saída padrão e termina com código zero, então vira resposta errada, 6 dos 9 erros; Python não tem etapa de compilação, então erro de sintaxe vira erro de execução; e o MLE é heurístico. Fora do Portugol, 57 de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Fiz 10 chamadas de cada recurso de IA com os prompts reais: 60 no total. As medianas ficaram entre 13,1 e 20,4 segundos, incluindo as tentativas que falharam antes do fallback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chamada de IA passa por um módulo do Next.js. Ele tenta o Gemini 3.5 Flash; se falhar ou passar de 30 segundos, o Flash-Lite; e por último o Claude Haiku 5.5, quando a chave da Anthropic está configurada. Durante o benchmark a chave do Gemini Flash estourou a cota: das 60 chamadas, 37 precisaram de fallback, e nenhuma ficou sem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placar e o boletim são calculados no servidor a cada visita. Com 1000 alunos: placar em 116 ms, boletim com 240 exercícios em 267 ms. Numa turma de 30, abaixo de 2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dos benchmarks, testes automatizados: o judge tem 51, 20 deles rodando código de verdade no isolate, incluindo fork bomb, laço infinito e estouro de memória. O site tem 112 testes das funções puras: placar, boletim, plágio,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push e pull request roda três jobs em paralelo: web, com tipos, lint e testes; judge, com formatação, clippy e os testes que não precisam do sandbox; e o enum-sync. Mediana de 24 segundos no web e 24 no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9: Avaliação, como os alunos vão avaliar.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como os alunos vão avaliar. Os questionários estão dentro do próprio sistema: quando o torneio ou a lista termina, aparece este convite para quem participou.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quatro formulários: professor e aluno, para torneio e para lista de exercícios. Todos começam pelo termo de consentimento; as respostas são anônimas na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usabilidade é medida pela System Usability Scale, de Brooke: dez afirmações de 1 a 5, e o sistema calcula a nota de 0 a 100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página de resultados: número de respostas, SUS médio, mediana e desvio, filtro por atividade e exportação em CSV. Está vazia porque ainda não aplicamos com alunos.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mais importante: a avaliação com alunos ainda não aconteceu. O primeiro teste em sala está marcado para 29 de outubro de 2026, com um torneio e uma lista de exercícios, e os questionários no final. Nenhum número desta apresentação vem de alunos.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10: Discussão, limitações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fortes: não há fila externa, só o PostgreSQL; o isolamento é o da IOI, sem Docker privilegiado; e a IA está sob controle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limitação é a maior: sem o teste em sala, a pergunta de pesquisa continua sem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limitações técnicas: em produção o judge tem uma vCPU, e aí o pool não ajuda. O console do Portugol imprime erros e termina com sucesso, então erro vira resposta errada. O MLE é heurístico; o modo cgroups do isolate resolveria. As restrições são busca no texto; um parser por linguagem resolveria. E o plágio só compara a mesma linguagem e não detecta código gerado por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Trabalhos futuros: detectar código gerado por IA; ativar o modo cgroups do isolate; e um judge com vários núcleos em produção. E, claro, a avaliação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próximas etapas, em ordem: o teste em sala no dia 29, a análise dos dados, com o SUS e os dados de uso do próprio sistema, e a defesa.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WhyRunner · TCC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10" Type="http://schemas.openxmlformats.org/officeDocument/2006/relationships/image" Target="../media/v4-screenshots-lista-problemas-filtros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10" Type="http://schemas.openxmlformats.org/officeDocument/2006/relationships/image" Target="../media/v4-screenshots-v4-problem-import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10" Type="http://schemas.openxmlformats.org/officeDocument/2006/relationships/image" Target="../media/v4-screenshots-validacao-aprovada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10" Type="http://schemas.openxmlformats.org/officeDocument/2006/relationships/image" Target="../media/v4-charts-ai_reference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10" Type="http://schemas.openxmlformats.org/officeDocument/2006/relationships/image" Target="../media/v4-screenshots-ia-narrativa-tags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10" Type="http://schemas.openxmlformats.org/officeDocument/2006/relationships/image" Target="../media/v4-screenshots-ia-revisao-casos-borda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10" Type="http://schemas.openxmlformats.org/officeDocument/2006/relationships/image" Target="../media/v4-screenshots-previsualizacao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10" Type="http://schemas.openxmlformats.org/officeDocument/2006/relationships/image" Target="../media/v4-screenshots-v4-contest-settings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10" Type="http://schemas.openxmlformats.org/officeDocument/2006/relationships/image" Target="../media/v4-screenshots-torneio-busca-codigo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10" Type="http://schemas.openxmlformats.org/officeDocument/2006/relationships/image" Target="../media/v4-screenshots-v4-contest-join-requests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10" Type="http://schemas.openxmlformats.org/officeDocument/2006/relationships/image" Target="../media/v4-screenshots-v4-standings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10" Type="http://schemas.openxmlformats.org/officeDocument/2006/relationships/image" Target="../media/v4-screenshots-v4-home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10" Type="http://schemas.openxmlformats.org/officeDocument/2006/relationships/image" Target="../media/v4-screenshots-editor-autosave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10" Type="http://schemas.openxmlformats.org/officeDocument/2006/relationships/image" Target="../media/v4-screenshots-v4-verdicts-contest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10" Type="http://schemas.openxmlformats.org/officeDocument/2006/relationships/image" Target="../media/v4-screenshots-submissoes-explicar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10" Type="http://schemas.openxmlformats.org/officeDocument/2006/relationships/image" Target="../media/v4-screenshots-v4-notifications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10" Type="http://schemas.openxmlformats.org/officeDocument/2006/relationships/image" Target="../media/v4-screenshots-v4-command-palette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10" Type="http://schemas.openxmlformats.org/officeDocument/2006/relationships/image" Target="../media/v4-screenshots-turma-codigo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10" Type="http://schemas.openxmlformats.org/officeDocument/2006/relationships/image" Target="../media/v4-screenshots-v4-class-lessons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10" Type="http://schemas.openxmlformats.org/officeDocument/2006/relationships/image" Target="../media/v4-screenshots-formato-blocos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10" Type="http://schemas.openxmlformats.org/officeDocument/2006/relationships/image" Target="../media/v4-screenshots-formato-parsons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10" Type="http://schemas.openxmlformats.org/officeDocument/2006/relationships/image" Target="../media/v4-screenshots-solution-constraints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10" Type="http://schemas.openxmlformats.org/officeDocument/2006/relationships/image" Target="../media/v4-charts-constraints_accuracy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10" Type="http://schemas.openxmlformats.org/officeDocument/2006/relationships/image" Target="../media/v4-screenshots-revisao-professor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10" Type="http://schemas.openxmlformats.org/officeDocument/2006/relationships/image" Target="../media/v4-screenshots-v4-gradebook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10" Type="http://schemas.openxmlformats.org/officeDocument/2006/relationships/image" Target="../media/v4-screenshots-v4-similarity-pairs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10" Type="http://schemas.openxmlformats.org/officeDocument/2006/relationships/image" Target="../media/v4-screenshots-v4-similarity-side-by-side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10" Type="http://schemas.openxmlformats.org/officeDocument/2006/relationships/image" Target="../media/v4-screenshots-v4-similarity-exercise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10" Type="http://schemas.openxmlformats.org/officeDocument/2006/relationships/image" Target="../media/v4-charts-plagiarism_levels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10" Type="http://schemas.openxmlformats.org/officeDocument/2006/relationships/image" Target="../media/v4-charts-plagiarism_roc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10" Type="http://schemas.openxmlformats.org/officeDocument/2006/relationships/image" Target="../media/v4-charts-plagiarism_perf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10" Type="http://schemas.openxmlformats.org/officeDocument/2006/relationships/image" Target="../media/v4-screenshots-v4-compare-checker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10" Type="http://schemas.openxmlformats.org/officeDocument/2006/relationships/image" Target="../media/v4-charts-compare_modes.png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10" Type="http://schemas.openxmlformats.org/officeDocument/2006/relationships/image" Target="../media/v4-charts-concurrency_throughput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10" Type="http://schemas.openxmlformats.org/officeDocument/2006/relationships/image" Target="../media/v4-charts-concurrency_latency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10" Type="http://schemas.openxmlformats.org/officeDocument/2006/relationships/image" Target="../media/v4-charts-concurrency_1cpu.png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10" Type="http://schemas.openxmlformats.org/officeDocument/2006/relationships/image" Target="../media/v4-charts-e2e_stages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10" Type="http://schemas.openxmlformats.org/officeDocument/2006/relationships/image" Target="../media/v4-charts-lang_time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10" Type="http://schemas.openxmlformats.org/officeDocument/2006/relationships/image" Target="../media/v4-charts-lang_memory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10" Type="http://schemas.openxmlformats.org/officeDocument/2006/relationships/image" Target="../media/v4-charts-sandbox_overhead.png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10" Type="http://schemas.openxmlformats.org/officeDocument/2006/relationships/image" Target="../media/v4-charts-verdict_confusion.png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10" Type="http://schemas.openxmlformats.org/officeDocument/2006/relationships/image" Target="../media/v4-charts-ai_latency.png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10" Type="http://schemas.openxmlformats.org/officeDocument/2006/relationships/image" Target="../media/v4-charts-web_compute.png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10" Type="http://schemas.openxmlformats.org/officeDocument/2006/relationships/image" Target="../media/v4-screenshots-v4-survey-banner.png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10" Type="http://schemas.openxmlformats.org/officeDocument/2006/relationships/image" Target="../media/v4-screenshots-v4-survey-tcle.png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10" Type="http://schemas.openxmlformats.org/officeDocument/2006/relationships/image" Target="../media/v4-screenshots-v4-survey-sus.png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10" Type="http://schemas.openxmlformats.org/officeDocument/2006/relationships/image" Target="../media/v4-screenshots-v4-survey-results.png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ANTHROPIC. Claude Haiku 5.5. 2026. Disponível em: https://www.anthropic.com/claude.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BROOKE, J. SUS: a quick and dirty usability scale. Usability Evaluation in Industry, 1996.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CAMPOS, C. P.; FERREIRA, C. E. BOCA: um sistema de apoio a competições de programação. WEI, 2004.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CARNEIRO, M. F. Sistema web para auxílio no treinamento para maratonas de programação. UTFPR, 2012.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DRIZZLE TEAM. Drizzle ORM: TypeScript ORM for SQL.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GEMINI TEAM, GOOGLE. Gemini: a family of highly capable multimodal models. 2023.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LIMA, G. M. Gamma Online Judge: plataforma para as questões das maratonas UnB de programação. 2022.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MAREŠ, M.; BLACKHAM, B. A new contest sandbox. Olympiads in Informatics, v. 6, 2012.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MATSAKIS, N. D.; KLOCK, F. S. The Rust language. ACM SIGAda Ada Letters,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MERKEL, D. Docker: lightweight Linux containers for consistent development and deployment. Linux Journal,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RUN CODES. Run Codes: plataforma de programação online.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SCHLEIMER, S.; WILKERSON, D. S.; AIKEN, A. Winnowing: local algorithms for document fingerprinting. ACM SIGMOD, 2003.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SILVA, J. T. S. et al. Ataux: uma ferramenta para auxiliar o acompanhamento de submissões de questões de programação. 2021.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STONEBRAKER, M.; ROWE, L. A. The design of POSTGRES. ACM SIGMOD, 1986.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VERCEL INC. Next.js: the React framework for the web. 2024.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234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whyrunner --tcc-ii</a:t>
            </a:r>
            <a:endParaRPr lang="pt-BR" sz="1600" dirty="0"/>
          </a:p>
        </p:txBody>
      </p:sp>
      <p:sp>
        <p:nvSpPr>
          <p:cNvPr id="22" name="Text 22"/>
          <p:cNvSpPr txBox="1"/>
          <p:nvPr/>
        </p:nvSpPr>
        <p:spPr>
          <a:xfrm>
            <a:off x="822960" y="1691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6600" b="1" dirty="0">
                <a:solidFill>
                  <a:schemeClr val="bg1"/>
                </a:solidFill>
              </a:rPr>
              <a:t>WhyRunner</a:t>
            </a:r>
            <a:endParaRPr lang="pt-BR" sz="6600" dirty="0"/>
          </a:p>
        </p:txBody>
      </p:sp>
      <p:sp>
        <p:nvSpPr>
          <p:cNvPr id="23" name="Text 23"/>
          <p:cNvSpPr txBox="1"/>
          <p:nvPr/>
        </p:nvSpPr>
        <p:spPr>
          <a:xfrm>
            <a:off x="822960" y="2880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Um juiz online para o ensino de programação, com dicas de IA que o professor controla</a:t>
            </a:r>
            <a:endParaRPr lang="pt-BR" sz="2200" dirty="0"/>
          </a:p>
        </p:txBody>
      </p:sp>
      <p:sp>
        <p:nvSpPr>
          <p:cNvPr id="24" name="Text 24"/>
          <p:cNvSpPr txBox="1"/>
          <p:nvPr/>
        </p:nvSpPr>
        <p:spPr>
          <a:xfrm>
            <a:off x="822960" y="43434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t-BR" sz="1500" b="1" dirty="0">
                <a:solidFill>
                  <a:schemeClr val="bg1"/>
                </a:solidFill>
              </a:rPr>
              <a:t>Juan Israel dos Anjos</a:t>
            </a:r>
            <a:endParaRPr lang="pt-BR" sz="1500" dirty="0"/>
          </a:p>
          <a:p>
            <a:pPr indent="0" marL="0">
              <a:spcAft>
                <a:spcPts val="300"/>
              </a:spcAft>
              <a:buNone/>
            </a:pPr>
            <a:r>
              <a:rPr lang="pt-BR" sz="1500" dirty="0">
                <a:solidFill>
                  <a:schemeClr val="bg1"/>
                </a:solidFill>
              </a:rPr>
              <a:t>Orientadora: Suellen Mapa</a:t>
            </a:r>
            <a:endParaRPr lang="pt-BR" sz="1500" dirty="0"/>
          </a:p>
          <a:p>
            <a:pPr indent="0" marL="0">
              <a:spcAft>
                <a:spcPts val="300"/>
              </a:spcAft>
              <a:buNone/>
            </a:pPr>
            <a:r>
              <a:rPr lang="pt-BR" sz="1500" dirty="0">
                <a:solidFill>
                  <a:schemeClr val="bg1"/>
                </a:solidFill>
              </a:rPr>
              <a:t>Bacharelado em Sistemas de Informação · IFMG Ouro Branco</a:t>
            </a:r>
            <a:endParaRPr lang="pt-BR" sz="1500" dirty="0"/>
          </a:p>
          <a:p>
            <a:pPr indent="0" marL="0">
              <a:spcAft>
                <a:spcPts val="300"/>
              </a:spcAft>
              <a:buNone/>
            </a:pPr>
            <a:r>
              <a:rPr lang="pt-BR" sz="1500" dirty="0">
                <a:solidFill>
                  <a:schemeClr val="bg1"/>
                </a:solidFill>
              </a:rPr>
              <a:t>TCC II · outubro de 2026</a:t>
            </a:r>
            <a:endParaRPr lang="pt-BR" sz="1500" dirty="0"/>
          </a:p>
        </p:txBody>
      </p:sp>
      <p:sp>
        <p:nvSpPr>
          <p:cNvPr id="25" name="Shape 25"/>
          <p:cNvSpPr/>
          <p:nvPr/>
        </p:nvSpPr>
        <p:spPr>
          <a:xfrm>
            <a:off x="8092440" y="1463040"/>
            <a:ext cx="1554480" cy="105156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1A7F37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092440" y="14630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</a:t>
            </a:r>
            <a:endParaRPr lang="pt-BR" sz="2800" dirty="0"/>
          </a:p>
        </p:txBody>
      </p:sp>
      <p:sp>
        <p:nvSpPr>
          <p:cNvPr id="27" name="Shape 27"/>
          <p:cNvSpPr/>
          <p:nvPr/>
        </p:nvSpPr>
        <p:spPr>
          <a:xfrm>
            <a:off x="9875520" y="1463040"/>
            <a:ext cx="1554480" cy="105156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CF222E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875520" y="14630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</a:t>
            </a:r>
            <a:endParaRPr lang="pt-BR" sz="2800" dirty="0"/>
          </a:p>
        </p:txBody>
      </p:sp>
      <p:sp>
        <p:nvSpPr>
          <p:cNvPr id="29" name="Shape 29"/>
          <p:cNvSpPr/>
          <p:nvPr/>
        </p:nvSpPr>
        <p:spPr>
          <a:xfrm>
            <a:off x="8092440" y="2788920"/>
            <a:ext cx="1554480" cy="105156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092440" y="27889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TLE</a:t>
            </a:r>
            <a:endParaRPr lang="pt-BR" sz="2800" dirty="0"/>
          </a:p>
        </p:txBody>
      </p:sp>
      <p:sp>
        <p:nvSpPr>
          <p:cNvPr id="31" name="Shape 31"/>
          <p:cNvSpPr/>
          <p:nvPr/>
        </p:nvSpPr>
        <p:spPr>
          <a:xfrm>
            <a:off x="9875520" y="2788920"/>
            <a:ext cx="1554480" cy="105156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8250DF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9875520" y="27889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MLE</a:t>
            </a:r>
            <a:endParaRPr lang="pt-BR" sz="2800" dirty="0"/>
          </a:p>
        </p:txBody>
      </p:sp>
      <p:sp>
        <p:nvSpPr>
          <p:cNvPr id="33" name="Shape 33"/>
          <p:cNvSpPr/>
          <p:nvPr/>
        </p:nvSpPr>
        <p:spPr>
          <a:xfrm>
            <a:off x="8092440" y="4114800"/>
            <a:ext cx="1554480" cy="105156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9A6700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8092440" y="41148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endParaRPr lang="pt-BR" sz="2800" dirty="0"/>
          </a:p>
        </p:txBody>
      </p:sp>
      <p:sp>
        <p:nvSpPr>
          <p:cNvPr id="35" name="Shape 35"/>
          <p:cNvSpPr/>
          <p:nvPr/>
        </p:nvSpPr>
        <p:spPr>
          <a:xfrm>
            <a:off x="9875520" y="4114800"/>
            <a:ext cx="1554480" cy="105156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BF3989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9875520" y="41148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BF39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endParaRPr lang="pt-B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da apresentação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822960" y="176479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2296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01</a:t>
            </a:r>
            <a:endParaRPr lang="pt-BR" sz="1600" dirty="0"/>
          </a:p>
        </p:txBody>
      </p:sp>
      <p:sp>
        <p:nvSpPr>
          <p:cNvPr id="23" name="Text 23"/>
          <p:cNvSpPr txBox="1"/>
          <p:nvPr/>
        </p:nvSpPr>
        <p:spPr>
          <a:xfrm>
            <a:off x="1600200" y="1691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Introdução</a:t>
            </a:r>
            <a:endParaRPr lang="pt-BR" sz="2200" dirty="0"/>
          </a:p>
        </p:txBody>
      </p:sp>
      <p:sp>
        <p:nvSpPr>
          <p:cNvPr id="24" name="Text 24"/>
          <p:cNvSpPr txBox="1"/>
          <p:nvPr/>
        </p:nvSpPr>
        <p:spPr>
          <a:xfrm>
            <a:off x="1600200" y="20756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o problema e a pergunta</a:t>
            </a:r>
            <a:endParaRPr lang="pt-BR" sz="1500" dirty="0"/>
          </a:p>
        </p:txBody>
      </p:sp>
      <p:sp>
        <p:nvSpPr>
          <p:cNvPr id="25" name="Shape 25"/>
          <p:cNvSpPr/>
          <p:nvPr/>
        </p:nvSpPr>
        <p:spPr>
          <a:xfrm>
            <a:off x="822960" y="263347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2296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02</a:t>
            </a:r>
            <a:endParaRPr lang="pt-BR" sz="1600" dirty="0"/>
          </a:p>
        </p:txBody>
      </p:sp>
      <p:sp>
        <p:nvSpPr>
          <p:cNvPr id="27" name="Text 27"/>
          <p:cNvSpPr txBox="1"/>
          <p:nvPr/>
        </p:nvSpPr>
        <p:spPr>
          <a:xfrm>
            <a:off x="1600200" y="2560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Metodologia</a:t>
            </a:r>
            <a:endParaRPr lang="pt-BR" sz="2200" dirty="0"/>
          </a:p>
        </p:txBody>
      </p:sp>
      <p:sp>
        <p:nvSpPr>
          <p:cNvPr id="28" name="Text 28"/>
          <p:cNvSpPr txBox="1"/>
          <p:nvPr/>
        </p:nvSpPr>
        <p:spPr>
          <a:xfrm>
            <a:off x="1600200" y="2944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como o sistema foi construído</a:t>
            </a:r>
            <a:endParaRPr lang="pt-BR" sz="1500" dirty="0"/>
          </a:p>
        </p:txBody>
      </p:sp>
      <p:sp>
        <p:nvSpPr>
          <p:cNvPr id="29" name="Shape 29"/>
          <p:cNvSpPr/>
          <p:nvPr/>
        </p:nvSpPr>
        <p:spPr>
          <a:xfrm>
            <a:off x="822960" y="350215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2296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03</a:t>
            </a:r>
            <a:endParaRPr lang="pt-BR" sz="1600" dirty="0"/>
          </a:p>
        </p:txBody>
      </p:sp>
      <p:sp>
        <p:nvSpPr>
          <p:cNvPr id="31" name="Text 31"/>
          <p:cNvSpPr txBox="1"/>
          <p:nvPr/>
        </p:nvSpPr>
        <p:spPr>
          <a:xfrm>
            <a:off x="160020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O professor</a:t>
            </a:r>
            <a:endParaRPr lang="pt-BR" sz="2200" dirty="0"/>
          </a:p>
        </p:txBody>
      </p:sp>
      <p:sp>
        <p:nvSpPr>
          <p:cNvPr id="32" name="Text 32"/>
          <p:cNvSpPr txBox="1"/>
          <p:nvPr/>
        </p:nvSpPr>
        <p:spPr>
          <a:xfrm>
            <a:off x="1600200" y="3813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criar problemas e torneios</a:t>
            </a:r>
            <a:endParaRPr lang="pt-BR" sz="1500" dirty="0"/>
          </a:p>
        </p:txBody>
      </p:sp>
      <p:sp>
        <p:nvSpPr>
          <p:cNvPr id="33" name="Shape 33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822960" y="4370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04</a:t>
            </a:r>
            <a:endParaRPr lang="pt-BR" sz="1600" dirty="0"/>
          </a:p>
        </p:txBody>
      </p:sp>
      <p:sp>
        <p:nvSpPr>
          <p:cNvPr id="35" name="Text 35"/>
          <p:cNvSpPr txBox="1"/>
          <p:nvPr/>
        </p:nvSpPr>
        <p:spPr>
          <a:xfrm>
            <a:off x="1600200" y="4297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O aluno</a:t>
            </a:r>
            <a:endParaRPr lang="pt-BR" sz="2200" dirty="0"/>
          </a:p>
        </p:txBody>
      </p:sp>
      <p:sp>
        <p:nvSpPr>
          <p:cNvPr id="36" name="Text 36"/>
          <p:cNvSpPr txBox="1"/>
          <p:nvPr/>
        </p:nvSpPr>
        <p:spPr>
          <a:xfrm>
            <a:off x="1600200" y="4681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resolver e entender o erro</a:t>
            </a:r>
            <a:endParaRPr lang="pt-BR" sz="1500" dirty="0"/>
          </a:p>
        </p:txBody>
      </p:sp>
      <p:sp>
        <p:nvSpPr>
          <p:cNvPr id="37" name="Shape 37"/>
          <p:cNvSpPr/>
          <p:nvPr/>
        </p:nvSpPr>
        <p:spPr>
          <a:xfrm>
            <a:off x="822960" y="523951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822960" y="5239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05</a:t>
            </a:r>
            <a:endParaRPr lang="pt-BR" sz="1600" dirty="0"/>
          </a:p>
        </p:txBody>
      </p:sp>
      <p:sp>
        <p:nvSpPr>
          <p:cNvPr id="39" name="Text 39"/>
          <p:cNvSpPr txBox="1"/>
          <p:nvPr/>
        </p:nvSpPr>
        <p:spPr>
          <a:xfrm>
            <a:off x="1600200" y="5166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Aulas e turma</a:t>
            </a:r>
            <a:endParaRPr lang="pt-BR" sz="2200" dirty="0"/>
          </a:p>
        </p:txBody>
      </p:sp>
      <p:sp>
        <p:nvSpPr>
          <p:cNvPr id="40" name="Text 40"/>
          <p:cNvSpPr txBox="1"/>
          <p:nvPr/>
        </p:nvSpPr>
        <p:spPr>
          <a:xfrm>
            <a:off x="1600200" y="55504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listas com prazo e revisão</a:t>
            </a:r>
            <a:endParaRPr lang="pt-BR" sz="1500" dirty="0"/>
          </a:p>
        </p:txBody>
      </p:sp>
      <p:sp>
        <p:nvSpPr>
          <p:cNvPr id="41" name="Shape 41"/>
          <p:cNvSpPr/>
          <p:nvPr/>
        </p:nvSpPr>
        <p:spPr>
          <a:xfrm>
            <a:off x="6400800" y="176479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640080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06</a:t>
            </a:r>
            <a:endParaRPr lang="pt-BR" sz="1600" dirty="0"/>
          </a:p>
        </p:txBody>
      </p:sp>
      <p:sp>
        <p:nvSpPr>
          <p:cNvPr id="43" name="Text 43"/>
          <p:cNvSpPr txBox="1"/>
          <p:nvPr/>
        </p:nvSpPr>
        <p:spPr>
          <a:xfrm>
            <a:off x="7178040" y="1691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Plágio</a:t>
            </a:r>
            <a:endParaRPr lang="pt-BR" sz="2200" dirty="0"/>
          </a:p>
        </p:txBody>
      </p:sp>
      <p:sp>
        <p:nvSpPr>
          <p:cNvPr id="44" name="Text 44"/>
          <p:cNvSpPr txBox="1"/>
          <p:nvPr/>
        </p:nvSpPr>
        <p:spPr>
          <a:xfrm>
            <a:off x="7178040" y="20756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quem copiou de quem</a:t>
            </a:r>
            <a:endParaRPr lang="pt-BR" sz="1500" dirty="0"/>
          </a:p>
        </p:txBody>
      </p:sp>
      <p:sp>
        <p:nvSpPr>
          <p:cNvPr id="45" name="Shape 45"/>
          <p:cNvSpPr/>
          <p:nvPr/>
        </p:nvSpPr>
        <p:spPr>
          <a:xfrm>
            <a:off x="6400800" y="263347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640080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07</a:t>
            </a:r>
            <a:endParaRPr lang="pt-BR" sz="1600" dirty="0"/>
          </a:p>
        </p:txBody>
      </p:sp>
      <p:sp>
        <p:nvSpPr>
          <p:cNvPr id="47" name="Text 47"/>
          <p:cNvSpPr txBox="1"/>
          <p:nvPr/>
        </p:nvSpPr>
        <p:spPr>
          <a:xfrm>
            <a:off x="7178040" y="2560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Por dentro</a:t>
            </a:r>
            <a:endParaRPr lang="pt-BR" sz="2200" dirty="0"/>
          </a:p>
        </p:txBody>
      </p:sp>
      <p:sp>
        <p:nvSpPr>
          <p:cNvPr id="48" name="Text 48"/>
          <p:cNvSpPr txBox="1"/>
          <p:nvPr/>
        </p:nvSpPr>
        <p:spPr>
          <a:xfrm>
            <a:off x="7178040" y="2944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arquitetura e judge</a:t>
            </a:r>
            <a:endParaRPr lang="pt-BR" sz="1500" dirty="0"/>
          </a:p>
        </p:txBody>
      </p:sp>
      <p:sp>
        <p:nvSpPr>
          <p:cNvPr id="49" name="Shape 49"/>
          <p:cNvSpPr/>
          <p:nvPr/>
        </p:nvSpPr>
        <p:spPr>
          <a:xfrm>
            <a:off x="6400800" y="350215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50"/>
          <p:cNvSpPr txBox="1"/>
          <p:nvPr/>
        </p:nvSpPr>
        <p:spPr>
          <a:xfrm>
            <a:off x="640080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08</a:t>
            </a:r>
            <a:endParaRPr lang="pt-BR" sz="1600" dirty="0"/>
          </a:p>
        </p:txBody>
      </p:sp>
      <p:sp>
        <p:nvSpPr>
          <p:cNvPr id="51" name="Text 51"/>
          <p:cNvSpPr txBox="1"/>
          <p:nvPr/>
        </p:nvSpPr>
        <p:spPr>
          <a:xfrm>
            <a:off x="717804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Desempenho</a:t>
            </a:r>
            <a:endParaRPr lang="pt-BR" sz="2200" dirty="0"/>
          </a:p>
        </p:txBody>
      </p:sp>
      <p:sp>
        <p:nvSpPr>
          <p:cNvPr id="52" name="Text 52"/>
          <p:cNvSpPr txBox="1"/>
          <p:nvPr/>
        </p:nvSpPr>
        <p:spPr>
          <a:xfrm>
            <a:off x="7178040" y="3813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benchmarks e testes</a:t>
            </a:r>
            <a:endParaRPr lang="pt-BR" sz="1500" dirty="0"/>
          </a:p>
        </p:txBody>
      </p:sp>
      <p:sp>
        <p:nvSpPr>
          <p:cNvPr id="53" name="Shape 53"/>
          <p:cNvSpPr/>
          <p:nvPr/>
        </p:nvSpPr>
        <p:spPr>
          <a:xfrm>
            <a:off x="6400800" y="437083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4" name="Text 54"/>
          <p:cNvSpPr txBox="1"/>
          <p:nvPr/>
        </p:nvSpPr>
        <p:spPr>
          <a:xfrm>
            <a:off x="6400800" y="4370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09</a:t>
            </a:r>
            <a:endParaRPr lang="pt-BR" sz="1600" dirty="0"/>
          </a:p>
        </p:txBody>
      </p:sp>
      <p:sp>
        <p:nvSpPr>
          <p:cNvPr id="55" name="Text 55"/>
          <p:cNvSpPr txBox="1"/>
          <p:nvPr/>
        </p:nvSpPr>
        <p:spPr>
          <a:xfrm>
            <a:off x="7178040" y="4297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Avaliação</a:t>
            </a:r>
            <a:endParaRPr lang="pt-BR" sz="2200" dirty="0"/>
          </a:p>
        </p:txBody>
      </p:sp>
      <p:sp>
        <p:nvSpPr>
          <p:cNvPr id="56" name="Text 56"/>
          <p:cNvSpPr txBox="1"/>
          <p:nvPr/>
        </p:nvSpPr>
        <p:spPr>
          <a:xfrm>
            <a:off x="7178040" y="4681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como os alunos vão avaliar</a:t>
            </a:r>
            <a:endParaRPr lang="pt-BR" sz="1500" dirty="0"/>
          </a:p>
        </p:txBody>
      </p:sp>
      <p:sp>
        <p:nvSpPr>
          <p:cNvPr id="57" name="Shape 57"/>
          <p:cNvSpPr/>
          <p:nvPr/>
        </p:nvSpPr>
        <p:spPr>
          <a:xfrm>
            <a:off x="6400800" y="5239512"/>
            <a:ext cx="566928" cy="5669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Text 58"/>
          <p:cNvSpPr txBox="1"/>
          <p:nvPr/>
        </p:nvSpPr>
        <p:spPr>
          <a:xfrm>
            <a:off x="6400800" y="5239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tx1"/>
                </a:solidFill>
              </a:rPr>
              <a:t>10</a:t>
            </a:r>
            <a:endParaRPr lang="pt-BR" sz="1600" dirty="0"/>
          </a:p>
        </p:txBody>
      </p:sp>
      <p:sp>
        <p:nvSpPr>
          <p:cNvPr id="59" name="Text 59"/>
          <p:cNvSpPr txBox="1"/>
          <p:nvPr/>
        </p:nvSpPr>
        <p:spPr>
          <a:xfrm>
            <a:off x="7178040" y="5166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Discussão</a:t>
            </a:r>
            <a:endParaRPr lang="pt-BR" sz="2200" dirty="0"/>
          </a:p>
        </p:txBody>
      </p:sp>
      <p:sp>
        <p:nvSpPr>
          <p:cNvPr id="60" name="Text 60"/>
          <p:cNvSpPr txBox="1"/>
          <p:nvPr/>
        </p:nvSpPr>
        <p:spPr>
          <a:xfrm>
            <a:off x="7178040" y="55504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limitações e próximos passos</a:t>
            </a:r>
            <a:endParaRPr lang="pt-B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01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Introdução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o problema e a pergunta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Juízes online corrigem código; ensinar é outra coisa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2651760" y="2011680"/>
            <a:ext cx="6858000" cy="23774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2651760" y="2240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Wrong Answer</a:t>
            </a:r>
            <a:endParaRPr lang="pt-BR" sz="4800" dirty="0"/>
          </a:p>
        </p:txBody>
      </p:sp>
      <p:sp>
        <p:nvSpPr>
          <p:cNvPr id="23" name="Text 23"/>
          <p:cNvSpPr txBox="1"/>
          <p:nvPr/>
        </p:nvSpPr>
        <p:spPr>
          <a:xfrm>
            <a:off x="2651760" y="3429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teste 3 de 10 · sem explicação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guia o trabalho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280160" y="1828800"/>
            <a:ext cx="9601200" cy="31089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280160" y="2011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DE PESQUISA</a:t>
            </a:r>
            <a:endParaRPr lang="pt-BR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1737360" y="251460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chemeClr val="bg1"/>
                </a:solidFill>
              </a:rPr>
              <a:t>Feedback por IA e atividades curadas pelo professor tornam um juiz online útil para ensinar programação?</a:t>
            </a:r>
            <a:endParaRPr lang="pt-B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 é um juiz online feito para a sala de aula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85648" y="3108960"/>
            <a:ext cx="37490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85648" y="3108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 com segurança</a:t>
            </a:r>
            <a:endParaRPr lang="pt-BR" sz="2000" dirty="0"/>
          </a:p>
        </p:txBody>
      </p:sp>
      <p:sp>
        <p:nvSpPr>
          <p:cNvPr id="23" name="Shape 23"/>
          <p:cNvSpPr/>
          <p:nvPr/>
        </p:nvSpPr>
        <p:spPr>
          <a:xfrm>
            <a:off x="4754728" y="3108960"/>
            <a:ext cx="26822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4754728" y="3108960"/>
            <a:ext cx="268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 o erro</a:t>
            </a:r>
            <a:endParaRPr lang="pt-BR" sz="2000" dirty="0"/>
          </a:p>
        </p:txBody>
      </p:sp>
      <p:sp>
        <p:nvSpPr>
          <p:cNvPr id="25" name="Shape 25"/>
          <p:cNvSpPr/>
          <p:nvPr/>
        </p:nvSpPr>
        <p:spPr>
          <a:xfrm>
            <a:off x="7757008" y="3108960"/>
            <a:ext cx="37490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757008" y="3108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 no controle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sistemas analisados funcionam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640080" y="1463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endParaRPr lang="pt-BR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23317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corrige</a:t>
            </a:r>
            <a:endParaRPr lang="pt-BR" sz="1200" dirty="0"/>
          </a:p>
        </p:txBody>
      </p:sp>
      <p:sp>
        <p:nvSpPr>
          <p:cNvPr id="23" name="Text 23"/>
          <p:cNvSpPr txBox="1"/>
          <p:nvPr/>
        </p:nvSpPr>
        <p:spPr>
          <a:xfrm>
            <a:off x="470916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Linguagens</a:t>
            </a:r>
            <a:endParaRPr lang="pt-BR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708660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aluno recebe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946404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Turmas e listas</a:t>
            </a:r>
            <a:endParaRPr lang="pt-BR" sz="1200" dirty="0"/>
          </a:p>
        </p:txBody>
      </p:sp>
      <p:sp>
        <p:nvSpPr>
          <p:cNvPr id="26" name="Shape 26"/>
          <p:cNvSpPr/>
          <p:nvPr/>
        </p:nvSpPr>
        <p:spPr>
          <a:xfrm>
            <a:off x="548640" y="1911096"/>
            <a:ext cx="11064240" cy="65836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685800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Ataux</a:t>
            </a:r>
            <a:endParaRPr lang="pt-BR" sz="1600" dirty="0"/>
          </a:p>
        </p:txBody>
      </p:sp>
      <p:sp>
        <p:nvSpPr>
          <p:cNvPr id="28" name="Text 28"/>
          <p:cNvSpPr txBox="1"/>
          <p:nvPr/>
        </p:nvSpPr>
        <p:spPr>
          <a:xfrm>
            <a:off x="685800" y="2267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UFCG, 2021</a:t>
            </a:r>
            <a:endParaRPr lang="pt-BR" sz="1100" dirty="0"/>
          </a:p>
        </p:txBody>
      </p:sp>
      <p:sp>
        <p:nvSpPr>
          <p:cNvPr id="29" name="Text 29"/>
          <p:cNvSpPr txBox="1"/>
          <p:nvPr/>
        </p:nvSpPr>
        <p:spPr>
          <a:xfrm>
            <a:off x="2331720" y="19110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o Codeforces: o aluno envia lá</a:t>
            </a:r>
            <a:endParaRPr lang="pt-BR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4709160" y="19110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as do Codeforces</a:t>
            </a:r>
            <a:endParaRPr lang="pt-BR" sz="1400" dirty="0"/>
          </a:p>
        </p:txBody>
      </p:sp>
      <p:sp>
        <p:nvSpPr>
          <p:cNvPr id="31" name="Text 31"/>
          <p:cNvSpPr txBox="1"/>
          <p:nvPr/>
        </p:nvSpPr>
        <p:spPr>
          <a:xfrm>
            <a:off x="7086600" y="19110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o veredito do Codeforces</a:t>
            </a:r>
            <a:endParaRPr lang="pt-BR" sz="1400" dirty="0"/>
          </a:p>
        </p:txBody>
      </p:sp>
      <p:sp>
        <p:nvSpPr>
          <p:cNvPr id="32" name="Text 32"/>
          <p:cNvSpPr txBox="1"/>
          <p:nvPr/>
        </p:nvSpPr>
        <p:spPr>
          <a:xfrm>
            <a:off x="9464040" y="191109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sim: listas com prazo e planilha de notas</a:t>
            </a:r>
            <a:endParaRPr lang="pt-BR" sz="1400" dirty="0"/>
          </a:p>
        </p:txBody>
      </p:sp>
      <p:sp>
        <p:nvSpPr>
          <p:cNvPr id="33" name="Shape 33"/>
          <p:cNvSpPr/>
          <p:nvPr/>
        </p:nvSpPr>
        <p:spPr>
          <a:xfrm>
            <a:off x="548640" y="2642616"/>
            <a:ext cx="11064240" cy="65836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685800" y="2697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GOJ</a:t>
            </a:r>
            <a:endParaRPr lang="pt-BR" sz="1600" dirty="0"/>
          </a:p>
        </p:txBody>
      </p:sp>
      <p:sp>
        <p:nvSpPr>
          <p:cNvPr id="35" name="Text 35"/>
          <p:cNvSpPr txBox="1"/>
          <p:nvPr/>
        </p:nvSpPr>
        <p:spPr>
          <a:xfrm>
            <a:off x="685800" y="2999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UnB</a:t>
            </a:r>
            <a:endParaRPr lang="pt-BR" sz="1100" dirty="0"/>
          </a:p>
        </p:txBody>
      </p:sp>
      <p:sp>
        <p:nvSpPr>
          <p:cNvPr id="36" name="Text 36"/>
          <p:cNvSpPr txBox="1"/>
          <p:nvPr/>
        </p:nvSpPr>
        <p:spPr>
          <a:xfrm>
            <a:off x="2331720" y="26426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juiz próprio (MOJ Tools)</a:t>
            </a:r>
            <a:endParaRPr lang="pt-BR" sz="1400" dirty="0"/>
          </a:p>
        </p:txBody>
      </p:sp>
      <p:sp>
        <p:nvSpPr>
          <p:cNvPr id="37" name="Text 37"/>
          <p:cNvSpPr txBox="1"/>
          <p:nvPr/>
        </p:nvSpPr>
        <p:spPr>
          <a:xfrm>
            <a:off x="4709160" y="26426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as do ICPC</a:t>
            </a:r>
            <a:endParaRPr lang="pt-BR" sz="1400" dirty="0"/>
          </a:p>
        </p:txBody>
      </p:sp>
      <p:sp>
        <p:nvSpPr>
          <p:cNvPr id="38" name="Text 38"/>
          <p:cNvSpPr txBox="1"/>
          <p:nvPr/>
        </p:nvSpPr>
        <p:spPr>
          <a:xfrm>
            <a:off x="7086600" y="26426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veredito no padrão ICPC</a:t>
            </a:r>
            <a:endParaRPr lang="pt-BR" sz="1400" dirty="0"/>
          </a:p>
        </p:txBody>
      </p:sp>
      <p:sp>
        <p:nvSpPr>
          <p:cNvPr id="39" name="Text 39"/>
          <p:cNvSpPr txBox="1"/>
          <p:nvPr/>
        </p:nvSpPr>
        <p:spPr>
          <a:xfrm>
            <a:off x="9464040" y="264261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não: acervo das maratonas da UnB</a:t>
            </a:r>
            <a:endParaRPr lang="pt-BR" sz="1400" dirty="0"/>
          </a:p>
        </p:txBody>
      </p:sp>
      <p:sp>
        <p:nvSpPr>
          <p:cNvPr id="40" name="Shape 40"/>
          <p:cNvSpPr/>
          <p:nvPr/>
        </p:nvSpPr>
        <p:spPr>
          <a:xfrm>
            <a:off x="548640" y="3374136"/>
            <a:ext cx="11064240" cy="65836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685800" y="34290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Run Codes</a:t>
            </a:r>
            <a:endParaRPr lang="pt-BR" sz="1600" dirty="0"/>
          </a:p>
        </p:txBody>
      </p:sp>
      <p:sp>
        <p:nvSpPr>
          <p:cNvPr id="42" name="Text 42"/>
          <p:cNvSpPr txBox="1"/>
          <p:nvPr/>
        </p:nvSpPr>
        <p:spPr>
          <a:xfrm>
            <a:off x="685800" y="3730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ICMC-USP</a:t>
            </a:r>
            <a:endParaRPr lang="pt-BR" sz="1100" dirty="0"/>
          </a:p>
        </p:txBody>
      </p:sp>
      <p:sp>
        <p:nvSpPr>
          <p:cNvPr id="43" name="Text 43"/>
          <p:cNvSpPr txBox="1"/>
          <p:nvPr/>
        </p:nvSpPr>
        <p:spPr>
          <a:xfrm>
            <a:off x="2331720" y="3374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juiz próprio, por casos de teste</a:t>
            </a:r>
            <a:endParaRPr lang="pt-BR" sz="1400" dirty="0"/>
          </a:p>
        </p:txBody>
      </p:sp>
      <p:sp>
        <p:nvSpPr>
          <p:cNvPr id="44" name="Text 44"/>
          <p:cNvSpPr txBox="1"/>
          <p:nvPr/>
        </p:nvSpPr>
        <p:spPr>
          <a:xfrm>
            <a:off x="4709160" y="3374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12, entre elas C, C++ e Java</a:t>
            </a:r>
            <a:endParaRPr lang="pt-BR" sz="1400" dirty="0"/>
          </a:p>
        </p:txBody>
      </p:sp>
      <p:sp>
        <p:nvSpPr>
          <p:cNvPr id="45" name="Text 45"/>
          <p:cNvSpPr txBox="1"/>
          <p:nvPr/>
        </p:nvSpPr>
        <p:spPr>
          <a:xfrm>
            <a:off x="7086600" y="3374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se a resposta está correta</a:t>
            </a:r>
            <a:endParaRPr lang="pt-BR" sz="1400" dirty="0"/>
          </a:p>
        </p:txBody>
      </p:sp>
      <p:sp>
        <p:nvSpPr>
          <p:cNvPr id="46" name="Text 46"/>
          <p:cNvSpPr txBox="1"/>
          <p:nvPr/>
        </p:nvSpPr>
        <p:spPr>
          <a:xfrm>
            <a:off x="9464040" y="337413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sim: disciplinas e exercícios</a:t>
            </a:r>
            <a:endParaRPr lang="pt-BR" sz="1400" dirty="0"/>
          </a:p>
        </p:txBody>
      </p:sp>
      <p:sp>
        <p:nvSpPr>
          <p:cNvPr id="47" name="Shape 47"/>
          <p:cNvSpPr/>
          <p:nvPr/>
        </p:nvSpPr>
        <p:spPr>
          <a:xfrm>
            <a:off x="548640" y="4105656"/>
            <a:ext cx="11064240" cy="65836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Text 48"/>
          <p:cNvSpPr txBox="1"/>
          <p:nvPr/>
        </p:nvSpPr>
        <p:spPr>
          <a:xfrm>
            <a:off x="685800" y="4160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BOCA</a:t>
            </a:r>
            <a:endParaRPr lang="pt-BR" sz="1600" dirty="0"/>
          </a:p>
        </p:txBody>
      </p:sp>
      <p:sp>
        <p:nvSpPr>
          <p:cNvPr id="49" name="Text 49"/>
          <p:cNvSpPr txBox="1"/>
          <p:nvPr/>
        </p:nvSpPr>
        <p:spPr>
          <a:xfrm>
            <a:off x="68580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USP, 2004</a:t>
            </a:r>
            <a:endParaRPr lang="pt-BR" sz="1100" dirty="0"/>
          </a:p>
        </p:txBody>
      </p:sp>
      <p:sp>
        <p:nvSpPr>
          <p:cNvPr id="50" name="Text 50"/>
          <p:cNvSpPr txBox="1"/>
          <p:nvPr/>
        </p:nvSpPr>
        <p:spPr>
          <a:xfrm>
            <a:off x="2331720" y="4105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juízes humanos; autojuiz só ajuda</a:t>
            </a:r>
            <a:endParaRPr lang="pt-BR" sz="1400" dirty="0"/>
          </a:p>
        </p:txBody>
      </p:sp>
      <p:sp>
        <p:nvSpPr>
          <p:cNvPr id="51" name="Text 51"/>
          <p:cNvSpPr txBox="1"/>
          <p:nvPr/>
        </p:nvSpPr>
        <p:spPr>
          <a:xfrm>
            <a:off x="4709160" y="4105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C, C++, Java, Kotlin e Python</a:t>
            </a:r>
            <a:endParaRPr lang="pt-BR" sz="1400" dirty="0"/>
          </a:p>
        </p:txBody>
      </p:sp>
      <p:sp>
        <p:nvSpPr>
          <p:cNvPr id="52" name="Text 52"/>
          <p:cNvSpPr txBox="1"/>
          <p:nvPr/>
        </p:nvSpPr>
        <p:spPr>
          <a:xfrm>
            <a:off x="7086600" y="4105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YES, ou NO com o motivo</a:t>
            </a:r>
            <a:endParaRPr lang="pt-BR" sz="1400" dirty="0"/>
          </a:p>
        </p:txBody>
      </p:sp>
      <p:sp>
        <p:nvSpPr>
          <p:cNvPr id="53" name="Text 53"/>
          <p:cNvSpPr txBox="1"/>
          <p:nvPr/>
        </p:nvSpPr>
        <p:spPr>
          <a:xfrm>
            <a:off x="9464040" y="410565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não: só competições</a:t>
            </a:r>
            <a:endParaRPr lang="pt-BR" sz="1400" dirty="0"/>
          </a:p>
        </p:txBody>
      </p:sp>
      <p:sp>
        <p:nvSpPr>
          <p:cNvPr id="54" name="Shape 54"/>
          <p:cNvSpPr/>
          <p:nvPr/>
        </p:nvSpPr>
        <p:spPr>
          <a:xfrm>
            <a:off x="548640" y="4837176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5" name="Text 55"/>
          <p:cNvSpPr txBox="1"/>
          <p:nvPr/>
        </p:nvSpPr>
        <p:spPr>
          <a:xfrm>
            <a:off x="685800" y="4892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chemeClr val="accent1"/>
                </a:solidFill>
              </a:rPr>
              <a:t>WhyRunner</a:t>
            </a:r>
            <a:endParaRPr lang="pt-BR" sz="1600" dirty="0"/>
          </a:p>
        </p:txBody>
      </p:sp>
      <p:sp>
        <p:nvSpPr>
          <p:cNvPr id="56" name="Text 56"/>
          <p:cNvSpPr txBox="1"/>
          <p:nvPr/>
        </p:nvSpPr>
        <p:spPr>
          <a:xfrm>
            <a:off x="685800" y="51937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este trabalho</a:t>
            </a:r>
            <a:endParaRPr lang="pt-BR" sz="1100" dirty="0"/>
          </a:p>
        </p:txBody>
      </p:sp>
      <p:sp>
        <p:nvSpPr>
          <p:cNvPr id="57" name="Text 57"/>
          <p:cNvSpPr txBox="1"/>
          <p:nvPr/>
        </p:nvSpPr>
        <p:spPr>
          <a:xfrm>
            <a:off x="2331720" y="48371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juiz próprio, no isolate</a:t>
            </a:r>
            <a:endParaRPr lang="pt-BR" sz="1400" dirty="0"/>
          </a:p>
        </p:txBody>
      </p:sp>
      <p:sp>
        <p:nvSpPr>
          <p:cNvPr id="58" name="Text 58"/>
          <p:cNvSpPr txBox="1"/>
          <p:nvPr/>
        </p:nvSpPr>
        <p:spPr>
          <a:xfrm>
            <a:off x="4709160" y="48371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C, C++, Java, Python, Rust e Portugol</a:t>
            </a:r>
            <a:endParaRPr lang="pt-BR" sz="1400" dirty="0"/>
          </a:p>
        </p:txBody>
      </p:sp>
      <p:sp>
        <p:nvSpPr>
          <p:cNvPr id="59" name="Text 59"/>
          <p:cNvSpPr txBox="1"/>
          <p:nvPr/>
        </p:nvSpPr>
        <p:spPr>
          <a:xfrm>
            <a:off x="7086600" y="48371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veredito, caso que falhou e dica de IA</a:t>
            </a:r>
            <a:endParaRPr lang="pt-BR" sz="1400" dirty="0"/>
          </a:p>
        </p:txBody>
      </p:sp>
      <p:sp>
        <p:nvSpPr>
          <p:cNvPr id="60" name="Text 60"/>
          <p:cNvSpPr txBox="1"/>
          <p:nvPr/>
        </p:nvSpPr>
        <p:spPr>
          <a:xfrm>
            <a:off x="9464040" y="483717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dirty="0">
                <a:solidFill>
                  <a:schemeClr val="bg1"/>
                </a:solidFill>
              </a:rPr>
              <a:t>sim: aulas, prazo, revisão e boletim</a:t>
            </a:r>
            <a:endParaRPr lang="pt-BR" sz="1400" dirty="0"/>
          </a:p>
        </p:txBody>
      </p:sp>
      <p:sp>
        <p:nvSpPr>
          <p:cNvPr id="61" name="Text 6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Fontes: TCCs do Ataux (UFCG) e do GOJ (UnB); código-fonte do BOCA (github.com/cassiopc/boca); Run Codes: Agência FAPESP (2015) e artigo da UFC (2022).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nenhum dos quatro oferece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914248" y="3017520"/>
            <a:ext cx="22250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914248" y="301752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dicas de IA</a:t>
            </a:r>
            <a:endParaRPr lang="pt-BR" sz="2000" dirty="0"/>
          </a:p>
        </p:txBody>
      </p:sp>
      <p:sp>
        <p:nvSpPr>
          <p:cNvPr id="23" name="Shape 23"/>
          <p:cNvSpPr/>
          <p:nvPr/>
        </p:nvSpPr>
        <p:spPr>
          <a:xfrm>
            <a:off x="3459328" y="3017520"/>
            <a:ext cx="45110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3459328" y="3017520"/>
            <a:ext cx="451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restrição de como resolver</a:t>
            </a:r>
            <a:endParaRPr lang="pt-BR" sz="2000" dirty="0"/>
          </a:p>
        </p:txBody>
      </p:sp>
      <p:sp>
        <p:nvSpPr>
          <p:cNvPr id="25" name="Shape 25"/>
          <p:cNvSpPr/>
          <p:nvPr/>
        </p:nvSpPr>
        <p:spPr>
          <a:xfrm>
            <a:off x="8290408" y="3017520"/>
            <a:ext cx="29870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290408" y="3017520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blocos e Parsons</a:t>
            </a:r>
            <a:endParaRPr lang="pt-BR" sz="2000" dirty="0"/>
          </a:p>
        </p:txBody>
      </p:sp>
      <p:sp>
        <p:nvSpPr>
          <p:cNvPr id="27" name="Text 27"/>
          <p:cNvSpPr txBox="1"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Turmas e listas com prazo o Ataux e o Run Codes também têm.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02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Metodologia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como o sistema foi construído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iterativos: cada versão corrigiu a anterior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23774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TENTADO</a:t>
            </a:r>
            <a:endParaRPr lang="pt-BR" sz="1100" dirty="0"/>
          </a:p>
        </p:txBody>
      </p:sp>
      <p:sp>
        <p:nvSpPr>
          <p:cNvPr id="22" name="Text 22"/>
          <p:cNvSpPr txBox="1"/>
          <p:nvPr/>
        </p:nvSpPr>
        <p:spPr>
          <a:xfrm>
            <a:off x="676656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ADOTADO</a:t>
            </a:r>
            <a:endParaRPr lang="pt-BR" sz="1100" dirty="0"/>
          </a:p>
        </p:txBody>
      </p:sp>
      <p:sp>
        <p:nvSpPr>
          <p:cNvPr id="23" name="Shape 23"/>
          <p:cNvSpPr/>
          <p:nvPr/>
        </p:nvSpPr>
        <p:spPr>
          <a:xfrm>
            <a:off x="822960" y="1920240"/>
            <a:ext cx="10515600" cy="585216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1005840" y="19202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Fila</a:t>
            </a:r>
            <a:endParaRPr lang="pt-BR" sz="1600" dirty="0"/>
          </a:p>
        </p:txBody>
      </p:sp>
      <p:sp>
        <p:nvSpPr>
          <p:cNvPr id="25" name="Text 25"/>
          <p:cNvSpPr txBox="1"/>
          <p:nvPr/>
        </p:nvSpPr>
        <p:spPr>
          <a:xfrm>
            <a:off x="2377440" y="192024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BullMQ → AWS SQS</a:t>
            </a:r>
            <a:endParaRPr lang="pt-BR" sz="1600" dirty="0"/>
          </a:p>
        </p:txBody>
      </p:sp>
      <p:cxnSp>
        <p:nvCxnSpPr>
          <p:cNvPr id="26" name="Arrow 26"/>
          <p:cNvCxnSpPr/>
          <p:nvPr/>
        </p:nvCxnSpPr>
        <p:spPr>
          <a:xfrm>
            <a:off x="5989320" y="2212848"/>
            <a:ext cx="59436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7" name="Text 27"/>
          <p:cNvSpPr txBox="1"/>
          <p:nvPr/>
        </p:nvSpPr>
        <p:spPr>
          <a:xfrm>
            <a:off x="6766560" y="192024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accent1"/>
                </a:solidFill>
              </a:rPr>
              <a:t>PostgreSQL LISTEN/NOTIFY</a:t>
            </a:r>
            <a:endParaRPr lang="pt-BR" sz="1600" dirty="0"/>
          </a:p>
        </p:txBody>
      </p:sp>
      <p:sp>
        <p:nvSpPr>
          <p:cNvPr id="28" name="Shape 28"/>
          <p:cNvSpPr/>
          <p:nvPr/>
        </p:nvSpPr>
        <p:spPr>
          <a:xfrm>
            <a:off x="822960" y="2633472"/>
            <a:ext cx="10515600" cy="585216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1005840" y="263347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Backend</a:t>
            </a:r>
            <a:endParaRPr lang="pt-BR" sz="1600" dirty="0"/>
          </a:p>
        </p:txBody>
      </p:sp>
      <p:sp>
        <p:nvSpPr>
          <p:cNvPr id="30" name="Text 30"/>
          <p:cNvSpPr txBox="1"/>
          <p:nvPr/>
        </p:nvSpPr>
        <p:spPr>
          <a:xfrm>
            <a:off x="2377440" y="263347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API NestJS separada</a:t>
            </a:r>
            <a:endParaRPr lang="pt-BR" sz="1600" dirty="0"/>
          </a:p>
        </p:txBody>
      </p:sp>
      <p:cxnSp>
        <p:nvCxnSpPr>
          <p:cNvPr id="31" name="Arrow 31"/>
          <p:cNvCxnSpPr/>
          <p:nvPr/>
        </p:nvCxnSpPr>
        <p:spPr>
          <a:xfrm>
            <a:off x="5989320" y="2926080"/>
            <a:ext cx="59436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2" name="Text 32"/>
          <p:cNvSpPr txBox="1"/>
          <p:nvPr/>
        </p:nvSpPr>
        <p:spPr>
          <a:xfrm>
            <a:off x="6766560" y="263347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accent1"/>
                </a:solidFill>
              </a:rPr>
              <a:t>Server Actions do Next.js</a:t>
            </a:r>
            <a:endParaRPr lang="pt-BR" sz="1600" dirty="0"/>
          </a:p>
        </p:txBody>
      </p:sp>
      <p:sp>
        <p:nvSpPr>
          <p:cNvPr id="33" name="Shape 33"/>
          <p:cNvSpPr/>
          <p:nvPr/>
        </p:nvSpPr>
        <p:spPr>
          <a:xfrm>
            <a:off x="822960" y="3346704"/>
            <a:ext cx="10515600" cy="585216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05840" y="3346704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Banco</a:t>
            </a:r>
            <a:endParaRPr lang="pt-BR" sz="1600" dirty="0"/>
          </a:p>
        </p:txBody>
      </p:sp>
      <p:sp>
        <p:nvSpPr>
          <p:cNvPr id="35" name="Text 35"/>
          <p:cNvSpPr txBox="1"/>
          <p:nvPr/>
        </p:nvSpPr>
        <p:spPr>
          <a:xfrm>
            <a:off x="2377440" y="3346704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Supabase</a:t>
            </a:r>
            <a:endParaRPr lang="pt-BR" sz="1600" dirty="0"/>
          </a:p>
        </p:txBody>
      </p:sp>
      <p:cxnSp>
        <p:nvCxnSpPr>
          <p:cNvPr id="36" name="Arrow 36"/>
          <p:cNvCxnSpPr/>
          <p:nvPr/>
        </p:nvCxnSpPr>
        <p:spPr>
          <a:xfrm>
            <a:off x="5989320" y="3639312"/>
            <a:ext cx="59436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7" name="Text 37"/>
          <p:cNvSpPr txBox="1"/>
          <p:nvPr/>
        </p:nvSpPr>
        <p:spPr>
          <a:xfrm>
            <a:off x="6766560" y="33467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accent1"/>
                </a:solidFill>
              </a:rPr>
              <a:t>PostgreSQL + Drizzle</a:t>
            </a:r>
            <a:endParaRPr lang="pt-BR" sz="1600" dirty="0"/>
          </a:p>
        </p:txBody>
      </p:sp>
      <p:sp>
        <p:nvSpPr>
          <p:cNvPr id="38" name="Shape 38"/>
          <p:cNvSpPr/>
          <p:nvPr/>
        </p:nvSpPr>
        <p:spPr>
          <a:xfrm>
            <a:off x="822960" y="4059936"/>
            <a:ext cx="10515600" cy="585216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1005840" y="4059936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Sandbox</a:t>
            </a:r>
            <a:endParaRPr lang="pt-BR" sz="1600" dirty="0"/>
          </a:p>
        </p:txBody>
      </p:sp>
      <p:sp>
        <p:nvSpPr>
          <p:cNvPr id="40" name="Text 40"/>
          <p:cNvSpPr txBox="1"/>
          <p:nvPr/>
        </p:nvSpPr>
        <p:spPr>
          <a:xfrm>
            <a:off x="2377440" y="4059936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Docker por envio</a:t>
            </a:r>
            <a:endParaRPr lang="pt-BR" sz="1600" dirty="0"/>
          </a:p>
        </p:txBody>
      </p:sp>
      <p:cxnSp>
        <p:nvCxnSpPr>
          <p:cNvPr id="41" name="Arrow 41"/>
          <p:cNvCxnSpPr/>
          <p:nvPr/>
        </p:nvCxnSpPr>
        <p:spPr>
          <a:xfrm>
            <a:off x="5989320" y="4352544"/>
            <a:ext cx="59436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2" name="Text 42"/>
          <p:cNvSpPr txBox="1"/>
          <p:nvPr/>
        </p:nvSpPr>
        <p:spPr>
          <a:xfrm>
            <a:off x="6766560" y="40599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chemeClr val="accent1"/>
                </a:solidFill>
              </a:rPr>
              <a:t>isolate, o sandbox da IOI</a:t>
            </a:r>
            <a:endParaRPr lang="pt-BR" sz="1600" dirty="0"/>
          </a:p>
        </p:txBody>
      </p:sp>
      <p:sp>
        <p:nvSpPr>
          <p:cNvPr id="43" name="Shape 43"/>
          <p:cNvSpPr/>
          <p:nvPr/>
        </p:nvSpPr>
        <p:spPr>
          <a:xfrm>
            <a:off x="1744980" y="5029200"/>
            <a:ext cx="54559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4" name="Text 44"/>
          <p:cNvSpPr txBox="1"/>
          <p:nvPr/>
        </p:nvSpPr>
        <p:spPr>
          <a:xfrm>
            <a:off x="1744980" y="5029200"/>
            <a:ext cx="545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levantamento: literatura, alunos e experiência</a:t>
            </a:r>
            <a:endParaRPr lang="pt-BR" sz="1400" dirty="0"/>
          </a:p>
        </p:txBody>
      </p:sp>
      <p:sp>
        <p:nvSpPr>
          <p:cNvPr id="45" name="Shape 45"/>
          <p:cNvSpPr/>
          <p:nvPr/>
        </p:nvSpPr>
        <p:spPr>
          <a:xfrm>
            <a:off x="7520940" y="5029200"/>
            <a:ext cx="289560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7520940" y="50292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testado no Discord</a:t>
            </a:r>
            <a:endParaRPr lang="pt-B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teste informal com colegas orientou as mudanças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33848" y="1783080"/>
            <a:ext cx="152400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33848" y="1783080"/>
            <a:ext cx="152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INFORMAL</a:t>
            </a:r>
            <a:endParaRPr lang="pt-BR" sz="1600" dirty="0"/>
          </a:p>
        </p:txBody>
      </p:sp>
      <p:sp>
        <p:nvSpPr>
          <p:cNvPr id="23" name="Text 23"/>
          <p:cNvSpPr txBox="1"/>
          <p:nvPr/>
        </p:nvSpPr>
        <p:spPr>
          <a:xfrm>
            <a:off x="731520" y="256032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600" b="1" dirty="0">
                <a:solidFill>
                  <a:schemeClr val="bg1"/>
                </a:solidFill>
              </a:rPr>
              <a:t>5 colegas · Discord · sem roteiro</a:t>
            </a:r>
            <a:endParaRPr lang="pt-B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incomodou virou mudança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371600" y="1920240"/>
            <a:ext cx="9418320" cy="91440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64592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código oculto</a:t>
            </a:r>
            <a:endParaRPr lang="pt-BR" sz="2000" dirty="0"/>
          </a:p>
        </p:txBody>
      </p:sp>
      <p:cxnSp>
        <p:nvCxnSpPr>
          <p:cNvPr id="23" name="Arrow 23"/>
          <p:cNvCxnSpPr/>
          <p:nvPr/>
        </p:nvCxnSpPr>
        <p:spPr>
          <a:xfrm>
            <a:off x="5943600" y="2377440"/>
            <a:ext cx="73152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4" name="Text 24"/>
          <p:cNvSpPr txBox="1"/>
          <p:nvPr/>
        </p:nvSpPr>
        <p:spPr>
          <a:xfrm>
            <a:off x="6858000" y="1920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chemeClr val="accent1"/>
                </a:solidFill>
              </a:rPr>
              <a:t>código visível</a:t>
            </a:r>
            <a:endParaRPr lang="pt-BR" sz="2000" dirty="0"/>
          </a:p>
        </p:txBody>
      </p:sp>
      <p:sp>
        <p:nvSpPr>
          <p:cNvPr id="25" name="Shape 25"/>
          <p:cNvSpPr/>
          <p:nvPr/>
        </p:nvSpPr>
        <p:spPr>
          <a:xfrm>
            <a:off x="1371600" y="3063240"/>
            <a:ext cx="9418320" cy="91440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1645920" y="3063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medalhas</a:t>
            </a:r>
            <a:endParaRPr lang="pt-BR" sz="2000" dirty="0"/>
          </a:p>
        </p:txBody>
      </p:sp>
      <p:cxnSp>
        <p:nvCxnSpPr>
          <p:cNvPr id="27" name="Arrow 27"/>
          <p:cNvCxnSpPr/>
          <p:nvPr/>
        </p:nvCxnSpPr>
        <p:spPr>
          <a:xfrm>
            <a:off x="5943600" y="3520440"/>
            <a:ext cx="73152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8" name="Text 28"/>
          <p:cNvSpPr txBox="1"/>
          <p:nvPr/>
        </p:nvSpPr>
        <p:spPr>
          <a:xfrm>
            <a:off x="685800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chemeClr val="accent1"/>
                </a:solidFill>
              </a:rPr>
              <a:t>placar ICPC</a:t>
            </a:r>
            <a:endParaRPr lang="pt-BR" sz="2000" dirty="0"/>
          </a:p>
        </p:txBody>
      </p:sp>
      <p:sp>
        <p:nvSpPr>
          <p:cNvPr id="29" name="Shape 29"/>
          <p:cNvSpPr/>
          <p:nvPr/>
        </p:nvSpPr>
        <p:spPr>
          <a:xfrm>
            <a:off x="1371600" y="4206240"/>
            <a:ext cx="9418320" cy="91440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645920" y="4206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JSON opaco</a:t>
            </a:r>
            <a:endParaRPr lang="pt-BR" sz="2000" dirty="0"/>
          </a:p>
        </p:txBody>
      </p:sp>
      <p:cxnSp>
        <p:nvCxnSpPr>
          <p:cNvPr id="31" name="Arrow 31"/>
          <p:cNvCxnSpPr/>
          <p:nvPr/>
        </p:nvCxnSpPr>
        <p:spPr>
          <a:xfrm>
            <a:off x="5943600" y="4663440"/>
            <a:ext cx="73152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2" name="Text 32"/>
          <p:cNvSpPr txBox="1"/>
          <p:nvPr/>
        </p:nvSpPr>
        <p:spPr>
          <a:xfrm>
            <a:off x="6858000" y="4206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chemeClr val="accent1"/>
                </a:solidFill>
              </a:rPr>
              <a:t>erro com campo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lado bom, gostaram do visual e do nome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653388" y="2926080"/>
            <a:ext cx="48158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653388" y="2926080"/>
            <a:ext cx="481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 escuro, estilo terminal</a:t>
            </a:r>
            <a:endParaRPr lang="pt-BR" sz="2000" dirty="0"/>
          </a:p>
        </p:txBody>
      </p:sp>
      <p:sp>
        <p:nvSpPr>
          <p:cNvPr id="23" name="Shape 23"/>
          <p:cNvSpPr/>
          <p:nvPr/>
        </p:nvSpPr>
        <p:spPr>
          <a:xfrm>
            <a:off x="6789268" y="2926080"/>
            <a:ext cx="374904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789268" y="2926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nome: “Why” = “Uai”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O professor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criar problemas e torneios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começa no banco de problemas, com busca por código, tema e dificuldade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lista-problemas-filtros.png"/>
          <p:cNvSpPr/>
          <p:nvPr/>
        </p:nvSpPr>
        <p:spPr>
          <a:xfrm>
            <a:off x="1492547" y="1746504"/>
            <a:ext cx="9206601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lista-problemas-filtros.png" descr="lista-problemas-fil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123" y="1783080"/>
            <a:ext cx="9133449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prontos entram em lote, por um arquivo JSON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v4-problem-import.png"/>
          <p:cNvSpPr/>
          <p:nvPr/>
        </p:nvSpPr>
        <p:spPr>
          <a:xfrm>
            <a:off x="1736319" y="1746504"/>
            <a:ext cx="8719057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problem-import.png" descr="v4-problem-impo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2895" y="1783080"/>
            <a:ext cx="864590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criar um problema, ele só é publicado com uma solução que passa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validacao-aprovada.png"/>
          <p:cNvSpPr/>
          <p:nvPr/>
        </p:nvSpPr>
        <p:spPr>
          <a:xfrm>
            <a:off x="512064" y="2045261"/>
            <a:ext cx="11167567" cy="395619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alidacao-aprovada.png" descr="validacao-aprova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081837"/>
            <a:ext cx="11094415" cy="38830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escreve essa solução: passou em 18 de 20 problemas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pic>
        <p:nvPicPr>
          <p:cNvPr id="32" name="img-ai_reference.png" descr="ai_refere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4548" y="1783080"/>
            <a:ext cx="8102600" cy="3977640"/>
          </a:xfrm>
          <a:prstGeom prst="rect">
            <a:avLst/>
          </a:prstGeom>
        </p:spPr>
      </p:pic>
      <p:sp>
        <p:nvSpPr>
          <p:cNvPr id="33" name="Text 3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Soluções de referência geradas pela IA, julgadas pelo judge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também sugere a narrativa e as tags do problema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ia-narrativa-tags.png"/>
          <p:cNvSpPr/>
          <p:nvPr/>
        </p:nvSpPr>
        <p:spPr>
          <a:xfrm>
            <a:off x="512064" y="1791014"/>
            <a:ext cx="11167567" cy="4464691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ia-narrativa-tags.png" descr="ia-narrativa-ta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827590"/>
            <a:ext cx="11094415" cy="43915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aponta casos de borda que faltam nos testes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ia-revisao-casos-borda.png"/>
          <p:cNvSpPr/>
          <p:nvPr/>
        </p:nvSpPr>
        <p:spPr>
          <a:xfrm>
            <a:off x="1180259" y="1746504"/>
            <a:ext cx="9831177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ia-revisao-casos-borda.png" descr="ia-revisao-casos-bor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835" y="1783080"/>
            <a:ext cx="975802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publicar, o professor vê o problema como o aluno vai ver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previsualizacao.png"/>
          <p:cNvSpPr/>
          <p:nvPr/>
        </p:nvSpPr>
        <p:spPr>
          <a:xfrm>
            <a:off x="1498702" y="1746504"/>
            <a:ext cx="919429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previsualizacao.png" descr="previsualizaca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5278" y="1783080"/>
            <a:ext cx="912114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os problemas prontos, o professor monta o torneio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v4-contest-settings.png"/>
          <p:cNvSpPr/>
          <p:nvPr/>
        </p:nvSpPr>
        <p:spPr>
          <a:xfrm>
            <a:off x="2221783" y="1746504"/>
            <a:ext cx="7748129" cy="4050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contest-settings.png" descr="v4-contest-sett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8359" y="1783080"/>
            <a:ext cx="7674977" cy="3977640"/>
          </a:xfrm>
          <a:prstGeom prst="rect">
            <a:avLst/>
          </a:prstGeom>
        </p:spPr>
      </p:pic>
      <p:sp>
        <p:nvSpPr>
          <p:cNvPr id="33" name="Text 3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Nome, datas, privado e nível de IA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problemas entram no torneio pelo código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torneio-busca-codigo.png"/>
          <p:cNvSpPr/>
          <p:nvPr/>
        </p:nvSpPr>
        <p:spPr>
          <a:xfrm>
            <a:off x="512064" y="2091488"/>
            <a:ext cx="11167567" cy="386374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torneio-busca-codigo.png" descr="torneio-busca-codi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28064"/>
            <a:ext cx="11094415" cy="3790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torneio privado, o professor aprova quem entra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v4-contest-join-requests.png"/>
          <p:cNvSpPr/>
          <p:nvPr/>
        </p:nvSpPr>
        <p:spPr>
          <a:xfrm>
            <a:off x="512064" y="2599982"/>
            <a:ext cx="11167567" cy="284675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contest-join-requests.png" descr="v4-contest-join-reques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636558"/>
            <a:ext cx="11094415" cy="27736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também decide quanto a IA ajuda no torneio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548640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640080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desligada</a:t>
            </a:r>
            <a:endParaRPr lang="pt-BR" sz="2000" dirty="0"/>
          </a:p>
        </p:txBody>
      </p:sp>
      <p:sp>
        <p:nvSpPr>
          <p:cNvPr id="33" name="Text 33"/>
          <p:cNvSpPr txBox="1"/>
          <p:nvPr/>
        </p:nvSpPr>
        <p:spPr>
          <a:xfrm>
            <a:off x="640080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sem IA</a:t>
            </a:r>
            <a:endParaRPr lang="pt-BR" sz="1200" dirty="0"/>
          </a:p>
        </p:txBody>
      </p:sp>
      <p:cxnSp>
        <p:nvCxnSpPr>
          <p:cNvPr id="34" name="Arrow 34"/>
          <p:cNvCxnSpPr/>
          <p:nvPr/>
        </p:nvCxnSpPr>
        <p:spPr>
          <a:xfrm>
            <a:off x="2999918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5" name="Shape 35"/>
          <p:cNvSpPr/>
          <p:nvPr/>
        </p:nvSpPr>
        <p:spPr>
          <a:xfrm>
            <a:off x="3447974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3539414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conceito</a:t>
            </a:r>
            <a:endParaRPr lang="pt-BR" sz="2000" dirty="0"/>
          </a:p>
        </p:txBody>
      </p:sp>
      <p:sp>
        <p:nvSpPr>
          <p:cNvPr id="37" name="Text 37"/>
          <p:cNvSpPr txBox="1"/>
          <p:nvPr/>
        </p:nvSpPr>
        <p:spPr>
          <a:xfrm>
            <a:off x="3539414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nomeia a área</a:t>
            </a:r>
            <a:endParaRPr lang="pt-BR" sz="1200" dirty="0"/>
          </a:p>
        </p:txBody>
      </p:sp>
      <p:cxnSp>
        <p:nvCxnSpPr>
          <p:cNvPr id="38" name="Arrow 38"/>
          <p:cNvCxnSpPr/>
          <p:nvPr/>
        </p:nvCxnSpPr>
        <p:spPr>
          <a:xfrm>
            <a:off x="5899252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9" name="Shape 39"/>
          <p:cNvSpPr/>
          <p:nvPr/>
        </p:nvSpPr>
        <p:spPr>
          <a:xfrm>
            <a:off x="6347308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40"/>
          <p:cNvSpPr txBox="1"/>
          <p:nvPr/>
        </p:nvSpPr>
        <p:spPr>
          <a:xfrm>
            <a:off x="6438748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dica</a:t>
            </a:r>
            <a:endParaRPr lang="pt-BR" sz="2000" dirty="0"/>
          </a:p>
        </p:txBody>
      </p:sp>
      <p:sp>
        <p:nvSpPr>
          <p:cNvPr id="41" name="Text 41"/>
          <p:cNvSpPr txBox="1"/>
          <p:nvPr/>
        </p:nvSpPr>
        <p:spPr>
          <a:xfrm>
            <a:off x="6438748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explica o erro</a:t>
            </a:r>
            <a:endParaRPr lang="pt-BR" sz="1200" dirty="0"/>
          </a:p>
        </p:txBody>
      </p:sp>
      <p:cxnSp>
        <p:nvCxnSpPr>
          <p:cNvPr id="42" name="Arrow 42"/>
          <p:cNvCxnSpPr/>
          <p:nvPr/>
        </p:nvCxnSpPr>
        <p:spPr>
          <a:xfrm>
            <a:off x="8798585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3" name="Shape 43"/>
          <p:cNvSpPr/>
          <p:nvPr/>
        </p:nvSpPr>
        <p:spPr>
          <a:xfrm>
            <a:off x="9246641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4"/>
          <p:cNvSpPr txBox="1"/>
          <p:nvPr/>
        </p:nvSpPr>
        <p:spPr>
          <a:xfrm>
            <a:off x="9338081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precisa</a:t>
            </a:r>
            <a:endParaRPr lang="pt-BR" sz="2000" dirty="0"/>
          </a:p>
        </p:txBody>
      </p:sp>
      <p:sp>
        <p:nvSpPr>
          <p:cNvPr id="45" name="Text 45"/>
          <p:cNvSpPr txBox="1"/>
          <p:nvPr/>
        </p:nvSpPr>
        <p:spPr>
          <a:xfrm>
            <a:off x="9338081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aponta a linha</a:t>
            </a:r>
            <a:endParaRPr lang="pt-BR" sz="1200" dirty="0"/>
          </a:p>
        </p:txBody>
      </p:sp>
      <p:sp>
        <p:nvSpPr>
          <p:cNvPr id="46" name="Text 46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O aluno libera um nível por vez.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o torneio, o placar segue o estilo das maratonas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frame-v4-standings.png"/>
          <p:cNvSpPr/>
          <p:nvPr/>
        </p:nvSpPr>
        <p:spPr>
          <a:xfrm>
            <a:off x="512064" y="2316051"/>
            <a:ext cx="11167567" cy="341461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standings.png" descr="v4-stand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352627"/>
            <a:ext cx="11094415" cy="33414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célula conta tentativas, minuto e quem resolveu primeiro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989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989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4639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4639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4576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4576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940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940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placar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828800" y="210312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A7F37"/>
          </a:solidFill>
          <a:ln w="9525">
            <a:solidFill>
              <a:srgbClr val="1A7F37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828800" y="21031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FFFFFF"/>
                </a:solidFill>
              </a:rPr>
              <a:t>2</a:t>
            </a:r>
            <a:endParaRPr lang="pt-BR" sz="4000" dirty="0"/>
          </a:p>
          <a:p>
            <a:pPr algn="ctr" indent="0" marL="0">
              <a:buNone/>
            </a:pPr>
            <a:r>
              <a:rPr lang="pt-BR" sz="2000" b="1" dirty="0">
                <a:solidFill>
                  <a:srgbClr val="FFFFFF"/>
                </a:solidFill>
              </a:rPr>
              <a:t>22'</a:t>
            </a:r>
            <a:endParaRPr lang="pt-BR" sz="4000" dirty="0"/>
          </a:p>
        </p:txBody>
      </p:sp>
      <p:sp>
        <p:nvSpPr>
          <p:cNvPr id="33" name="Text 33"/>
          <p:cNvSpPr txBox="1"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3000" dirty="0">
                <a:solidFill>
                  <a:srgbClr val="BC4C00"/>
                </a:solidFill>
              </a:rPr>
              <a:t>★</a:t>
            </a:r>
            <a:endParaRPr lang="pt-BR" sz="3000" dirty="0"/>
          </a:p>
        </p:txBody>
      </p:sp>
      <p:sp>
        <p:nvSpPr>
          <p:cNvPr id="34" name="Text 34"/>
          <p:cNvSpPr txBox="1"/>
          <p:nvPr/>
        </p:nvSpPr>
        <p:spPr>
          <a:xfrm>
            <a:off x="448056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2</a:t>
            </a:r>
            <a:r>
              <a:rPr lang="pt-BR" sz="2200" dirty="0">
                <a:solidFill>
                  <a:schemeClr val="bg1"/>
                </a:solidFill>
              </a:rPr>
              <a:t xml:space="preserve"> tentativas</a:t>
            </a:r>
            <a:endParaRPr lang="pt-BR" sz="2200" dirty="0"/>
          </a:p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22'</a:t>
            </a:r>
            <a:r>
              <a:rPr lang="pt-BR" sz="2200" dirty="0">
                <a:solidFill>
                  <a:schemeClr val="bg1"/>
                </a:solidFill>
              </a:rPr>
              <a:t xml:space="preserve"> minuto do acerto</a:t>
            </a:r>
            <a:endParaRPr lang="pt-BR" sz="2200" dirty="0"/>
          </a:p>
          <a:p>
            <a:pPr indent="0" marL="0">
              <a:buNone/>
            </a:pPr>
            <a:r>
              <a:rPr lang="pt-BR" sz="2200" b="1" dirty="0">
                <a:solidFill>
                  <a:srgbClr val="BC4C00"/>
                </a:solidFill>
              </a:rPr>
              <a:t>★</a:t>
            </a:r>
            <a:r>
              <a:rPr lang="pt-BR" sz="2200" dirty="0">
                <a:solidFill>
                  <a:schemeClr val="bg1"/>
                </a:solidFill>
              </a:rPr>
              <a:t xml:space="preserve"> primeiro a resolver</a:t>
            </a:r>
            <a:endParaRPr lang="pt-B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04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O aluno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resolver e entender o erro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outro lado, o aluno entra e vê o que falta fazer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546543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546543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387791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387791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229039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229039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avisos</a:t>
            </a:r>
            <a:endParaRPr lang="pt-BR" sz="1000" dirty="0"/>
          </a:p>
        </p:txBody>
      </p:sp>
      <p:sp>
        <p:nvSpPr>
          <p:cNvPr id="31" name="frame-v4-home.png"/>
          <p:cNvSpPr/>
          <p:nvPr/>
        </p:nvSpPr>
        <p:spPr>
          <a:xfrm>
            <a:off x="1158659" y="1746504"/>
            <a:ext cx="9874377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home.png" descr="v4-ho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5235" y="1783080"/>
            <a:ext cx="980122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escreve a solução num editor que salva sozinho no navegador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546543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546543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387791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387791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229039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229039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avisos</a:t>
            </a:r>
            <a:endParaRPr lang="pt-BR" sz="1000" dirty="0"/>
          </a:p>
        </p:txBody>
      </p:sp>
      <p:sp>
        <p:nvSpPr>
          <p:cNvPr id="31" name="frame-editor-autosave.png"/>
          <p:cNvSpPr/>
          <p:nvPr/>
        </p:nvSpPr>
        <p:spPr>
          <a:xfrm>
            <a:off x="1944624" y="1746504"/>
            <a:ext cx="8302447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editor-autosave.png" descr="editor-autosa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1200" y="1783080"/>
            <a:ext cx="822929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tentativa recebe um veredito com nome e cor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546543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546543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387791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387791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229039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229039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avisos</a:t>
            </a:r>
            <a:endParaRPr lang="pt-BR" sz="1000" dirty="0"/>
          </a:p>
        </p:txBody>
      </p:sp>
      <p:sp>
        <p:nvSpPr>
          <p:cNvPr id="31" name="frame-v4-verdicts-contest.png"/>
          <p:cNvSpPr/>
          <p:nvPr/>
        </p:nvSpPr>
        <p:spPr>
          <a:xfrm>
            <a:off x="512064" y="2068925"/>
            <a:ext cx="11167567" cy="340595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verdicts-contest.png" descr="v4-verdicts-conte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05501"/>
            <a:ext cx="11094415" cy="3332798"/>
          </a:xfrm>
          <a:prstGeom prst="rect">
            <a:avLst/>
          </a:prstGeom>
        </p:spPr>
      </p:pic>
      <p:sp>
        <p:nvSpPr>
          <p:cNvPr id="33" name="Text 3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Seis tentativas, seis vereditos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errar, ele vê o caso que falhou e pode pedir uma explicação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546543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546543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387791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387791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229039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229039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avisos</a:t>
            </a:r>
            <a:endParaRPr lang="pt-BR" sz="1000" dirty="0"/>
          </a:p>
        </p:txBody>
      </p:sp>
      <p:sp>
        <p:nvSpPr>
          <p:cNvPr id="31" name="frame-submissoes-explicar.png"/>
          <p:cNvSpPr/>
          <p:nvPr/>
        </p:nvSpPr>
        <p:spPr>
          <a:xfrm>
            <a:off x="512064" y="2572936"/>
            <a:ext cx="11167567" cy="2900848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submissoes-explicar.png" descr="submissoes-explic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609512"/>
            <a:ext cx="11094415" cy="28276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avisam o veredito e as aprovações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546543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546543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387791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387791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229039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229039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avisos</a:t>
            </a:r>
            <a:endParaRPr lang="pt-BR" sz="1000" dirty="0"/>
          </a:p>
        </p:txBody>
      </p:sp>
      <p:sp>
        <p:nvSpPr>
          <p:cNvPr id="31" name="frame-v4-notifications.png"/>
          <p:cNvSpPr/>
          <p:nvPr/>
        </p:nvSpPr>
        <p:spPr>
          <a:xfrm>
            <a:off x="4192372" y="1746504"/>
            <a:ext cx="380695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notifications.png" descr="v4-notificati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8948" y="1783080"/>
            <a:ext cx="373380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K abre uma busca que leva a qualquer lugar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546543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546543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387791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387791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229039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229039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avisos</a:t>
            </a:r>
            <a:endParaRPr lang="pt-BR" sz="1000" dirty="0"/>
          </a:p>
        </p:txBody>
      </p:sp>
      <p:sp>
        <p:nvSpPr>
          <p:cNvPr id="31" name="frame-v4-command-palette.png"/>
          <p:cNvSpPr/>
          <p:nvPr/>
        </p:nvSpPr>
        <p:spPr>
          <a:xfrm>
            <a:off x="2782062" y="1746504"/>
            <a:ext cx="6627571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command-palette.png" descr="v4-command-palet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8638" y="1783080"/>
            <a:ext cx="6554419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05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Aulas e turma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listas com prazo e revisão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dos torneios, o aluno entra na turma com um código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frame-turma-codigo.png"/>
          <p:cNvSpPr/>
          <p:nvPr/>
        </p:nvSpPr>
        <p:spPr>
          <a:xfrm>
            <a:off x="512064" y="3362723"/>
            <a:ext cx="11167567" cy="132127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g-turma-codigo.png" descr="turma-codi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399299"/>
            <a:ext cx="11094415" cy="12481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aula da turma é uma lista de exercícios com prazo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frame-v4-class-lessons.png"/>
          <p:cNvSpPr/>
          <p:nvPr/>
        </p:nvSpPr>
        <p:spPr>
          <a:xfrm>
            <a:off x="512064" y="2071427"/>
            <a:ext cx="11167567" cy="390386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g-v4-class-lessons.png" descr="v4-class-less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08003"/>
            <a:ext cx="11094415" cy="38307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nunca programou, a resposta pode ser em blocos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frame-formato-blocos.png"/>
          <p:cNvSpPr/>
          <p:nvPr/>
        </p:nvSpPr>
        <p:spPr>
          <a:xfrm>
            <a:off x="2520230" y="1746504"/>
            <a:ext cx="7151235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g-formato-blocos.png" descr="formato-bloc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6806" y="1783080"/>
            <a:ext cx="7078083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em Parsons: ordenar e indentar as linhas certas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frame-formato-parsons.png"/>
          <p:cNvSpPr/>
          <p:nvPr/>
        </p:nvSpPr>
        <p:spPr>
          <a:xfrm>
            <a:off x="512064" y="2279951"/>
            <a:ext cx="11167567" cy="3486818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g-formato-parsons.png" descr="formato-pars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316527"/>
            <a:ext cx="11094415" cy="34136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pode exigir como resolver, não só o resultado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frame-solution-constraints.png"/>
          <p:cNvSpPr/>
          <p:nvPr/>
        </p:nvSpPr>
        <p:spPr>
          <a:xfrm>
            <a:off x="4393261" y="1746504"/>
            <a:ext cx="3405174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g-solution-constraints.png" descr="solution-constrain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837" y="1783080"/>
            <a:ext cx="3332022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Testado: restrições acertam código real e erram texto em strings e comentários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pic>
        <p:nvPicPr>
          <p:cNvPr id="34" name="img-constraints_accuracy.png" descr="constraints_accura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5" name="Text 35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30 amostras rotuladas à mão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prazo, o professor revisa e comenta cada exercício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frame-revisao-professor.png"/>
          <p:cNvSpPr/>
          <p:nvPr/>
        </p:nvSpPr>
        <p:spPr>
          <a:xfrm>
            <a:off x="562288" y="1746504"/>
            <a:ext cx="11067119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g-revisao-professor.png" descr="revisao-profess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864" y="1783080"/>
            <a:ext cx="10993967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notas da turma inteira ficam numa tabela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frame-v4-gradebook.png"/>
          <p:cNvSpPr/>
          <p:nvPr/>
        </p:nvSpPr>
        <p:spPr>
          <a:xfrm>
            <a:off x="782168" y="1746504"/>
            <a:ext cx="10627360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g-v4-gradebook.png" descr="v4-gradeboo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744" y="1783080"/>
            <a:ext cx="10554208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boletim vai para CSV sem quebrar acentos nem executar fórmulas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7669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7669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7241743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41743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930591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930591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924239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924239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0070287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0070287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pt-BR" sz="1000" dirty="0"/>
          </a:p>
        </p:txBody>
      </p:sp>
      <p:sp>
        <p:nvSpPr>
          <p:cNvPr id="33" name="Text 33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=HYPERLINK("http://…")</a:t>
            </a:r>
            <a:r>
              <a:rPr lang="pt-BR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→   </a:t>
            </a:r>
            <a:r>
              <a:rPr lang="pt-BR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'=HYPERLINK("http://…")</a:t>
            </a:r>
            <a:endParaRPr lang="pt-BR" sz="2400" dirty="0"/>
          </a:p>
        </p:txBody>
      </p:sp>
      <p:sp>
        <p:nvSpPr>
          <p:cNvPr id="34" name="Shape 34"/>
          <p:cNvSpPr/>
          <p:nvPr/>
        </p:nvSpPr>
        <p:spPr>
          <a:xfrm>
            <a:off x="2148688" y="3566160"/>
            <a:ext cx="152400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2148688" y="3566160"/>
            <a:ext cx="152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 4180</a:t>
            </a:r>
            <a:endParaRPr lang="pt-BR" sz="1600" dirty="0"/>
          </a:p>
        </p:txBody>
      </p:sp>
      <p:sp>
        <p:nvSpPr>
          <p:cNvPr id="36" name="Shape 36"/>
          <p:cNvSpPr/>
          <p:nvPr/>
        </p:nvSpPr>
        <p:spPr>
          <a:xfrm>
            <a:off x="3992728" y="3566160"/>
            <a:ext cx="249936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3992728" y="3566160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 para o Excel</a:t>
            </a:r>
            <a:endParaRPr lang="pt-BR" sz="1600" dirty="0"/>
          </a:p>
        </p:txBody>
      </p:sp>
      <p:sp>
        <p:nvSpPr>
          <p:cNvPr id="38" name="Shape 38"/>
          <p:cNvSpPr/>
          <p:nvPr/>
        </p:nvSpPr>
        <p:spPr>
          <a:xfrm>
            <a:off x="6812128" y="3566160"/>
            <a:ext cx="323088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6812128" y="356616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fórmulas neutralizadas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06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Plágio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quem copiou de quem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os envios da turma, o professor vê os pares mais parecidos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9" name="frame-v4-similarity-pairs.png"/>
          <p:cNvSpPr/>
          <p:nvPr/>
        </p:nvSpPr>
        <p:spPr>
          <a:xfrm>
            <a:off x="512064" y="1998162"/>
            <a:ext cx="11167567" cy="405039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g-v4-similarity-pairs.png" descr="v4-similarity-pai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034738"/>
            <a:ext cx="11094415" cy="39772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Lado a lado, os trechos iguais aparecem destacados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9" name="frame-v4-similarity-side-by-side.png"/>
          <p:cNvSpPr/>
          <p:nvPr/>
        </p:nvSpPr>
        <p:spPr>
          <a:xfrm>
            <a:off x="512064" y="2102827"/>
            <a:ext cx="11167567" cy="384106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g-v4-similarity-side-by-side.png" descr="v4-similarity-side-by-si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39403"/>
            <a:ext cx="11094415" cy="37679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comparação funciona em cada exercício das aulas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9" name="frame-v4-similarity-exercise.png"/>
          <p:cNvSpPr/>
          <p:nvPr/>
        </p:nvSpPr>
        <p:spPr>
          <a:xfrm>
            <a:off x="782168" y="1746504"/>
            <a:ext cx="10627360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g-v4-similarity-exercise.png" descr="v4-similarity-exerci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744" y="1783080"/>
            <a:ext cx="10554208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trás, o código vira impressões digitais antes da comparação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548640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640080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código</a:t>
            </a:r>
            <a:endParaRPr lang="pt-BR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640080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do aluno</a:t>
            </a:r>
            <a:endParaRPr lang="pt-BR" sz="1200" dirty="0"/>
          </a:p>
        </p:txBody>
      </p:sp>
      <p:cxnSp>
        <p:nvCxnSpPr>
          <p:cNvPr id="32" name="Arrow 32"/>
          <p:cNvCxnSpPr/>
          <p:nvPr/>
        </p:nvCxnSpPr>
        <p:spPr>
          <a:xfrm>
            <a:off x="2493203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3" name="Shape 33"/>
          <p:cNvSpPr/>
          <p:nvPr/>
        </p:nvSpPr>
        <p:spPr>
          <a:xfrm>
            <a:off x="2849819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2941259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tokens</a:t>
            </a:r>
            <a:endParaRPr lang="pt-BR" sz="1800" dirty="0"/>
          </a:p>
        </p:txBody>
      </p:sp>
      <p:sp>
        <p:nvSpPr>
          <p:cNvPr id="35" name="Text 35"/>
          <p:cNvSpPr txBox="1"/>
          <p:nvPr/>
        </p:nvSpPr>
        <p:spPr>
          <a:xfrm>
            <a:off x="2941259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nomes → V</a:t>
            </a:r>
            <a:endParaRPr lang="pt-BR" sz="1200" dirty="0"/>
          </a:p>
        </p:txBody>
      </p:sp>
      <p:cxnSp>
        <p:nvCxnSpPr>
          <p:cNvPr id="36" name="Arrow 36"/>
          <p:cNvCxnSpPr/>
          <p:nvPr/>
        </p:nvCxnSpPr>
        <p:spPr>
          <a:xfrm>
            <a:off x="4794382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5150998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5242438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k-gramas</a:t>
            </a:r>
            <a:endParaRPr lang="pt-BR" sz="1800" dirty="0"/>
          </a:p>
        </p:txBody>
      </p:sp>
      <p:sp>
        <p:nvSpPr>
          <p:cNvPr id="39" name="Text 39"/>
          <p:cNvSpPr txBox="1"/>
          <p:nvPr/>
        </p:nvSpPr>
        <p:spPr>
          <a:xfrm>
            <a:off x="5242438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k = 5</a:t>
            </a:r>
            <a:endParaRPr lang="pt-BR" sz="1200" dirty="0"/>
          </a:p>
        </p:txBody>
      </p:sp>
      <p:cxnSp>
        <p:nvCxnSpPr>
          <p:cNvPr id="40" name="Arrow 40"/>
          <p:cNvCxnSpPr/>
          <p:nvPr/>
        </p:nvCxnSpPr>
        <p:spPr>
          <a:xfrm>
            <a:off x="7095561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1" name="Shape 41"/>
          <p:cNvSpPr/>
          <p:nvPr/>
        </p:nvSpPr>
        <p:spPr>
          <a:xfrm>
            <a:off x="7452177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7543617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winnowing</a:t>
            </a:r>
            <a:endParaRPr lang="pt-BR" sz="1800" dirty="0"/>
          </a:p>
        </p:txBody>
      </p:sp>
      <p:sp>
        <p:nvSpPr>
          <p:cNvPr id="43" name="Text 43"/>
          <p:cNvSpPr txBox="1"/>
          <p:nvPr/>
        </p:nvSpPr>
        <p:spPr>
          <a:xfrm>
            <a:off x="7543617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janela w = 4</a:t>
            </a:r>
            <a:endParaRPr lang="pt-BR" sz="1200" dirty="0"/>
          </a:p>
        </p:txBody>
      </p:sp>
      <p:cxnSp>
        <p:nvCxnSpPr>
          <p:cNvPr id="44" name="Arrow 44"/>
          <p:cNvCxnSpPr/>
          <p:nvPr/>
        </p:nvCxnSpPr>
        <p:spPr>
          <a:xfrm>
            <a:off x="9396740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5" name="Shape 45"/>
          <p:cNvSpPr/>
          <p:nvPr/>
        </p:nvSpPr>
        <p:spPr>
          <a:xfrm>
            <a:off x="9753356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9844796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impressões</a:t>
            </a:r>
            <a:endParaRPr lang="pt-BR" sz="1800" dirty="0"/>
          </a:p>
        </p:txBody>
      </p:sp>
      <p:sp>
        <p:nvSpPr>
          <p:cNvPr id="47" name="Text 47"/>
          <p:cNvSpPr txBox="1"/>
          <p:nvPr/>
        </p:nvSpPr>
        <p:spPr>
          <a:xfrm>
            <a:off x="9844796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hashes</a:t>
            </a:r>
            <a:endParaRPr lang="pt-BR" sz="1200" dirty="0"/>
          </a:p>
        </p:txBody>
      </p:sp>
      <p:sp>
        <p:nvSpPr>
          <p:cNvPr id="48" name="Shape 48"/>
          <p:cNvSpPr/>
          <p:nvPr/>
        </p:nvSpPr>
        <p:spPr>
          <a:xfrm>
            <a:off x="2011680" y="3840480"/>
            <a:ext cx="2377440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2103120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pares</a:t>
            </a:r>
            <a:endParaRPr lang="pt-BR" sz="1800" dirty="0"/>
          </a:p>
        </p:txBody>
      </p:sp>
      <p:sp>
        <p:nvSpPr>
          <p:cNvPr id="50" name="Text 50"/>
          <p:cNvSpPr txBox="1"/>
          <p:nvPr/>
        </p:nvSpPr>
        <p:spPr>
          <a:xfrm>
            <a:off x="210312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mesma linguagem</a:t>
            </a:r>
            <a:endParaRPr lang="pt-BR" sz="1200" dirty="0"/>
          </a:p>
        </p:txBody>
      </p:sp>
      <p:cxnSp>
        <p:nvCxnSpPr>
          <p:cNvPr id="51" name="Arrow 51"/>
          <p:cNvCxnSpPr/>
          <p:nvPr/>
        </p:nvCxnSpPr>
        <p:spPr>
          <a:xfrm>
            <a:off x="4443984" y="443484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52" name="Shape 52"/>
          <p:cNvSpPr/>
          <p:nvPr/>
        </p:nvSpPr>
        <p:spPr>
          <a:xfrm>
            <a:off x="4892040" y="3840480"/>
            <a:ext cx="2377440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3" name="Text 53"/>
          <p:cNvSpPr txBox="1"/>
          <p:nvPr/>
        </p:nvSpPr>
        <p:spPr>
          <a:xfrm>
            <a:off x="4983480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greedy tiling</a:t>
            </a:r>
            <a:endParaRPr lang="pt-BR" sz="1800" dirty="0"/>
          </a:p>
        </p:txBody>
      </p:sp>
      <p:sp>
        <p:nvSpPr>
          <p:cNvPr id="54" name="Text 54"/>
          <p:cNvSpPr txBox="1"/>
          <p:nvPr/>
        </p:nvSpPr>
        <p:spPr>
          <a:xfrm>
            <a:off x="498348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trechos iguais</a:t>
            </a:r>
            <a:endParaRPr lang="pt-BR" sz="1200" dirty="0"/>
          </a:p>
        </p:txBody>
      </p:sp>
      <p:cxnSp>
        <p:nvCxnSpPr>
          <p:cNvPr id="55" name="Arrow 55"/>
          <p:cNvCxnSpPr/>
          <p:nvPr/>
        </p:nvCxnSpPr>
        <p:spPr>
          <a:xfrm>
            <a:off x="7324344" y="443484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56" name="Shape 56"/>
          <p:cNvSpPr/>
          <p:nvPr/>
        </p:nvSpPr>
        <p:spPr>
          <a:xfrm>
            <a:off x="7772400" y="3840480"/>
            <a:ext cx="2377440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7" name="Text 57"/>
          <p:cNvSpPr txBox="1"/>
          <p:nvPr/>
        </p:nvSpPr>
        <p:spPr>
          <a:xfrm>
            <a:off x="7863840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similaridade</a:t>
            </a:r>
            <a:endParaRPr lang="pt-BR" sz="1800" dirty="0"/>
          </a:p>
        </p:txBody>
      </p:sp>
      <p:sp>
        <p:nvSpPr>
          <p:cNvPr id="58" name="Text 58"/>
          <p:cNvSpPr txBox="1"/>
          <p:nvPr/>
        </p:nvSpPr>
        <p:spPr>
          <a:xfrm>
            <a:off x="786384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0 a 100%</a:t>
            </a:r>
            <a:endParaRPr lang="pt-BR" sz="1200" dirty="0"/>
          </a:p>
        </p:txBody>
      </p:sp>
      <p:sp>
        <p:nvSpPr>
          <p:cNvPr id="59" name="Text 59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Estilo MOSS (Schleimer et al., 2003)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Renomear variáveis não engana a comparação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 total += v[i];</a:t>
            </a:r>
            <a:endParaRPr lang="pt-BR" sz="2400" dirty="0"/>
          </a:p>
        </p:txBody>
      </p:sp>
      <p:cxnSp>
        <p:nvCxnSpPr>
          <p:cNvPr id="30" name="Arrow 30"/>
          <p:cNvCxnSpPr/>
          <p:nvPr/>
        </p:nvCxnSpPr>
        <p:spPr>
          <a:xfrm>
            <a:off x="6080760" y="2834640"/>
            <a:ext cx="0" cy="54864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1" name="Text 31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 int V = N ; V &lt; V ; V ++ ) V += V [ V ] ;</a:t>
            </a:r>
            <a:endParaRPr lang="pt-BR" sz="2400" dirty="0"/>
          </a:p>
        </p:txBody>
      </p:sp>
      <p:sp>
        <p:nvSpPr>
          <p:cNvPr id="32" name="Text 32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Renomear e reformatar não muda o que é comparado.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Testado: cópias ofuscadas ficam acima de 0,52; soluções independentes, abaixo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pic>
        <p:nvPicPr>
          <p:cNvPr id="30" name="img-plagiarism_levels.png" descr="plagiarism_level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8148" y="1783080"/>
            <a:ext cx="8915400" cy="3977640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36 soluções originais, 6 ofuscações cada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limiar de 0,52: 98% de precisão e 99,5% de revocação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pic>
        <p:nvPicPr>
          <p:cNvPr id="30" name="img-plagiarism_roc.png" descr="plagiarism_ro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4548" y="1783080"/>
            <a:ext cx="8102600" cy="3977640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216 cópias contra 198 pares independentes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alunos comparados em menos de meio segundo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7781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7781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848039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848039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917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917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qualidade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987735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987735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pic>
        <p:nvPicPr>
          <p:cNvPr id="30" name="img-plagiarism_perf.png" descr="plagiarism_per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Um exercício, uma linguagem, todos os pares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07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Por dentro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arquitetura e judge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trás de tudo isso, dois serviços que só conversam pelo banco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548640" y="219456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640080" y="240487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Navegador</a:t>
            </a:r>
            <a:endParaRPr lang="pt-BR" sz="1700" dirty="0"/>
          </a:p>
        </p:txBody>
      </p:sp>
      <p:sp>
        <p:nvSpPr>
          <p:cNvPr id="31" name="Text 31"/>
          <p:cNvSpPr txBox="1"/>
          <p:nvPr/>
        </p:nvSpPr>
        <p:spPr>
          <a:xfrm>
            <a:off x="640080" y="283464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React · TanStack Query</a:t>
            </a:r>
            <a:endParaRPr lang="pt-BR" sz="1200" dirty="0"/>
          </a:p>
        </p:txBody>
      </p:sp>
      <p:cxnSp>
        <p:nvCxnSpPr>
          <p:cNvPr id="32" name="Arrow 32"/>
          <p:cNvCxnSpPr/>
          <p:nvPr/>
        </p:nvCxnSpPr>
        <p:spPr>
          <a:xfrm>
            <a:off x="2420051" y="278892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3" name="Shape 33"/>
          <p:cNvSpPr/>
          <p:nvPr/>
        </p:nvSpPr>
        <p:spPr>
          <a:xfrm>
            <a:off x="2868107" y="219456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2959547" y="240487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Next.js</a:t>
            </a:r>
            <a:endParaRPr lang="pt-BR" sz="1700" dirty="0"/>
          </a:p>
        </p:txBody>
      </p:sp>
      <p:sp>
        <p:nvSpPr>
          <p:cNvPr id="35" name="Text 35"/>
          <p:cNvSpPr txBox="1"/>
          <p:nvPr/>
        </p:nvSpPr>
        <p:spPr>
          <a:xfrm>
            <a:off x="2959547" y="283464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Server Actions</a:t>
            </a:r>
            <a:endParaRPr lang="pt-BR" sz="1200" dirty="0"/>
          </a:p>
        </p:txBody>
      </p:sp>
      <p:cxnSp>
        <p:nvCxnSpPr>
          <p:cNvPr id="36" name="Arrow 36"/>
          <p:cNvCxnSpPr/>
          <p:nvPr/>
        </p:nvCxnSpPr>
        <p:spPr>
          <a:xfrm>
            <a:off x="4739518" y="278892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5187574" y="219456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5279014" y="240487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PostgreSQL</a:t>
            </a:r>
            <a:endParaRPr lang="pt-BR" sz="1700" dirty="0"/>
          </a:p>
        </p:txBody>
      </p:sp>
      <p:sp>
        <p:nvSpPr>
          <p:cNvPr id="39" name="Text 39"/>
          <p:cNvSpPr txBox="1"/>
          <p:nvPr/>
        </p:nvSpPr>
        <p:spPr>
          <a:xfrm>
            <a:off x="5279014" y="283464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LISTEN / NOTIFY</a:t>
            </a:r>
            <a:endParaRPr lang="pt-BR" sz="1200" dirty="0"/>
          </a:p>
        </p:txBody>
      </p:sp>
      <p:cxnSp>
        <p:nvCxnSpPr>
          <p:cNvPr id="40" name="Arrow 40"/>
          <p:cNvCxnSpPr/>
          <p:nvPr/>
        </p:nvCxnSpPr>
        <p:spPr>
          <a:xfrm>
            <a:off x="7058985" y="278892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1" name="Shape 41"/>
          <p:cNvSpPr/>
          <p:nvPr/>
        </p:nvSpPr>
        <p:spPr>
          <a:xfrm>
            <a:off x="7507041" y="219456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7598481" y="240487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Judge</a:t>
            </a:r>
            <a:endParaRPr lang="pt-BR" sz="1700" dirty="0"/>
          </a:p>
        </p:txBody>
      </p:sp>
      <p:sp>
        <p:nvSpPr>
          <p:cNvPr id="43" name="Text 43"/>
          <p:cNvSpPr txBox="1"/>
          <p:nvPr/>
        </p:nvSpPr>
        <p:spPr>
          <a:xfrm>
            <a:off x="7598481" y="283464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Rust · tokio · sqlx</a:t>
            </a:r>
            <a:endParaRPr lang="pt-BR" sz="1200" dirty="0"/>
          </a:p>
        </p:txBody>
      </p:sp>
      <p:cxnSp>
        <p:nvCxnSpPr>
          <p:cNvPr id="44" name="Arrow 44"/>
          <p:cNvCxnSpPr/>
          <p:nvPr/>
        </p:nvCxnSpPr>
        <p:spPr>
          <a:xfrm>
            <a:off x="9378452" y="278892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5" name="Shape 45"/>
          <p:cNvSpPr/>
          <p:nvPr/>
        </p:nvSpPr>
        <p:spPr>
          <a:xfrm>
            <a:off x="9826508" y="219456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9917948" y="240487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isolate</a:t>
            </a:r>
            <a:endParaRPr lang="pt-BR" sz="1700" dirty="0"/>
          </a:p>
        </p:txBody>
      </p:sp>
      <p:sp>
        <p:nvSpPr>
          <p:cNvPr id="47" name="Text 47"/>
          <p:cNvSpPr txBox="1"/>
          <p:nvPr/>
        </p:nvSpPr>
        <p:spPr>
          <a:xfrm>
            <a:off x="9917948" y="283464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sem rede · limites</a:t>
            </a:r>
            <a:endParaRPr lang="pt-BR" sz="1200" dirty="0"/>
          </a:p>
        </p:txBody>
      </p:sp>
      <p:cxnSp>
        <p:nvCxnSpPr>
          <p:cNvPr id="48" name="Arrow 48"/>
          <p:cNvCxnSpPr/>
          <p:nvPr/>
        </p:nvCxnSpPr>
        <p:spPr>
          <a:xfrm>
            <a:off x="3776381" y="3429000"/>
            <a:ext cx="0" cy="50292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49" name="Shape 49"/>
          <p:cNvSpPr/>
          <p:nvPr/>
        </p:nvSpPr>
        <p:spPr>
          <a:xfrm>
            <a:off x="2593787" y="3977640"/>
            <a:ext cx="2365187" cy="91440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0" name="Text 50"/>
          <p:cNvSpPr txBox="1"/>
          <p:nvPr/>
        </p:nvSpPr>
        <p:spPr>
          <a:xfrm>
            <a:off x="2685227" y="4050792"/>
            <a:ext cx="21823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IA</a:t>
            </a:r>
            <a:endParaRPr lang="pt-BR" sz="1800" dirty="0"/>
          </a:p>
        </p:txBody>
      </p:sp>
      <p:sp>
        <p:nvSpPr>
          <p:cNvPr id="51" name="Text 51"/>
          <p:cNvSpPr txBox="1"/>
          <p:nvPr/>
        </p:nvSpPr>
        <p:spPr>
          <a:xfrm>
            <a:off x="2685227" y="4480560"/>
            <a:ext cx="21823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cadeia de três modelos</a:t>
            </a:r>
            <a:endParaRPr lang="pt-BR" sz="1200" dirty="0"/>
          </a:p>
        </p:txBody>
      </p:sp>
      <p:sp>
        <p:nvSpPr>
          <p:cNvPr id="52" name="Text 52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O site grava o envio; o judge escuta, executa e grava o veredito.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script garante que Rust e TypeScript concordam no banco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822960" y="2377440"/>
            <a:ext cx="3474720" cy="146304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14400" y="2724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judge/src/models.rs</a:t>
            </a:r>
            <a:endParaRPr lang="pt-BR" sz="1600" dirty="0"/>
          </a:p>
        </p:txBody>
      </p:sp>
      <p:sp>
        <p:nvSpPr>
          <p:cNvPr id="31" name="Text 31"/>
          <p:cNvSpPr txBox="1"/>
          <p:nvPr/>
        </p:nvSpPr>
        <p:spPr>
          <a:xfrm>
            <a:off x="91440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enum SubmissionStatus</a:t>
            </a:r>
            <a:endParaRPr lang="pt-BR" sz="1200" dirty="0"/>
          </a:p>
        </p:txBody>
      </p:sp>
      <p:sp>
        <p:nvSpPr>
          <p:cNvPr id="32" name="Shape 32"/>
          <p:cNvSpPr/>
          <p:nvPr/>
        </p:nvSpPr>
        <p:spPr>
          <a:xfrm>
            <a:off x="7863840" y="2377440"/>
            <a:ext cx="3474720" cy="146304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7955280" y="2724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web/drizzle/schemas</a:t>
            </a:r>
            <a:endParaRPr lang="pt-BR" sz="1600" dirty="0"/>
          </a:p>
        </p:txBody>
      </p:sp>
      <p:sp>
        <p:nvSpPr>
          <p:cNvPr id="34" name="Text 34"/>
          <p:cNvSpPr txBox="1"/>
          <p:nvPr/>
        </p:nvSpPr>
        <p:spPr>
          <a:xfrm>
            <a:off x="795528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pgEnum submission_status</a:t>
            </a:r>
            <a:endParaRPr lang="pt-BR" sz="1200" dirty="0"/>
          </a:p>
        </p:txBody>
      </p:sp>
      <p:sp>
        <p:nvSpPr>
          <p:cNvPr id="35" name="Shape 35"/>
          <p:cNvSpPr/>
          <p:nvPr/>
        </p:nvSpPr>
        <p:spPr>
          <a:xfrm>
            <a:off x="4709160" y="2514600"/>
            <a:ext cx="2743200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4800600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check-enum-sync.ts</a:t>
            </a:r>
            <a:endParaRPr lang="pt-BR" sz="1500" dirty="0"/>
          </a:p>
        </p:txBody>
      </p:sp>
      <p:sp>
        <p:nvSpPr>
          <p:cNvPr id="37" name="Text 37"/>
          <p:cNvSpPr txBox="1"/>
          <p:nvPr/>
        </p:nvSpPr>
        <p:spPr>
          <a:xfrm>
            <a:off x="480060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falha se divergirem</a:t>
            </a:r>
            <a:endParaRPr lang="pt-BR" sz="1200" dirty="0"/>
          </a:p>
        </p:txBody>
      </p:sp>
      <p:cxnSp>
        <p:nvCxnSpPr>
          <p:cNvPr id="38" name="Arrow 38"/>
          <p:cNvCxnSpPr/>
          <p:nvPr/>
        </p:nvCxnSpPr>
        <p:spPr>
          <a:xfrm>
            <a:off x="4343400" y="3108960"/>
            <a:ext cx="320040" cy="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cxnSp>
        <p:nvCxnSpPr>
          <p:cNvPr id="39" name="Arrow 39"/>
          <p:cNvCxnSpPr/>
          <p:nvPr/>
        </p:nvCxnSpPr>
        <p:spPr>
          <a:xfrm flipH="1">
            <a:off x="7498080" y="3108960"/>
            <a:ext cx="320040" cy="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40" name="Text 40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Os dois serviços dividem o banco, não o código.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código do aluno roda numa caixa sem rede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3566160" y="18288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30" name="Text 30"/>
          <p:cNvSpPr txBox="1"/>
          <p:nvPr/>
        </p:nvSpPr>
        <p:spPr>
          <a:xfrm>
            <a:off x="356616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caixa do isolate</a:t>
            </a:r>
            <a:endParaRPr lang="pt-BR" sz="1400" dirty="0"/>
          </a:p>
        </p:txBody>
      </p:sp>
      <p:sp>
        <p:nvSpPr>
          <p:cNvPr id="31" name="Text 31"/>
          <p:cNvSpPr txBox="1"/>
          <p:nvPr/>
        </p:nvSpPr>
        <p:spPr>
          <a:xfrm>
            <a:off x="3566160" y="2560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chemeClr val="bg1"/>
                </a:solidFill>
              </a:rPr>
              <a:t>programa do aluno</a:t>
            </a:r>
            <a:endParaRPr lang="pt-BR" sz="2800" dirty="0"/>
          </a:p>
        </p:txBody>
      </p:sp>
      <p:sp>
        <p:nvSpPr>
          <p:cNvPr id="32" name="Shape 32"/>
          <p:cNvSpPr/>
          <p:nvPr/>
        </p:nvSpPr>
        <p:spPr>
          <a:xfrm>
            <a:off x="2697328" y="5029200"/>
            <a:ext cx="152400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2697328" y="5029200"/>
            <a:ext cx="152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rede</a:t>
            </a:r>
            <a:endParaRPr lang="pt-BR" sz="1600" dirty="0"/>
          </a:p>
        </p:txBody>
      </p:sp>
      <p:sp>
        <p:nvSpPr>
          <p:cNvPr id="34" name="Shape 34"/>
          <p:cNvSpPr/>
          <p:nvPr/>
        </p:nvSpPr>
        <p:spPr>
          <a:xfrm>
            <a:off x="4541368" y="5029200"/>
            <a:ext cx="237744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4541368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e memória</a:t>
            </a:r>
            <a:endParaRPr lang="pt-BR" sz="1600" dirty="0"/>
          </a:p>
        </p:txBody>
      </p:sp>
      <p:sp>
        <p:nvSpPr>
          <p:cNvPr id="36" name="Shape 36"/>
          <p:cNvSpPr/>
          <p:nvPr/>
        </p:nvSpPr>
        <p:spPr>
          <a:xfrm>
            <a:off x="7238848" y="5029200"/>
            <a:ext cx="225552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7238848" y="502920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64 processos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linguagens, do C ao Portugol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7237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151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C</a:t>
            </a:r>
            <a:endParaRPr lang="pt-BR" sz="2200" dirty="0"/>
          </a:p>
        </p:txBody>
      </p:sp>
      <p:sp>
        <p:nvSpPr>
          <p:cNvPr id="31" name="Shape 31"/>
          <p:cNvSpPr/>
          <p:nvPr/>
        </p:nvSpPr>
        <p:spPr>
          <a:xfrm>
            <a:off x="25525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26439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C++</a:t>
            </a:r>
            <a:endParaRPr lang="pt-BR" sz="2200" dirty="0"/>
          </a:p>
        </p:txBody>
      </p:sp>
      <p:sp>
        <p:nvSpPr>
          <p:cNvPr id="33" name="Shape 33"/>
          <p:cNvSpPr/>
          <p:nvPr/>
        </p:nvSpPr>
        <p:spPr>
          <a:xfrm>
            <a:off x="43813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44727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Java</a:t>
            </a:r>
            <a:endParaRPr lang="pt-BR" sz="2200" dirty="0"/>
          </a:p>
        </p:txBody>
      </p:sp>
      <p:sp>
        <p:nvSpPr>
          <p:cNvPr id="35" name="Shape 35"/>
          <p:cNvSpPr/>
          <p:nvPr/>
        </p:nvSpPr>
        <p:spPr>
          <a:xfrm>
            <a:off x="62101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63015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Python</a:t>
            </a:r>
            <a:endParaRPr lang="pt-BR" sz="2200" dirty="0"/>
          </a:p>
        </p:txBody>
      </p:sp>
      <p:sp>
        <p:nvSpPr>
          <p:cNvPr id="37" name="Shape 37"/>
          <p:cNvSpPr/>
          <p:nvPr/>
        </p:nvSpPr>
        <p:spPr>
          <a:xfrm>
            <a:off x="80389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81303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Rust</a:t>
            </a:r>
            <a:endParaRPr lang="pt-BR" sz="2200" dirty="0"/>
          </a:p>
        </p:txBody>
      </p:sp>
      <p:sp>
        <p:nvSpPr>
          <p:cNvPr id="39" name="Shape 39"/>
          <p:cNvSpPr/>
          <p:nvPr/>
        </p:nvSpPr>
        <p:spPr>
          <a:xfrm>
            <a:off x="98677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40"/>
          <p:cNvSpPr txBox="1"/>
          <p:nvPr/>
        </p:nvSpPr>
        <p:spPr>
          <a:xfrm>
            <a:off x="99591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Portugol</a:t>
            </a:r>
            <a:endParaRPr lang="pt-B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falha tem nome: os seis vereditos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822960" y="18288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1A7F37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2296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</a:t>
            </a:r>
            <a:endParaRPr lang="pt-BR" sz="2600" dirty="0"/>
          </a:p>
        </p:txBody>
      </p:sp>
      <p:sp>
        <p:nvSpPr>
          <p:cNvPr id="31" name="Text 31"/>
          <p:cNvSpPr txBox="1"/>
          <p:nvPr/>
        </p:nvSpPr>
        <p:spPr>
          <a:xfrm>
            <a:off x="2423160" y="1847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chemeClr val="bg1"/>
                </a:solidFill>
              </a:rPr>
              <a:t>Aceito</a:t>
            </a:r>
            <a:endParaRPr lang="pt-BR" sz="1400" dirty="0"/>
          </a:p>
        </p:txBody>
      </p:sp>
      <p:sp>
        <p:nvSpPr>
          <p:cNvPr id="32" name="Text 32"/>
          <p:cNvSpPr txBox="1"/>
          <p:nvPr/>
        </p:nvSpPr>
        <p:spPr>
          <a:xfrm>
            <a:off x="2423160" y="22128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passou em todos os casos</a:t>
            </a:r>
            <a:endParaRPr lang="pt-BR" sz="1300" dirty="0"/>
          </a:p>
        </p:txBody>
      </p:sp>
      <p:sp>
        <p:nvSpPr>
          <p:cNvPr id="33" name="Shape 33"/>
          <p:cNvSpPr/>
          <p:nvPr/>
        </p:nvSpPr>
        <p:spPr>
          <a:xfrm>
            <a:off x="4434840" y="18288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CF222E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443484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</a:t>
            </a:r>
            <a:endParaRPr lang="pt-BR" sz="2600" dirty="0"/>
          </a:p>
        </p:txBody>
      </p:sp>
      <p:sp>
        <p:nvSpPr>
          <p:cNvPr id="35" name="Text 35"/>
          <p:cNvSpPr txBox="1"/>
          <p:nvPr/>
        </p:nvSpPr>
        <p:spPr>
          <a:xfrm>
            <a:off x="6035040" y="1847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chemeClr val="bg1"/>
                </a:solidFill>
              </a:rPr>
              <a:t>Resposta errada</a:t>
            </a:r>
            <a:endParaRPr lang="pt-BR" sz="1400" dirty="0"/>
          </a:p>
        </p:txBody>
      </p:sp>
      <p:sp>
        <p:nvSpPr>
          <p:cNvPr id="36" name="Text 36"/>
          <p:cNvSpPr txBox="1"/>
          <p:nvPr/>
        </p:nvSpPr>
        <p:spPr>
          <a:xfrm>
            <a:off x="6035040" y="22128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saída diferente da esperada</a:t>
            </a:r>
            <a:endParaRPr lang="pt-BR" sz="1300" dirty="0"/>
          </a:p>
        </p:txBody>
      </p:sp>
      <p:sp>
        <p:nvSpPr>
          <p:cNvPr id="37" name="Shape 37"/>
          <p:cNvSpPr/>
          <p:nvPr/>
        </p:nvSpPr>
        <p:spPr>
          <a:xfrm>
            <a:off x="8046720" y="18288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804672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TLE</a:t>
            </a:r>
            <a:endParaRPr lang="pt-BR" sz="2600" dirty="0"/>
          </a:p>
        </p:txBody>
      </p:sp>
      <p:sp>
        <p:nvSpPr>
          <p:cNvPr id="39" name="Text 39"/>
          <p:cNvSpPr txBox="1"/>
          <p:nvPr/>
        </p:nvSpPr>
        <p:spPr>
          <a:xfrm>
            <a:off x="9646920" y="1847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chemeClr val="bg1"/>
                </a:solidFill>
              </a:rPr>
              <a:t>Tempo excedido</a:t>
            </a:r>
            <a:endParaRPr lang="pt-BR" sz="1400" dirty="0"/>
          </a:p>
        </p:txBody>
      </p:sp>
      <p:sp>
        <p:nvSpPr>
          <p:cNvPr id="40" name="Text 40"/>
          <p:cNvSpPr txBox="1"/>
          <p:nvPr/>
        </p:nvSpPr>
        <p:spPr>
          <a:xfrm>
            <a:off x="9646920" y="22128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não terminou no limite</a:t>
            </a:r>
            <a:endParaRPr lang="pt-BR" sz="1300" dirty="0"/>
          </a:p>
        </p:txBody>
      </p:sp>
      <p:sp>
        <p:nvSpPr>
          <p:cNvPr id="41" name="Shape 41"/>
          <p:cNvSpPr/>
          <p:nvPr/>
        </p:nvSpPr>
        <p:spPr>
          <a:xfrm>
            <a:off x="822960" y="36576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8250DF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822960" y="3657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MLE</a:t>
            </a:r>
            <a:endParaRPr lang="pt-BR" sz="2600" dirty="0"/>
          </a:p>
        </p:txBody>
      </p:sp>
      <p:sp>
        <p:nvSpPr>
          <p:cNvPr id="43" name="Text 43"/>
          <p:cNvSpPr txBox="1"/>
          <p:nvPr/>
        </p:nvSpPr>
        <p:spPr>
          <a:xfrm>
            <a:off x="2423160" y="3675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chemeClr val="bg1"/>
                </a:solidFill>
              </a:rPr>
              <a:t>Memória excedida</a:t>
            </a:r>
            <a:endParaRPr lang="pt-BR" sz="1400" dirty="0"/>
          </a:p>
        </p:txBody>
      </p:sp>
      <p:sp>
        <p:nvSpPr>
          <p:cNvPr id="44" name="Text 44"/>
          <p:cNvSpPr txBox="1"/>
          <p:nvPr/>
        </p:nvSpPr>
        <p:spPr>
          <a:xfrm>
            <a:off x="2423160" y="40416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pediu memória demais</a:t>
            </a:r>
            <a:endParaRPr lang="pt-BR" sz="1300" dirty="0"/>
          </a:p>
        </p:txBody>
      </p:sp>
      <p:sp>
        <p:nvSpPr>
          <p:cNvPr id="45" name="Shape 45"/>
          <p:cNvSpPr/>
          <p:nvPr/>
        </p:nvSpPr>
        <p:spPr>
          <a:xfrm>
            <a:off x="4434840" y="36576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9A6700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4434840" y="3657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endParaRPr lang="pt-BR" sz="2600" dirty="0"/>
          </a:p>
        </p:txBody>
      </p:sp>
      <p:sp>
        <p:nvSpPr>
          <p:cNvPr id="47" name="Text 47"/>
          <p:cNvSpPr txBox="1"/>
          <p:nvPr/>
        </p:nvSpPr>
        <p:spPr>
          <a:xfrm>
            <a:off x="6035040" y="3675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chemeClr val="bg1"/>
                </a:solidFill>
              </a:rPr>
              <a:t>Erro de compilação</a:t>
            </a:r>
            <a:endParaRPr lang="pt-BR" sz="1400" dirty="0"/>
          </a:p>
        </p:txBody>
      </p:sp>
      <p:sp>
        <p:nvSpPr>
          <p:cNvPr id="48" name="Text 48"/>
          <p:cNvSpPr txBox="1"/>
          <p:nvPr/>
        </p:nvSpPr>
        <p:spPr>
          <a:xfrm>
            <a:off x="6035040" y="40416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não compilou</a:t>
            </a:r>
            <a:endParaRPr lang="pt-BR" sz="1300" dirty="0"/>
          </a:p>
        </p:txBody>
      </p:sp>
      <p:sp>
        <p:nvSpPr>
          <p:cNvPr id="49" name="Shape 49"/>
          <p:cNvSpPr/>
          <p:nvPr/>
        </p:nvSpPr>
        <p:spPr>
          <a:xfrm>
            <a:off x="8046720" y="36576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BF3989"/>
            </a:solidFill>
            <a:prstDash val="solid"/>
          </a:ln>
        </p:spPr>
      </p:sp>
      <p:sp>
        <p:nvSpPr>
          <p:cNvPr id="50" name="Text 50"/>
          <p:cNvSpPr txBox="1"/>
          <p:nvPr/>
        </p:nvSpPr>
        <p:spPr>
          <a:xfrm>
            <a:off x="8046720" y="3657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BF39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endParaRPr lang="pt-BR" sz="2600" dirty="0"/>
          </a:p>
        </p:txBody>
      </p:sp>
      <p:sp>
        <p:nvSpPr>
          <p:cNvPr id="51" name="Text 51"/>
          <p:cNvSpPr txBox="1"/>
          <p:nvPr/>
        </p:nvSpPr>
        <p:spPr>
          <a:xfrm>
            <a:off x="9646920" y="3675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chemeClr val="bg1"/>
                </a:solidFill>
              </a:rPr>
              <a:t>Erro de execução</a:t>
            </a:r>
            <a:endParaRPr lang="pt-BR" sz="1400" dirty="0"/>
          </a:p>
        </p:txBody>
      </p:sp>
      <p:sp>
        <p:nvSpPr>
          <p:cNvPr id="52" name="Text 52"/>
          <p:cNvSpPr txBox="1"/>
          <p:nvPr/>
        </p:nvSpPr>
        <p:spPr>
          <a:xfrm>
            <a:off x="9646920" y="40416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quebrou durante a execução</a:t>
            </a:r>
            <a:endParaRPr lang="pt-BR" sz="1300" dirty="0"/>
          </a:p>
        </p:txBody>
      </p:sp>
      <p:sp>
        <p:nvSpPr>
          <p:cNvPr id="53" name="Text 53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Antes, o judge só dizia “passou” ou “falhou”.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de compilação não penaliza no placar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828800" y="2194560"/>
            <a:ext cx="3840480" cy="182880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92024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WA, TLE, RE…</a:t>
            </a:r>
            <a:endParaRPr lang="pt-BR" sz="2400" dirty="0"/>
          </a:p>
        </p:txBody>
      </p:sp>
      <p:sp>
        <p:nvSpPr>
          <p:cNvPr id="31" name="Text 31"/>
          <p:cNvSpPr txBox="1"/>
          <p:nvPr/>
        </p:nvSpPr>
        <p:spPr>
          <a:xfrm>
            <a:off x="192024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+20 min por tentativa</a:t>
            </a:r>
            <a:endParaRPr lang="pt-BR" sz="1600" dirty="0"/>
          </a:p>
        </p:txBody>
      </p:sp>
      <p:sp>
        <p:nvSpPr>
          <p:cNvPr id="32" name="Shape 32"/>
          <p:cNvSpPr/>
          <p:nvPr/>
        </p:nvSpPr>
        <p:spPr>
          <a:xfrm>
            <a:off x="6492240" y="2194560"/>
            <a:ext cx="3840480" cy="182880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658368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800" b="1" dirty="0">
                <a:solidFill>
                  <a:schemeClr val="bg1"/>
                </a:solidFill>
              </a:rPr>
              <a:t>CE</a:t>
            </a:r>
            <a:endParaRPr lang="pt-BR" sz="2800" dirty="0"/>
          </a:p>
        </p:txBody>
      </p:sp>
      <p:sp>
        <p:nvSpPr>
          <p:cNvPr id="34" name="Text 34"/>
          <p:cNvSpPr txBox="1"/>
          <p:nvPr/>
        </p:nvSpPr>
        <p:spPr>
          <a:xfrm>
            <a:off x="658368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não conta no placar</a:t>
            </a:r>
            <a:endParaRPr lang="pt-BR" sz="1600" dirty="0"/>
          </a:p>
        </p:txBody>
      </p:sp>
      <p:sp>
        <p:nvSpPr>
          <p:cNvPr id="35" name="Text 35"/>
          <p:cNvSpPr txBox="1"/>
          <p:nvPr/>
        </p:nvSpPr>
        <p:spPr>
          <a:xfrm>
            <a:off x="548640" y="4663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Convenção da ICPC: quem não compilou não foi julgado.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excedida é deduzida, não detectada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548640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640080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malloc falha</a:t>
            </a:r>
            <a:endParaRPr lang="pt-BR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640080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limite RLIMIT_AS</a:t>
            </a:r>
            <a:endParaRPr lang="pt-BR" sz="1200" dirty="0"/>
          </a:p>
        </p:txBody>
      </p:sp>
      <p:cxnSp>
        <p:nvCxnSpPr>
          <p:cNvPr id="32" name="Arrow 32"/>
          <p:cNvCxnSpPr/>
          <p:nvPr/>
        </p:nvCxnSpPr>
        <p:spPr>
          <a:xfrm>
            <a:off x="2999918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3" name="Shape 33"/>
          <p:cNvSpPr/>
          <p:nvPr/>
        </p:nvSpPr>
        <p:spPr>
          <a:xfrm>
            <a:off x="3447974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3539414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programa quebra</a:t>
            </a:r>
            <a:endParaRPr lang="pt-BR" sz="1800" dirty="0"/>
          </a:p>
        </p:txBody>
      </p:sp>
      <p:sp>
        <p:nvSpPr>
          <p:cNvPr id="35" name="Text 35"/>
          <p:cNvSpPr txBox="1"/>
          <p:nvPr/>
        </p:nvSpPr>
        <p:spPr>
          <a:xfrm>
            <a:off x="3539414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sem sinal de OOM</a:t>
            </a:r>
            <a:endParaRPr lang="pt-BR" sz="1200" dirty="0"/>
          </a:p>
        </p:txBody>
      </p:sp>
      <p:cxnSp>
        <p:nvCxnSpPr>
          <p:cNvPr id="36" name="Arrow 36"/>
          <p:cNvCxnSpPr/>
          <p:nvPr/>
        </p:nvCxnSpPr>
        <p:spPr>
          <a:xfrm>
            <a:off x="5899252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6347308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6438748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heurística</a:t>
            </a:r>
            <a:endParaRPr lang="pt-BR" sz="1800" dirty="0"/>
          </a:p>
        </p:txBody>
      </p:sp>
      <p:sp>
        <p:nvSpPr>
          <p:cNvPr id="39" name="Text 39"/>
          <p:cNvSpPr txBox="1"/>
          <p:nvPr/>
        </p:nvSpPr>
        <p:spPr>
          <a:xfrm>
            <a:off x="6438748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pico ≥ 90% ou “MemoryError”</a:t>
            </a:r>
            <a:endParaRPr lang="pt-BR" sz="1200" dirty="0"/>
          </a:p>
        </p:txBody>
      </p:sp>
      <p:cxnSp>
        <p:nvCxnSpPr>
          <p:cNvPr id="40" name="Arrow 40"/>
          <p:cNvCxnSpPr/>
          <p:nvPr/>
        </p:nvCxnSpPr>
        <p:spPr>
          <a:xfrm>
            <a:off x="8798585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1" name="Shape 41"/>
          <p:cNvSpPr/>
          <p:nvPr/>
        </p:nvSpPr>
        <p:spPr>
          <a:xfrm>
            <a:off x="9246641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rgbClr val="8250DF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9338081" y="2560320"/>
            <a:ext cx="22135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MLE</a:t>
            </a:r>
            <a:endParaRPr lang="pt-BR" sz="1800" dirty="0"/>
          </a:p>
        </p:txBody>
      </p:sp>
      <p:sp>
        <p:nvSpPr>
          <p:cNvPr id="43" name="Text 43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Não há sinal limpo de estouro: o judge deduz.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pode ser comparada de quatro jeitos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65516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74660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exata</a:t>
            </a:r>
            <a:endParaRPr lang="pt-BR" sz="2400" dirty="0"/>
          </a:p>
        </p:txBody>
      </p:sp>
      <p:sp>
        <p:nvSpPr>
          <p:cNvPr id="31" name="Text 31"/>
          <p:cNvSpPr txBox="1"/>
          <p:nvPr/>
        </p:nvSpPr>
        <p:spPr>
          <a:xfrm>
            <a:off x="74660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“3 4” ≠ “3  4”</a:t>
            </a:r>
            <a:endParaRPr lang="pt-BR" sz="1400" dirty="0"/>
          </a:p>
        </p:txBody>
      </p:sp>
      <p:sp>
        <p:nvSpPr>
          <p:cNvPr id="32" name="Shape 32"/>
          <p:cNvSpPr/>
          <p:nvPr/>
        </p:nvSpPr>
        <p:spPr>
          <a:xfrm>
            <a:off x="344408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353552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tokens</a:t>
            </a:r>
            <a:endParaRPr lang="pt-BR" sz="2400" dirty="0"/>
          </a:p>
        </p:txBody>
      </p:sp>
      <p:sp>
        <p:nvSpPr>
          <p:cNvPr id="34" name="Text 34"/>
          <p:cNvSpPr txBox="1"/>
          <p:nvPr/>
        </p:nvSpPr>
        <p:spPr>
          <a:xfrm>
            <a:off x="353552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espaços não importam</a:t>
            </a:r>
            <a:endParaRPr lang="pt-BR" sz="1400" dirty="0"/>
          </a:p>
        </p:txBody>
      </p:sp>
      <p:sp>
        <p:nvSpPr>
          <p:cNvPr id="35" name="Shape 35"/>
          <p:cNvSpPr/>
          <p:nvPr/>
        </p:nvSpPr>
        <p:spPr>
          <a:xfrm>
            <a:off x="623300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632444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float (ε)</a:t>
            </a:r>
            <a:endParaRPr lang="pt-BR" sz="2400" dirty="0"/>
          </a:p>
        </p:txBody>
      </p:sp>
      <p:sp>
        <p:nvSpPr>
          <p:cNvPr id="37" name="Text 37"/>
          <p:cNvSpPr txBox="1"/>
          <p:nvPr/>
        </p:nvSpPr>
        <p:spPr>
          <a:xfrm>
            <a:off x="632444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3,1416 ≈ 3,14159</a:t>
            </a:r>
            <a:endParaRPr lang="pt-BR" sz="1400" dirty="0"/>
          </a:p>
        </p:txBody>
      </p:sp>
      <p:sp>
        <p:nvSpPr>
          <p:cNvPr id="38" name="Shape 38"/>
          <p:cNvSpPr/>
          <p:nvPr/>
        </p:nvSpPr>
        <p:spPr>
          <a:xfrm>
            <a:off x="902192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911336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corretor</a:t>
            </a:r>
            <a:endParaRPr lang="pt-BR" sz="2400" dirty="0"/>
          </a:p>
        </p:txBody>
      </p:sp>
      <p:sp>
        <p:nvSpPr>
          <p:cNvPr id="40" name="Text 40"/>
          <p:cNvSpPr txBox="1"/>
          <p:nvPr/>
        </p:nvSpPr>
        <p:spPr>
          <a:xfrm>
            <a:off x="911336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programa do professor</a:t>
            </a:r>
            <a:endParaRPr lang="pt-BR" sz="1400" dirty="0"/>
          </a:p>
        </p:txBody>
      </p:sp>
      <p:sp>
        <p:nvSpPr>
          <p:cNvPr id="41" name="Text 41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Problema novo começa em “tokens”.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há várias respostas certas, um corretor decide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frame-v4-compare-checker.png"/>
          <p:cNvSpPr/>
          <p:nvPr/>
        </p:nvSpPr>
        <p:spPr>
          <a:xfrm>
            <a:off x="2846992" y="1746504"/>
            <a:ext cx="6497711" cy="4050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g-v4-compare-checker.png" descr="v4-compare-chec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3568" y="1783080"/>
            <a:ext cx="6424559" cy="3977640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Problema: imprima qualquer divisor de N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recebe três arquivos e responde pelo código de saída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731520" y="1828800"/>
            <a:ext cx="2377440" cy="7315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2296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5"/>
                </a:solidFill>
              </a:rPr>
              <a:t>input.txt</a:t>
            </a:r>
            <a:endParaRPr lang="pt-BR" sz="1600" dirty="0"/>
          </a:p>
        </p:txBody>
      </p:sp>
      <p:cxnSp>
        <p:nvCxnSpPr>
          <p:cNvPr id="31" name="Arrow 31"/>
          <p:cNvCxnSpPr/>
          <p:nvPr/>
        </p:nvCxnSpPr>
        <p:spPr>
          <a:xfrm>
            <a:off x="3154680" y="2194560"/>
            <a:ext cx="1051560" cy="96012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32" name="Shape 32"/>
          <p:cNvSpPr/>
          <p:nvPr/>
        </p:nvSpPr>
        <p:spPr>
          <a:xfrm>
            <a:off x="731520" y="2788920"/>
            <a:ext cx="2377440" cy="7315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82296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5"/>
                </a:solidFill>
              </a:rPr>
              <a:t>output.txt</a:t>
            </a:r>
            <a:endParaRPr lang="pt-BR" sz="1600" dirty="0"/>
          </a:p>
        </p:txBody>
      </p:sp>
      <p:cxnSp>
        <p:nvCxnSpPr>
          <p:cNvPr id="34" name="Arrow 34"/>
          <p:cNvCxnSpPr/>
          <p:nvPr/>
        </p:nvCxnSpPr>
        <p:spPr>
          <a:xfrm>
            <a:off x="3154680" y="3154680"/>
            <a:ext cx="1051560" cy="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35" name="Shape 35"/>
          <p:cNvSpPr/>
          <p:nvPr/>
        </p:nvSpPr>
        <p:spPr>
          <a:xfrm>
            <a:off x="731520" y="3749040"/>
            <a:ext cx="2377440" cy="7315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82296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5"/>
                </a:solidFill>
              </a:rPr>
              <a:t>answer.txt</a:t>
            </a:r>
            <a:endParaRPr lang="pt-BR" sz="1600" dirty="0"/>
          </a:p>
        </p:txBody>
      </p:sp>
      <p:cxnSp>
        <p:nvCxnSpPr>
          <p:cNvPr id="37" name="Arrow 37"/>
          <p:cNvCxnSpPr/>
          <p:nvPr/>
        </p:nvCxnSpPr>
        <p:spPr>
          <a:xfrm flipV="1">
            <a:off x="3154680" y="3154680"/>
            <a:ext cx="1051560" cy="96012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38" name="Shape 38"/>
          <p:cNvSpPr/>
          <p:nvPr/>
        </p:nvSpPr>
        <p:spPr>
          <a:xfrm>
            <a:off x="4297680" y="2606040"/>
            <a:ext cx="2743200" cy="109728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4389120" y="2770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corretor</a:t>
            </a:r>
            <a:endParaRPr lang="pt-BR" sz="2200" dirty="0"/>
          </a:p>
        </p:txBody>
      </p:sp>
      <p:sp>
        <p:nvSpPr>
          <p:cNvPr id="40" name="Text 40"/>
          <p:cNvSpPr txBox="1"/>
          <p:nvPr/>
        </p:nvSpPr>
        <p:spPr>
          <a:xfrm>
            <a:off x="43891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programa do professor</a:t>
            </a:r>
            <a:endParaRPr lang="pt-BR" sz="1200" dirty="0"/>
          </a:p>
        </p:txBody>
      </p:sp>
      <p:cxnSp>
        <p:nvCxnSpPr>
          <p:cNvPr id="41" name="Arrow 41"/>
          <p:cNvCxnSpPr/>
          <p:nvPr/>
        </p:nvCxnSpPr>
        <p:spPr>
          <a:xfrm flipV="1">
            <a:off x="7086600" y="2194560"/>
            <a:ext cx="1143000" cy="96012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42" name="Shape 42"/>
          <p:cNvSpPr/>
          <p:nvPr/>
        </p:nvSpPr>
        <p:spPr>
          <a:xfrm>
            <a:off x="8321040" y="1828800"/>
            <a:ext cx="3108960" cy="7315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rgbClr val="1A7F37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841248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1A7F37"/>
                </a:solidFill>
              </a:rPr>
              <a:t>exit 0 → Aceito</a:t>
            </a:r>
            <a:endParaRPr lang="pt-BR" sz="1500" dirty="0"/>
          </a:p>
        </p:txBody>
      </p:sp>
      <p:cxnSp>
        <p:nvCxnSpPr>
          <p:cNvPr id="44" name="Arrow 44"/>
          <p:cNvCxnSpPr/>
          <p:nvPr/>
        </p:nvCxnSpPr>
        <p:spPr>
          <a:xfrm>
            <a:off x="7086600" y="3154680"/>
            <a:ext cx="1143000" cy="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45" name="Shape 45"/>
          <p:cNvSpPr/>
          <p:nvPr/>
        </p:nvSpPr>
        <p:spPr>
          <a:xfrm>
            <a:off x="8321040" y="2788920"/>
            <a:ext cx="3108960" cy="7315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rgbClr val="CF222E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841248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CF222E"/>
                </a:solidFill>
              </a:rPr>
              <a:t>exit 1 → Resposta errada</a:t>
            </a:r>
            <a:endParaRPr lang="pt-BR" sz="1500" dirty="0"/>
          </a:p>
        </p:txBody>
      </p:sp>
      <p:cxnSp>
        <p:nvCxnSpPr>
          <p:cNvPr id="47" name="Arrow 47"/>
          <p:cNvCxnSpPr/>
          <p:nvPr/>
        </p:nvCxnSpPr>
        <p:spPr>
          <a:xfrm>
            <a:off x="7086600" y="3154680"/>
            <a:ext cx="1143000" cy="96012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48" name="Shape 48"/>
          <p:cNvSpPr/>
          <p:nvPr/>
        </p:nvSpPr>
        <p:spPr>
          <a:xfrm>
            <a:off x="8321040" y="3749040"/>
            <a:ext cx="3108960" cy="7315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rgbClr val="59636E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841248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59636E"/>
                </a:solidFill>
              </a:rPr>
              <a:t>outro → Erro do juiz</a:t>
            </a:r>
            <a:endParaRPr lang="pt-BR" sz="1500" dirty="0"/>
          </a:p>
        </p:txBody>
      </p:sp>
      <p:sp>
        <p:nvSpPr>
          <p:cNvPr id="50" name="Text 50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Roda no isolate, como o código do aluno.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POR DENTRO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Testado: ignorar espaços aceita respostas certas que a comparação exata recusava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97191" y="301752"/>
            <a:ext cx="1112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97191" y="301752"/>
            <a:ext cx="111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619439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619439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536887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536887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10606735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0606735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comparação</a:t>
            </a:r>
            <a:endParaRPr lang="pt-BR" sz="1000" dirty="0"/>
          </a:p>
        </p:txBody>
      </p:sp>
      <p:pic>
        <p:nvPicPr>
          <p:cNvPr id="30" name="img-compare_modes.png" descr="compare_mod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4090" y="1783080"/>
            <a:ext cx="8523514" cy="3977640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Saídas certas reescritas de jeitos comuns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08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Desempenho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benchmarks e testes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números vêm de benchmarks reproduzíveis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46608" y="2286000"/>
            <a:ext cx="2468880" cy="146304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38048" y="26334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Ryzen 5 5600</a:t>
            </a:r>
            <a:endParaRPr lang="pt-BR" sz="2000" dirty="0"/>
          </a:p>
        </p:txBody>
      </p:sp>
      <p:sp>
        <p:nvSpPr>
          <p:cNvPr id="23" name="Text 23"/>
          <p:cNvSpPr txBox="1"/>
          <p:nvPr/>
        </p:nvSpPr>
        <p:spPr>
          <a:xfrm>
            <a:off x="838048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6 núcleos · 12 threads</a:t>
            </a:r>
            <a:endParaRPr lang="pt-BR" sz="1300" dirty="0"/>
          </a:p>
        </p:txBody>
      </p:sp>
      <p:sp>
        <p:nvSpPr>
          <p:cNvPr id="24" name="Shape 24"/>
          <p:cNvSpPr/>
          <p:nvPr/>
        </p:nvSpPr>
        <p:spPr>
          <a:xfrm>
            <a:off x="3489808" y="2286000"/>
            <a:ext cx="2468880" cy="146304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3581248" y="26334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32 GB</a:t>
            </a:r>
            <a:endParaRPr lang="pt-BR" sz="2000" dirty="0"/>
          </a:p>
        </p:txBody>
      </p:sp>
      <p:sp>
        <p:nvSpPr>
          <p:cNvPr id="26" name="Text 26"/>
          <p:cNvSpPr txBox="1"/>
          <p:nvPr/>
        </p:nvSpPr>
        <p:spPr>
          <a:xfrm>
            <a:off x="3581248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RAM · CachyOS</a:t>
            </a:r>
            <a:endParaRPr lang="pt-BR" sz="1300" dirty="0"/>
          </a:p>
        </p:txBody>
      </p:sp>
      <p:sp>
        <p:nvSpPr>
          <p:cNvPr id="27" name="Shape 27"/>
          <p:cNvSpPr/>
          <p:nvPr/>
        </p:nvSpPr>
        <p:spPr>
          <a:xfrm>
            <a:off x="6233008" y="2286000"/>
            <a:ext cx="2468880" cy="146304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6324448" y="26334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Docker</a:t>
            </a:r>
            <a:endParaRPr lang="pt-BR" sz="2000" dirty="0"/>
          </a:p>
        </p:txBody>
      </p:sp>
      <p:sp>
        <p:nvSpPr>
          <p:cNvPr id="29" name="Text 29"/>
          <p:cNvSpPr txBox="1"/>
          <p:nvPr/>
        </p:nvSpPr>
        <p:spPr>
          <a:xfrm>
            <a:off x="6324448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imagem de produção + PostgreSQL</a:t>
            </a:r>
            <a:endParaRPr lang="pt-BR" sz="1300" dirty="0"/>
          </a:p>
        </p:txBody>
      </p:sp>
      <p:sp>
        <p:nvSpPr>
          <p:cNvPr id="30" name="Shape 30"/>
          <p:cNvSpPr/>
          <p:nvPr/>
        </p:nvSpPr>
        <p:spPr>
          <a:xfrm>
            <a:off x="8976208" y="2286000"/>
            <a:ext cx="2468880" cy="146304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9067648" y="26334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bench/</a:t>
            </a:r>
            <a:endParaRPr lang="pt-BR" sz="2000" dirty="0"/>
          </a:p>
        </p:txBody>
      </p:sp>
      <p:sp>
        <p:nvSpPr>
          <p:cNvPr id="32" name="Text 32"/>
          <p:cNvSpPr txBox="1"/>
          <p:nvPr/>
        </p:nvSpPr>
        <p:spPr>
          <a:xfrm>
            <a:off x="9067648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scripts e dados brutos</a:t>
            </a:r>
            <a:endParaRPr lang="pt-BR" sz="1300" dirty="0"/>
          </a:p>
        </p:txBody>
      </p:sp>
      <p:sp>
        <p:nvSpPr>
          <p:cNvPr id="33" name="Text 33"/>
          <p:cNvSpPr txBox="1"/>
          <p:nvPr/>
        </p:nvSpPr>
        <p:spPr>
          <a:xfrm>
            <a:off x="548640" y="4480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Cada número dos próximos slides sai de um script do repositório.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Primeiro, o judge passou a julgar vários envios ao mesmo tempo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sp>
        <p:nvSpPr>
          <p:cNvPr id="35" name="Shape 35"/>
          <p:cNvSpPr/>
          <p:nvPr/>
        </p:nvSpPr>
        <p:spPr>
          <a:xfrm>
            <a:off x="640080" y="2377440"/>
            <a:ext cx="2377440" cy="16459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731520" y="2816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PostgreSQL</a:t>
            </a:r>
            <a:endParaRPr lang="pt-BR" sz="2000" dirty="0"/>
          </a:p>
        </p:txBody>
      </p:sp>
      <p:sp>
        <p:nvSpPr>
          <p:cNvPr id="37" name="Text 37"/>
          <p:cNvSpPr txBox="1"/>
          <p:nvPr/>
        </p:nvSpPr>
        <p:spPr>
          <a:xfrm>
            <a:off x="73152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fila = tabela</a:t>
            </a:r>
            <a:endParaRPr lang="pt-BR" sz="1200" dirty="0"/>
          </a:p>
        </p:txBody>
      </p:sp>
      <p:sp>
        <p:nvSpPr>
          <p:cNvPr id="38" name="Shape 38"/>
          <p:cNvSpPr/>
          <p:nvPr/>
        </p:nvSpPr>
        <p:spPr>
          <a:xfrm>
            <a:off x="3840480" y="2103120"/>
            <a:ext cx="3108960" cy="21945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3931920" y="28163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dispatcher</a:t>
            </a:r>
            <a:endParaRPr lang="pt-BR" sz="2000" dirty="0"/>
          </a:p>
        </p:txBody>
      </p:sp>
      <p:sp>
        <p:nvSpPr>
          <p:cNvPr id="40" name="Text 40"/>
          <p:cNvSpPr txBox="1"/>
          <p:nvPr/>
        </p:nvSpPr>
        <p:spPr>
          <a:xfrm>
            <a:off x="393192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LISTEN/NOTIFY
varredura 60 s
reaper</a:t>
            </a:r>
            <a:endParaRPr lang="pt-BR" sz="1200" dirty="0"/>
          </a:p>
        </p:txBody>
      </p:sp>
      <p:cxnSp>
        <p:nvCxnSpPr>
          <p:cNvPr id="41" name="Arrow 41"/>
          <p:cNvCxnSpPr/>
          <p:nvPr/>
        </p:nvCxnSpPr>
        <p:spPr>
          <a:xfrm>
            <a:off x="3063240" y="3200400"/>
            <a:ext cx="731520" cy="0"/>
          </a:xfrm>
          <a:prstGeom prst="line">
            <a:avLst/>
          </a:prstGeom>
          <a:ln w="19050">
            <a:solidFill>
              <a:schemeClr val="accent5"/>
            </a:solidFill>
            <a:prstDash val="solid"/>
            <a:tailEnd type="triangle" w="med" len="med"/>
          </a:ln>
        </p:spPr>
      </p:cxnSp>
      <p:sp>
        <p:nvSpPr>
          <p:cNvPr id="42" name="Shape 42"/>
          <p:cNvSpPr/>
          <p:nvPr/>
        </p:nvSpPr>
        <p:spPr>
          <a:xfrm>
            <a:off x="7955280" y="169164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8046720" y="1691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1 · caixa 0</a:t>
            </a:r>
            <a:endParaRPr lang="pt-BR" sz="1500" dirty="0"/>
          </a:p>
        </p:txBody>
      </p:sp>
      <p:cxnSp>
        <p:nvCxnSpPr>
          <p:cNvPr id="44" name="Arrow 44"/>
          <p:cNvCxnSpPr/>
          <p:nvPr/>
        </p:nvCxnSpPr>
        <p:spPr>
          <a:xfrm flipV="1">
            <a:off x="6995160" y="2029968"/>
            <a:ext cx="914400" cy="1170432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45" name="Shape 45"/>
          <p:cNvSpPr/>
          <p:nvPr/>
        </p:nvSpPr>
        <p:spPr>
          <a:xfrm>
            <a:off x="7955280" y="256032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8046720" y="2560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2 · caixa 1</a:t>
            </a:r>
            <a:endParaRPr lang="pt-BR" sz="1500" dirty="0"/>
          </a:p>
        </p:txBody>
      </p:sp>
      <p:cxnSp>
        <p:nvCxnSpPr>
          <p:cNvPr id="47" name="Arrow 47"/>
          <p:cNvCxnSpPr/>
          <p:nvPr/>
        </p:nvCxnSpPr>
        <p:spPr>
          <a:xfrm flipV="1">
            <a:off x="6995160" y="2898648"/>
            <a:ext cx="914400" cy="301752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48" name="Shape 48"/>
          <p:cNvSpPr/>
          <p:nvPr/>
        </p:nvSpPr>
        <p:spPr>
          <a:xfrm>
            <a:off x="7955280" y="342900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8046720" y="3429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3 · caixa 2</a:t>
            </a:r>
            <a:endParaRPr lang="pt-BR" sz="1500" dirty="0"/>
          </a:p>
        </p:txBody>
      </p:sp>
      <p:cxnSp>
        <p:nvCxnSpPr>
          <p:cNvPr id="50" name="Arrow 50"/>
          <p:cNvCxnSpPr/>
          <p:nvPr/>
        </p:nvCxnSpPr>
        <p:spPr>
          <a:xfrm>
            <a:off x="6995160" y="3200400"/>
            <a:ext cx="914400" cy="566928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51" name="Shape 51"/>
          <p:cNvSpPr/>
          <p:nvPr/>
        </p:nvSpPr>
        <p:spPr>
          <a:xfrm>
            <a:off x="7955280" y="429768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2" name="Text 52"/>
          <p:cNvSpPr txBox="1"/>
          <p:nvPr/>
        </p:nvSpPr>
        <p:spPr>
          <a:xfrm>
            <a:off x="8046720" y="4297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4 · caixa 3</a:t>
            </a:r>
            <a:endParaRPr lang="pt-BR" sz="1500" dirty="0"/>
          </a:p>
        </p:txBody>
      </p:sp>
      <p:cxnSp>
        <p:nvCxnSpPr>
          <p:cNvPr id="53" name="Arrow 53"/>
          <p:cNvCxnSpPr/>
          <p:nvPr/>
        </p:nvCxnSpPr>
        <p:spPr>
          <a:xfrm>
            <a:off x="6995160" y="3200400"/>
            <a:ext cx="914400" cy="1435608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54" name="Text 54"/>
          <p:cNvSpPr txBox="1"/>
          <p:nvPr/>
        </p:nvSpPr>
        <p:spPr>
          <a:xfrm>
            <a:off x="7955280" y="5257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UPDATE SKIP LOCKED</a:t>
            </a:r>
            <a:endParaRPr lang="pt-BR" sz="1200" dirty="0"/>
          </a:p>
        </p:txBody>
      </p:sp>
      <p:sp>
        <p:nvSpPr>
          <p:cNvPr id="55" name="Text 55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 = JUDGE_CONCURRENCY (padrão: nº de CPUs, máx. 4)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workers julgam 2,8× mais rápido; 8 workers, 3,8×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concurrency_throughput.png" descr="concurrency_throughp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Rajada de envios nas 6 linguagens, 5 testes cada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8 workers, metade da turma espera menos de 18 s, não 66 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concurrency_latency.png" descr="concurrency_laten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Rajada de 100 envios: espera até o veredito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 CPU, mais workers não ajudam, e a produção roda assim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concurrency_1cpu.png" descr="concurrency_1c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Mesma rajada de 40, com o contêiner preso a 1 CPU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fila, o veredito sai em menos de 0,4 s, exceto Java e Portugol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e2e_stages.png" descr="e2e_stag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4090" y="1783080"/>
            <a:ext cx="8523514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Um envio por vez, judge ocioso, 5 casos de teste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 custa mais que rodar, exceto no Portugol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lang_time.png" descr="lang_ti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Mediana de 6 execuções no isolate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 Portugol usam dezenas de vezes mais memória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lang_memory.png" descr="lang_memo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Pico de memória no laço de 10⁷ passos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isolate custa cerca de 5 ms por execução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sandbox_overhead.png" descr="sandbox_overhea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Mesmo programa, com e sem caixa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judge acertou 63 de 72 vereditos; os erros têm causa conhecida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verdict_confusion.png" descr="verdict_confus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1664" y="1783080"/>
            <a:ext cx="8168368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2 programas por veredito × 6 linguagens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ajuda da IA leva de 13 a 20 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ai_latency.png" descr="ai_laten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10 chamadas por recurso (20 na solução de referência)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passa por três modelos; o fallback salvou mais da metade das chamadas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sp>
        <p:nvSpPr>
          <p:cNvPr id="35" name="Shape 35"/>
          <p:cNvSpPr/>
          <p:nvPr/>
        </p:nvSpPr>
        <p:spPr>
          <a:xfrm>
            <a:off x="1097280" y="2011680"/>
            <a:ext cx="2987040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1188720" y="2221992"/>
            <a:ext cx="280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Gemini 3.5 Flash</a:t>
            </a:r>
            <a:endParaRPr lang="pt-BR" sz="1700" dirty="0"/>
          </a:p>
        </p:txBody>
      </p:sp>
      <p:sp>
        <p:nvSpPr>
          <p:cNvPr id="37" name="Text 37"/>
          <p:cNvSpPr txBox="1"/>
          <p:nvPr/>
        </p:nvSpPr>
        <p:spPr>
          <a:xfrm>
            <a:off x="1188720" y="2651760"/>
            <a:ext cx="280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principal</a:t>
            </a:r>
            <a:endParaRPr lang="pt-BR" sz="1200" dirty="0"/>
          </a:p>
        </p:txBody>
      </p:sp>
      <p:cxnSp>
        <p:nvCxnSpPr>
          <p:cNvPr id="38" name="Arrow 38"/>
          <p:cNvCxnSpPr/>
          <p:nvPr/>
        </p:nvCxnSpPr>
        <p:spPr>
          <a:xfrm>
            <a:off x="4139184" y="2606040"/>
            <a:ext cx="393192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39" name="Text 39"/>
          <p:cNvSpPr txBox="1"/>
          <p:nvPr/>
        </p:nvSpPr>
        <p:spPr>
          <a:xfrm>
            <a:off x="3901440" y="22768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1000" dirty="0"/>
          </a:p>
        </p:txBody>
      </p:sp>
      <p:sp>
        <p:nvSpPr>
          <p:cNvPr id="40" name="Shape 40"/>
          <p:cNvSpPr/>
          <p:nvPr/>
        </p:nvSpPr>
        <p:spPr>
          <a:xfrm>
            <a:off x="4587240" y="2011680"/>
            <a:ext cx="2987040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4678680" y="2221992"/>
            <a:ext cx="280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Flash-Lite</a:t>
            </a:r>
            <a:endParaRPr lang="pt-BR" sz="1700" dirty="0"/>
          </a:p>
        </p:txBody>
      </p:sp>
      <p:sp>
        <p:nvSpPr>
          <p:cNvPr id="42" name="Text 42"/>
          <p:cNvSpPr txBox="1"/>
          <p:nvPr/>
        </p:nvSpPr>
        <p:spPr>
          <a:xfrm>
            <a:off x="4678680" y="2651760"/>
            <a:ext cx="280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fallback 1</a:t>
            </a:r>
            <a:endParaRPr lang="pt-BR" sz="1200" dirty="0"/>
          </a:p>
        </p:txBody>
      </p:sp>
      <p:cxnSp>
        <p:nvCxnSpPr>
          <p:cNvPr id="43" name="Arrow 43"/>
          <p:cNvCxnSpPr/>
          <p:nvPr/>
        </p:nvCxnSpPr>
        <p:spPr>
          <a:xfrm>
            <a:off x="7629144" y="2606040"/>
            <a:ext cx="393192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44" name="Text 44"/>
          <p:cNvSpPr txBox="1"/>
          <p:nvPr/>
        </p:nvSpPr>
        <p:spPr>
          <a:xfrm>
            <a:off x="7391400" y="22768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1000" dirty="0"/>
          </a:p>
        </p:txBody>
      </p:sp>
      <p:sp>
        <p:nvSpPr>
          <p:cNvPr id="45" name="Shape 45"/>
          <p:cNvSpPr/>
          <p:nvPr/>
        </p:nvSpPr>
        <p:spPr>
          <a:xfrm>
            <a:off x="8077200" y="2011680"/>
            <a:ext cx="2987040" cy="11887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46" name="Text 46"/>
          <p:cNvSpPr txBox="1"/>
          <p:nvPr/>
        </p:nvSpPr>
        <p:spPr>
          <a:xfrm>
            <a:off x="8168640" y="2221992"/>
            <a:ext cx="280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Claude Haiku 5.5</a:t>
            </a:r>
            <a:endParaRPr lang="pt-BR" sz="1700" dirty="0"/>
          </a:p>
        </p:txBody>
      </p:sp>
      <p:sp>
        <p:nvSpPr>
          <p:cNvPr id="47" name="Text 47"/>
          <p:cNvSpPr txBox="1"/>
          <p:nvPr/>
        </p:nvSpPr>
        <p:spPr>
          <a:xfrm>
            <a:off x="8168640" y="2651760"/>
            <a:ext cx="280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fallback 2</a:t>
            </a:r>
            <a:endParaRPr lang="pt-BR" sz="1200" dirty="0"/>
          </a:p>
        </p:txBody>
      </p:sp>
      <p:sp>
        <p:nvSpPr>
          <p:cNvPr id="48" name="Text 48"/>
          <p:cNvSpPr txBox="1"/>
          <p:nvPr/>
        </p:nvSpPr>
        <p:spPr>
          <a:xfrm>
            <a:off x="1097280" y="3429000"/>
            <a:ext cx="298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400" b="1" dirty="0">
                <a:solidFill>
                  <a:schemeClr val="accent4"/>
                </a:solidFill>
              </a:rPr>
              <a:t>23</a:t>
            </a:r>
            <a:endParaRPr lang="pt-BR" sz="4400" dirty="0"/>
          </a:p>
        </p:txBody>
      </p:sp>
      <p:sp>
        <p:nvSpPr>
          <p:cNvPr id="49" name="Text 49"/>
          <p:cNvSpPr txBox="1"/>
          <p:nvPr/>
        </p:nvSpPr>
        <p:spPr>
          <a:xfrm>
            <a:off x="1097280" y="42519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respostas</a:t>
            </a:r>
            <a:endParaRPr lang="pt-BR" sz="1500" dirty="0"/>
          </a:p>
        </p:txBody>
      </p:sp>
      <p:sp>
        <p:nvSpPr>
          <p:cNvPr id="50" name="Text 50"/>
          <p:cNvSpPr txBox="1"/>
          <p:nvPr/>
        </p:nvSpPr>
        <p:spPr>
          <a:xfrm>
            <a:off x="4587240" y="3429000"/>
            <a:ext cx="298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400" b="1" dirty="0">
                <a:solidFill>
                  <a:schemeClr val="accent4"/>
                </a:solidFill>
              </a:rPr>
              <a:t>30</a:t>
            </a:r>
            <a:endParaRPr lang="pt-BR" sz="4400" dirty="0"/>
          </a:p>
        </p:txBody>
      </p:sp>
      <p:sp>
        <p:nvSpPr>
          <p:cNvPr id="51" name="Text 51"/>
          <p:cNvSpPr txBox="1"/>
          <p:nvPr/>
        </p:nvSpPr>
        <p:spPr>
          <a:xfrm>
            <a:off x="4587240" y="42519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respostas</a:t>
            </a:r>
            <a:endParaRPr lang="pt-BR" sz="1500" dirty="0"/>
          </a:p>
        </p:txBody>
      </p:sp>
      <p:sp>
        <p:nvSpPr>
          <p:cNvPr id="52" name="Text 52"/>
          <p:cNvSpPr txBox="1"/>
          <p:nvPr/>
        </p:nvSpPr>
        <p:spPr>
          <a:xfrm>
            <a:off x="8077200" y="3429000"/>
            <a:ext cx="298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400" b="1" dirty="0">
                <a:solidFill>
                  <a:schemeClr val="accent4"/>
                </a:solidFill>
              </a:rPr>
              <a:t>7</a:t>
            </a:r>
            <a:endParaRPr lang="pt-BR" sz="4400" dirty="0"/>
          </a:p>
        </p:txBody>
      </p:sp>
      <p:sp>
        <p:nvSpPr>
          <p:cNvPr id="53" name="Text 53"/>
          <p:cNvSpPr txBox="1"/>
          <p:nvPr/>
        </p:nvSpPr>
        <p:spPr>
          <a:xfrm>
            <a:off x="8077200" y="42519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500" dirty="0">
                <a:solidFill>
                  <a:schemeClr val="bg2"/>
                </a:solidFill>
              </a:rPr>
              <a:t>respostas</a:t>
            </a:r>
            <a:endParaRPr lang="pt-BR" sz="1500" dirty="0"/>
          </a:p>
        </p:txBody>
      </p:sp>
      <p:sp>
        <p:nvSpPr>
          <p:cNvPr id="54" name="Text 54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60 chamadas no benchmark · 0 sem resposta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Placar de 1000 alunos em 0,12 s; boletim em 0,27 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pic>
        <p:nvPicPr>
          <p:cNvPr id="36" name="img-web_compute.png" descr="web_comp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Cálculo puro, sem banco, dados sintéticos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testes no judge, 112 no site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sp>
        <p:nvSpPr>
          <p:cNvPr id="35" name="Text 35"/>
          <p:cNvSpPr txBox="1"/>
          <p:nvPr/>
        </p:nvSpPr>
        <p:spPr>
          <a:xfrm>
            <a:off x="2438248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200" b="1" dirty="0">
                <a:solidFill>
                  <a:schemeClr val="accent1"/>
                </a:solidFill>
              </a:rPr>
              <a:t>51</a:t>
            </a:r>
            <a:endParaRPr lang="pt-BR" sz="7200" dirty="0"/>
          </a:p>
        </p:txBody>
      </p:sp>
      <p:sp>
        <p:nvSpPr>
          <p:cNvPr id="36" name="Text 36"/>
          <p:cNvSpPr txBox="1"/>
          <p:nvPr/>
        </p:nvSpPr>
        <p:spPr>
          <a:xfrm>
            <a:off x="2438248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testes do judge</a:t>
            </a:r>
            <a:endParaRPr lang="pt-BR" sz="2000" dirty="0"/>
          </a:p>
        </p:txBody>
      </p:sp>
      <p:sp>
        <p:nvSpPr>
          <p:cNvPr id="37" name="Text 37"/>
          <p:cNvSpPr txBox="1"/>
          <p:nvPr/>
        </p:nvSpPr>
        <p:spPr>
          <a:xfrm>
            <a:off x="6461608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200" b="1" dirty="0">
                <a:solidFill>
                  <a:schemeClr val="accent5"/>
                </a:solidFill>
              </a:rPr>
              <a:t>112</a:t>
            </a:r>
            <a:endParaRPr lang="pt-BR" sz="7200" dirty="0"/>
          </a:p>
        </p:txBody>
      </p:sp>
      <p:sp>
        <p:nvSpPr>
          <p:cNvPr id="38" name="Text 38"/>
          <p:cNvSpPr txBox="1"/>
          <p:nvPr/>
        </p:nvSpPr>
        <p:spPr>
          <a:xfrm>
            <a:off x="6461608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testes do site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push roda três jobs no GitHub Actions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559247" y="301752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559247" y="301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concorrência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6857695" y="301752"/>
            <a:ext cx="883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857695" y="3017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7851343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851343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8616391" y="301752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616391" y="301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9686239" y="301752"/>
            <a:ext cx="426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9686239" y="301752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10222687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10222687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pt-BR" sz="1000" dirty="0"/>
          </a:p>
        </p:txBody>
      </p:sp>
      <p:sp>
        <p:nvSpPr>
          <p:cNvPr id="33" name="Shape 33"/>
          <p:cNvSpPr/>
          <p:nvPr/>
        </p:nvSpPr>
        <p:spPr>
          <a:xfrm>
            <a:off x="10911535" y="30175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10911535" y="301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pt-BR" sz="1000" dirty="0"/>
          </a:p>
        </p:txBody>
      </p:sp>
      <p:sp>
        <p:nvSpPr>
          <p:cNvPr id="35" name="Shape 35"/>
          <p:cNvSpPr/>
          <p:nvPr/>
        </p:nvSpPr>
        <p:spPr>
          <a:xfrm>
            <a:off x="4480560" y="1737360"/>
            <a:ext cx="3200400" cy="8229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457200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push / pull request</a:t>
            </a:r>
            <a:endParaRPr lang="pt-BR" sz="1800" dirty="0"/>
          </a:p>
        </p:txBody>
      </p:sp>
      <p:cxnSp>
        <p:nvCxnSpPr>
          <p:cNvPr id="37" name="Arrow 37"/>
          <p:cNvCxnSpPr/>
          <p:nvPr/>
        </p:nvCxnSpPr>
        <p:spPr>
          <a:xfrm flipH="1">
            <a:off x="2468880" y="2606040"/>
            <a:ext cx="3611880" cy="64008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38" name="Shape 38"/>
          <p:cNvSpPr/>
          <p:nvPr/>
        </p:nvSpPr>
        <p:spPr>
          <a:xfrm>
            <a:off x="1097280" y="3291840"/>
            <a:ext cx="2743200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1188720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web</a:t>
            </a:r>
            <a:endParaRPr lang="pt-BR" sz="2200" dirty="0"/>
          </a:p>
        </p:txBody>
      </p:sp>
      <p:sp>
        <p:nvSpPr>
          <p:cNvPr id="40" name="Text 40"/>
          <p:cNvSpPr txBox="1"/>
          <p:nvPr/>
        </p:nvSpPr>
        <p:spPr>
          <a:xfrm>
            <a:off x="118872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tipos · lint · testes</a:t>
            </a:r>
            <a:endParaRPr lang="pt-BR" sz="1200" dirty="0"/>
          </a:p>
        </p:txBody>
      </p:sp>
      <p:cxnSp>
        <p:nvCxnSpPr>
          <p:cNvPr id="41" name="Arrow 41"/>
          <p:cNvCxnSpPr/>
          <p:nvPr/>
        </p:nvCxnSpPr>
        <p:spPr>
          <a:xfrm flipH="1">
            <a:off x="5943600" y="2606040"/>
            <a:ext cx="137160" cy="64008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42" name="Shape 42"/>
          <p:cNvSpPr/>
          <p:nvPr/>
        </p:nvSpPr>
        <p:spPr>
          <a:xfrm>
            <a:off x="4572000" y="3291840"/>
            <a:ext cx="2743200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4663440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judge</a:t>
            </a:r>
            <a:endParaRPr lang="pt-BR" sz="2200" dirty="0"/>
          </a:p>
        </p:txBody>
      </p:sp>
      <p:sp>
        <p:nvSpPr>
          <p:cNvPr id="44" name="Text 44"/>
          <p:cNvSpPr txBox="1"/>
          <p:nvPr/>
        </p:nvSpPr>
        <p:spPr>
          <a:xfrm>
            <a:off x="466344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fmt · clippy · testes</a:t>
            </a:r>
            <a:endParaRPr lang="pt-BR" sz="1200" dirty="0"/>
          </a:p>
        </p:txBody>
      </p:sp>
      <p:cxnSp>
        <p:nvCxnSpPr>
          <p:cNvPr id="45" name="Arrow 45"/>
          <p:cNvCxnSpPr/>
          <p:nvPr/>
        </p:nvCxnSpPr>
        <p:spPr>
          <a:xfrm>
            <a:off x="6080760" y="2606040"/>
            <a:ext cx="3337560" cy="64008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46" name="Shape 46"/>
          <p:cNvSpPr/>
          <p:nvPr/>
        </p:nvSpPr>
        <p:spPr>
          <a:xfrm>
            <a:off x="8046720" y="3291840"/>
            <a:ext cx="2743200" cy="128016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7"/>
          <p:cNvSpPr txBox="1"/>
          <p:nvPr/>
        </p:nvSpPr>
        <p:spPr>
          <a:xfrm>
            <a:off x="8138160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enum-sync</a:t>
            </a:r>
            <a:endParaRPr lang="pt-BR" sz="2200" dirty="0"/>
          </a:p>
        </p:txBody>
      </p:sp>
      <p:sp>
        <p:nvSpPr>
          <p:cNvPr id="48" name="Text 48"/>
          <p:cNvSpPr txBox="1"/>
          <p:nvPr/>
        </p:nvSpPr>
        <p:spPr>
          <a:xfrm>
            <a:off x="813816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Rust ⇄ Drizzle</a:t>
            </a:r>
            <a:endParaRPr lang="pt-BR" sz="1200" dirty="0"/>
          </a:p>
        </p:txBody>
      </p:sp>
      <p:sp>
        <p:nvSpPr>
          <p:cNvPr id="49" name="Text 49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Em paralelo · cerca de 31 s por push · 13 execuções, todas verdes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09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Avaliação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como os alunos vão avaliar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avaliação acontece dentro do sistema, no fim da atividade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22743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22743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convite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540191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540191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305239" y="301752"/>
            <a:ext cx="502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305239" y="3017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17887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17887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1063935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1063935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pt-BR" sz="1000" dirty="0"/>
          </a:p>
        </p:txBody>
      </p:sp>
      <p:sp>
        <p:nvSpPr>
          <p:cNvPr id="31" name="frame-v4-survey-banner.png"/>
          <p:cNvSpPr/>
          <p:nvPr/>
        </p:nvSpPr>
        <p:spPr>
          <a:xfrm>
            <a:off x="512064" y="3432063"/>
            <a:ext cx="11167567" cy="118259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survey-banner.png" descr="v4-survey-bann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468639"/>
            <a:ext cx="11094415" cy="11094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questionários, todos com termo de consentimento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22743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22743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convite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540191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540191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305239" y="301752"/>
            <a:ext cx="502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305239" y="3017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17887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17887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1063935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1063935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pt-BR" sz="1000" dirty="0"/>
          </a:p>
        </p:txBody>
      </p:sp>
      <p:sp>
        <p:nvSpPr>
          <p:cNvPr id="31" name="frame-v4-survey-tcle.png"/>
          <p:cNvSpPr/>
          <p:nvPr/>
        </p:nvSpPr>
        <p:spPr>
          <a:xfrm>
            <a:off x="3014789" y="1746504"/>
            <a:ext cx="6162118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survey-tcle.png" descr="v4-survey-tc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1365" y="1783080"/>
            <a:ext cx="6088966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usabilidade é medida pelo SUS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22743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22743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convite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540191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540191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305239" y="301752"/>
            <a:ext cx="502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305239" y="3017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17887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17887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1063935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1063935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pt-BR" sz="1000" dirty="0"/>
          </a:p>
        </p:txBody>
      </p:sp>
      <p:sp>
        <p:nvSpPr>
          <p:cNvPr id="31" name="frame-v4-survey-sus.png"/>
          <p:cNvSpPr/>
          <p:nvPr/>
        </p:nvSpPr>
        <p:spPr>
          <a:xfrm>
            <a:off x="2169764" y="1746504"/>
            <a:ext cx="7852167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survey-sus.png" descr="v4-survey-s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6340" y="1783080"/>
            <a:ext cx="777901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resultados saem prontos, anônimos e em CSV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22743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22743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convite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540191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540191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305239" y="301752"/>
            <a:ext cx="502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305239" y="3017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17887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17887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1063935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1063935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pt-BR" sz="1000" dirty="0"/>
          </a:p>
        </p:txBody>
      </p:sp>
      <p:sp>
        <p:nvSpPr>
          <p:cNvPr id="31" name="frame-v4-survey-results.png"/>
          <p:cNvSpPr/>
          <p:nvPr/>
        </p:nvSpPr>
        <p:spPr>
          <a:xfrm>
            <a:off x="1667294" y="1746504"/>
            <a:ext cx="8857107" cy="4050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g-v4-survey-results.png" descr="v4-survey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3870" y="1783080"/>
            <a:ext cx="8783955" cy="3977640"/>
          </a:xfrm>
          <a:prstGeom prst="rect">
            <a:avLst/>
          </a:prstGeom>
        </p:spPr>
      </p:pic>
      <p:sp>
        <p:nvSpPr>
          <p:cNvPr id="33" name="Text 3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Ainda sem respostas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teste em sala é em 29/10/2026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622743" y="301752"/>
            <a:ext cx="8077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622743" y="301752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convite</a:t>
            </a:r>
            <a:endParaRPr lang="pt-BR" sz="1000" dirty="0"/>
          </a:p>
        </p:txBody>
      </p:sp>
      <p:sp>
        <p:nvSpPr>
          <p:cNvPr id="23" name="Shape 23"/>
          <p:cNvSpPr/>
          <p:nvPr/>
        </p:nvSpPr>
        <p:spPr>
          <a:xfrm>
            <a:off x="8540191" y="301752"/>
            <a:ext cx="655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540191" y="301752"/>
            <a:ext cx="65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</a:t>
            </a:r>
            <a:endParaRPr lang="pt-BR" sz="1000" dirty="0"/>
          </a:p>
        </p:txBody>
      </p:sp>
      <p:sp>
        <p:nvSpPr>
          <p:cNvPr id="25" name="Shape 25"/>
          <p:cNvSpPr/>
          <p:nvPr/>
        </p:nvSpPr>
        <p:spPr>
          <a:xfrm>
            <a:off x="9305239" y="301752"/>
            <a:ext cx="5029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9305239" y="3017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</a:t>
            </a:r>
            <a:endParaRPr lang="pt-BR" sz="1000" dirty="0"/>
          </a:p>
        </p:txBody>
      </p:sp>
      <p:sp>
        <p:nvSpPr>
          <p:cNvPr id="27" name="Shape 27"/>
          <p:cNvSpPr/>
          <p:nvPr/>
        </p:nvSpPr>
        <p:spPr>
          <a:xfrm>
            <a:off x="9917887" y="301752"/>
            <a:ext cx="10363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9917887" y="301752"/>
            <a:ext cx="103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pt-BR" sz="1000" dirty="0"/>
          </a:p>
        </p:txBody>
      </p:sp>
      <p:sp>
        <p:nvSpPr>
          <p:cNvPr id="29" name="Shape 29"/>
          <p:cNvSpPr/>
          <p:nvPr/>
        </p:nvSpPr>
        <p:spPr>
          <a:xfrm>
            <a:off x="11063935" y="301752"/>
            <a:ext cx="579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1063935" y="301752"/>
            <a:ext cx="57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pt-BR" sz="1000" dirty="0"/>
          </a:p>
        </p:txBody>
      </p:sp>
      <p:sp>
        <p:nvSpPr>
          <p:cNvPr id="31" name="Text 31"/>
          <p:cNvSpPr txBox="1"/>
          <p:nvPr/>
        </p:nvSpPr>
        <p:spPr>
          <a:xfrm>
            <a:off x="548640" y="18288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9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29/10/2026</a:t>
            </a:r>
            <a:endParaRPr lang="pt-BR" sz="9600" dirty="0"/>
          </a:p>
        </p:txBody>
      </p:sp>
      <p:sp>
        <p:nvSpPr>
          <p:cNvPr id="32" name="Shape 32"/>
          <p:cNvSpPr/>
          <p:nvPr/>
        </p:nvSpPr>
        <p:spPr>
          <a:xfrm>
            <a:off x="2209648" y="4114800"/>
            <a:ext cx="140208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2209648" y="4114800"/>
            <a:ext cx="140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600" dirty="0"/>
          </a:p>
        </p:txBody>
      </p:sp>
      <p:sp>
        <p:nvSpPr>
          <p:cNvPr id="34" name="Shape 34"/>
          <p:cNvSpPr/>
          <p:nvPr/>
        </p:nvSpPr>
        <p:spPr>
          <a:xfrm>
            <a:off x="3931768" y="4114800"/>
            <a:ext cx="286512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3931768" y="411480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de exercícios</a:t>
            </a:r>
            <a:endParaRPr lang="pt-BR" sz="1600" dirty="0"/>
          </a:p>
        </p:txBody>
      </p:sp>
      <p:sp>
        <p:nvSpPr>
          <p:cNvPr id="36" name="Shape 36"/>
          <p:cNvSpPr/>
          <p:nvPr/>
        </p:nvSpPr>
        <p:spPr>
          <a:xfrm>
            <a:off x="7116928" y="4114800"/>
            <a:ext cx="286512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7116928" y="411480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questionários + SUS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10 DE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pt-BR" sz="11000" dirty="0"/>
          </a:p>
        </p:txBody>
      </p:sp>
      <p:sp>
        <p:nvSpPr>
          <p:cNvPr id="22" name="Text 22"/>
          <p:cNvSpPr txBox="1"/>
          <p:nvPr/>
        </p:nvSpPr>
        <p:spPr>
          <a:xfrm>
            <a:off x="38404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Discussão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384048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200" dirty="0">
                <a:solidFill>
                  <a:schemeClr val="bg2"/>
                </a:solidFill>
              </a:rPr>
              <a:t>limitações e próximos passos</a:t>
            </a:r>
            <a:endParaRPr lang="pt-BR" sz="2200" dirty="0"/>
          </a:p>
        </p:txBody>
      </p:sp>
      <p:sp>
        <p:nvSpPr>
          <p:cNvPr id="24" name="Shape 24"/>
          <p:cNvSpPr/>
          <p:nvPr/>
        </p:nvSpPr>
        <p:spPr>
          <a:xfrm>
            <a:off x="211820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93532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1</a:t>
            </a:r>
            <a:endParaRPr lang="pt-BR" sz="1100" dirty="0"/>
          </a:p>
        </p:txBody>
      </p:sp>
      <p:sp>
        <p:nvSpPr>
          <p:cNvPr id="26" name="Shape 26"/>
          <p:cNvSpPr/>
          <p:nvPr/>
        </p:nvSpPr>
        <p:spPr>
          <a:xfrm>
            <a:off x="295945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277657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2</a:t>
            </a:r>
            <a:endParaRPr lang="pt-BR" sz="1100" dirty="0"/>
          </a:p>
        </p:txBody>
      </p:sp>
      <p:sp>
        <p:nvSpPr>
          <p:cNvPr id="28" name="Shape 28"/>
          <p:cNvSpPr/>
          <p:nvPr/>
        </p:nvSpPr>
        <p:spPr>
          <a:xfrm>
            <a:off x="380070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61782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3</a:t>
            </a:r>
            <a:endParaRPr lang="pt-BR" sz="1100" dirty="0"/>
          </a:p>
        </p:txBody>
      </p:sp>
      <p:sp>
        <p:nvSpPr>
          <p:cNvPr id="30" name="Shape 30"/>
          <p:cNvSpPr/>
          <p:nvPr/>
        </p:nvSpPr>
        <p:spPr>
          <a:xfrm>
            <a:off x="4641952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45907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4</a:t>
            </a:r>
            <a:endParaRPr lang="pt-BR" sz="1100" dirty="0"/>
          </a:p>
        </p:txBody>
      </p:sp>
      <p:sp>
        <p:nvSpPr>
          <p:cNvPr id="32" name="Shape 32"/>
          <p:cNvSpPr/>
          <p:nvPr/>
        </p:nvSpPr>
        <p:spPr>
          <a:xfrm>
            <a:off x="5483200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30032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5</a:t>
            </a:r>
            <a:endParaRPr lang="pt-BR" sz="1100" dirty="0"/>
          </a:p>
        </p:txBody>
      </p:sp>
      <p:sp>
        <p:nvSpPr>
          <p:cNvPr id="34" name="Shape 34"/>
          <p:cNvSpPr/>
          <p:nvPr/>
        </p:nvSpPr>
        <p:spPr>
          <a:xfrm>
            <a:off x="6324448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41568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6</a:t>
            </a:r>
            <a:endParaRPr lang="pt-BR" sz="1100" dirty="0"/>
          </a:p>
        </p:txBody>
      </p:sp>
      <p:sp>
        <p:nvSpPr>
          <p:cNvPr id="36" name="Shape 36"/>
          <p:cNvSpPr/>
          <p:nvPr/>
        </p:nvSpPr>
        <p:spPr>
          <a:xfrm>
            <a:off x="7165696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6982816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7</a:t>
            </a:r>
            <a:endParaRPr lang="pt-BR" sz="1100" dirty="0"/>
          </a:p>
        </p:txBody>
      </p:sp>
      <p:sp>
        <p:nvSpPr>
          <p:cNvPr id="38" name="Shape 38"/>
          <p:cNvSpPr/>
          <p:nvPr/>
        </p:nvSpPr>
        <p:spPr>
          <a:xfrm>
            <a:off x="8006944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824064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8</a:t>
            </a:r>
            <a:endParaRPr lang="pt-BR" sz="1100" dirty="0"/>
          </a:p>
        </p:txBody>
      </p:sp>
      <p:sp>
        <p:nvSpPr>
          <p:cNvPr id="40" name="Shape 40"/>
          <p:cNvSpPr/>
          <p:nvPr/>
        </p:nvSpPr>
        <p:spPr>
          <a:xfrm>
            <a:off x="8848192" y="4846320"/>
            <a:ext cx="384048" cy="384048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665312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chemeClr val="bg2"/>
                </a:solidFill>
              </a:rPr>
              <a:t>9</a:t>
            </a:r>
            <a:endParaRPr lang="pt-BR" sz="1100" dirty="0"/>
          </a:p>
        </p:txBody>
      </p:sp>
      <p:sp>
        <p:nvSpPr>
          <p:cNvPr id="42" name="Shape 42"/>
          <p:cNvSpPr/>
          <p:nvPr/>
        </p:nvSpPr>
        <p:spPr>
          <a:xfrm>
            <a:off x="9689440" y="4846320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506560" y="48463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chemeClr val="tx1"/>
                </a:solidFill>
              </a:rPr>
              <a:t>10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faz bem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975208" y="3108960"/>
            <a:ext cx="274320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975208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fila externa</a:t>
            </a:r>
            <a:endParaRPr lang="pt-BR" sz="1800" dirty="0"/>
          </a:p>
        </p:txBody>
      </p:sp>
      <p:sp>
        <p:nvSpPr>
          <p:cNvPr id="23" name="Shape 23"/>
          <p:cNvSpPr/>
          <p:nvPr/>
        </p:nvSpPr>
        <p:spPr>
          <a:xfrm>
            <a:off x="4038448" y="3108960"/>
            <a:ext cx="246888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4038448" y="3108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 da IOI</a:t>
            </a:r>
            <a:endParaRPr lang="pt-BR" sz="1800" dirty="0"/>
          </a:p>
        </p:txBody>
      </p:sp>
      <p:sp>
        <p:nvSpPr>
          <p:cNvPr id="25" name="Shape 25"/>
          <p:cNvSpPr/>
          <p:nvPr/>
        </p:nvSpPr>
        <p:spPr>
          <a:xfrm>
            <a:off x="6827368" y="3108960"/>
            <a:ext cx="43891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6827368" y="3108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sob controle do professor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limitação: ainda sem avaliação com alunos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BC4C00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rgbClr val="FFFFFF"/>
                </a:solidFill>
              </a:rPr>
              <a:t>!</a:t>
            </a:r>
            <a:endParaRPr lang="pt-BR" sz="6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</a:rPr>
              <a:t>A pergunta de pesquisa ainda não tem resposta.</a:t>
            </a:r>
            <a:endParaRPr lang="pt-B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técnicas que os benchmarks mostraram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188720" y="1691640"/>
            <a:ext cx="9784080" cy="6400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2"/>
          <p:cNvSpPr/>
          <p:nvPr/>
        </p:nvSpPr>
        <p:spPr>
          <a:xfrm>
            <a:off x="1325880" y="1810512"/>
            <a:ext cx="402336" cy="402336"/>
          </a:xfrm>
          <a:prstGeom prst="ellipse">
            <a:avLst/>
          </a:prstGeom>
          <a:solidFill>
            <a:srgbClr val="BC4C00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132588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</a:rPr>
              <a:t>!</a:t>
            </a:r>
            <a:endParaRPr lang="pt-BR" sz="1600" dirty="0"/>
          </a:p>
        </p:txBody>
      </p:sp>
      <p:sp>
        <p:nvSpPr>
          <p:cNvPr id="24" name="Text 24"/>
          <p:cNvSpPr txBox="1"/>
          <p:nvPr/>
        </p:nvSpPr>
        <p:spPr>
          <a:xfrm>
            <a:off x="19659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produção</a:t>
            </a:r>
            <a:endParaRPr lang="pt-BR" sz="1700" dirty="0"/>
          </a:p>
        </p:txBody>
      </p:sp>
      <p:sp>
        <p:nvSpPr>
          <p:cNvPr id="25" name="Text 25"/>
          <p:cNvSpPr txBox="1"/>
          <p:nvPr/>
        </p:nvSpPr>
        <p:spPr>
          <a:xfrm>
            <a:off x="3977640" y="1691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dirty="0">
                <a:solidFill>
                  <a:schemeClr val="bg1"/>
                </a:solidFill>
              </a:rPr>
              <a:t>1 vCPU na Fly.io: mais workers não ajudam</a:t>
            </a:r>
            <a:endParaRPr lang="pt-BR" sz="1800" dirty="0"/>
          </a:p>
        </p:txBody>
      </p:sp>
      <p:sp>
        <p:nvSpPr>
          <p:cNvPr id="26" name="Shape 26"/>
          <p:cNvSpPr/>
          <p:nvPr/>
        </p:nvSpPr>
        <p:spPr>
          <a:xfrm>
            <a:off x="1188720" y="2478024"/>
            <a:ext cx="9784080" cy="6400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7"/>
          <p:cNvSpPr/>
          <p:nvPr/>
        </p:nvSpPr>
        <p:spPr>
          <a:xfrm>
            <a:off x="1325880" y="2596896"/>
            <a:ext cx="402336" cy="402336"/>
          </a:xfrm>
          <a:prstGeom prst="ellipse">
            <a:avLst/>
          </a:prstGeom>
          <a:solidFill>
            <a:srgbClr val="BC4C00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32588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</a:rPr>
              <a:t>!</a:t>
            </a:r>
            <a:endParaRPr lang="pt-BR" sz="1600" dirty="0"/>
          </a:p>
        </p:txBody>
      </p:sp>
      <p:sp>
        <p:nvSpPr>
          <p:cNvPr id="29" name="Text 29"/>
          <p:cNvSpPr txBox="1"/>
          <p:nvPr/>
        </p:nvSpPr>
        <p:spPr>
          <a:xfrm>
            <a:off x="1965960" y="247802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Portugol</a:t>
            </a:r>
            <a:endParaRPr lang="pt-BR" sz="1700" dirty="0"/>
          </a:p>
        </p:txBody>
      </p:sp>
      <p:sp>
        <p:nvSpPr>
          <p:cNvPr id="30" name="Text 30"/>
          <p:cNvSpPr txBox="1"/>
          <p:nvPr/>
        </p:nvSpPr>
        <p:spPr>
          <a:xfrm>
            <a:off x="3977640" y="247802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dirty="0">
                <a:solidFill>
                  <a:schemeClr val="bg1"/>
                </a:solidFill>
              </a:rPr>
              <a:t>erros saem com código 0 e viram WA</a:t>
            </a:r>
            <a:endParaRPr lang="pt-BR" sz="1800" dirty="0"/>
          </a:p>
        </p:txBody>
      </p:sp>
      <p:sp>
        <p:nvSpPr>
          <p:cNvPr id="31" name="Shape 31"/>
          <p:cNvSpPr/>
          <p:nvPr/>
        </p:nvSpPr>
        <p:spPr>
          <a:xfrm>
            <a:off x="1188720" y="3264408"/>
            <a:ext cx="9784080" cy="6400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Shape 32"/>
          <p:cNvSpPr/>
          <p:nvPr/>
        </p:nvSpPr>
        <p:spPr>
          <a:xfrm>
            <a:off x="1325880" y="3383280"/>
            <a:ext cx="402336" cy="402336"/>
          </a:xfrm>
          <a:prstGeom prst="ellipse">
            <a:avLst/>
          </a:prstGeom>
          <a:solidFill>
            <a:srgbClr val="BC4C00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13258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</a:rPr>
              <a:t>!</a:t>
            </a:r>
            <a:endParaRPr lang="pt-BR" sz="1600" dirty="0"/>
          </a:p>
        </p:txBody>
      </p:sp>
      <p:sp>
        <p:nvSpPr>
          <p:cNvPr id="34" name="Text 34"/>
          <p:cNvSpPr txBox="1"/>
          <p:nvPr/>
        </p:nvSpPr>
        <p:spPr>
          <a:xfrm>
            <a:off x="1965960" y="3264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memória</a:t>
            </a:r>
            <a:endParaRPr lang="pt-BR" sz="1700" dirty="0"/>
          </a:p>
        </p:txBody>
      </p:sp>
      <p:sp>
        <p:nvSpPr>
          <p:cNvPr id="35" name="Text 35"/>
          <p:cNvSpPr txBox="1"/>
          <p:nvPr/>
        </p:nvSpPr>
        <p:spPr>
          <a:xfrm>
            <a:off x="3977640" y="32644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dirty="0">
                <a:solidFill>
                  <a:schemeClr val="bg1"/>
                </a:solidFill>
              </a:rPr>
              <a:t>MLE é heurística, sem cgroups</a:t>
            </a:r>
            <a:endParaRPr lang="pt-BR" sz="1800" dirty="0"/>
          </a:p>
        </p:txBody>
      </p:sp>
      <p:sp>
        <p:nvSpPr>
          <p:cNvPr id="36" name="Shape 36"/>
          <p:cNvSpPr/>
          <p:nvPr/>
        </p:nvSpPr>
        <p:spPr>
          <a:xfrm>
            <a:off x="1188720" y="4050792"/>
            <a:ext cx="9784080" cy="6400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Shape 37"/>
          <p:cNvSpPr/>
          <p:nvPr/>
        </p:nvSpPr>
        <p:spPr>
          <a:xfrm>
            <a:off x="1325880" y="4169664"/>
            <a:ext cx="402336" cy="402336"/>
          </a:xfrm>
          <a:prstGeom prst="ellipse">
            <a:avLst/>
          </a:prstGeom>
          <a:solidFill>
            <a:srgbClr val="BC4C00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132588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</a:rPr>
              <a:t>!</a:t>
            </a:r>
            <a:endParaRPr lang="pt-BR" sz="1600" dirty="0"/>
          </a:p>
        </p:txBody>
      </p:sp>
      <p:sp>
        <p:nvSpPr>
          <p:cNvPr id="39" name="Text 39"/>
          <p:cNvSpPr txBox="1"/>
          <p:nvPr/>
        </p:nvSpPr>
        <p:spPr>
          <a:xfrm>
            <a:off x="1965960" y="40507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restrições</a:t>
            </a:r>
            <a:endParaRPr lang="pt-BR" sz="1700" dirty="0"/>
          </a:p>
        </p:txBody>
      </p:sp>
      <p:sp>
        <p:nvSpPr>
          <p:cNvPr id="40" name="Text 40"/>
          <p:cNvSpPr txBox="1"/>
          <p:nvPr/>
        </p:nvSpPr>
        <p:spPr>
          <a:xfrm>
            <a:off x="3977640" y="40507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dirty="0">
                <a:solidFill>
                  <a:schemeClr val="bg1"/>
                </a:solidFill>
              </a:rPr>
              <a:t>leem texto, não a árvore do código</a:t>
            </a:r>
            <a:endParaRPr lang="pt-BR" sz="1800" dirty="0"/>
          </a:p>
        </p:txBody>
      </p:sp>
      <p:sp>
        <p:nvSpPr>
          <p:cNvPr id="41" name="Shape 41"/>
          <p:cNvSpPr/>
          <p:nvPr/>
        </p:nvSpPr>
        <p:spPr>
          <a:xfrm>
            <a:off x="1188720" y="4837176"/>
            <a:ext cx="9784080" cy="6400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Shape 42"/>
          <p:cNvSpPr/>
          <p:nvPr/>
        </p:nvSpPr>
        <p:spPr>
          <a:xfrm>
            <a:off x="1325880" y="4956048"/>
            <a:ext cx="402336" cy="402336"/>
          </a:xfrm>
          <a:prstGeom prst="ellipse">
            <a:avLst/>
          </a:prstGeom>
          <a:solidFill>
            <a:srgbClr val="BC4C00"/>
          </a:solidFill>
          <a:ln w="9525">
            <a:solidFill>
              <a:srgbClr val="BC4C00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132588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</a:rPr>
              <a:t>!</a:t>
            </a:r>
            <a:endParaRPr lang="pt-BR" sz="1600" dirty="0"/>
          </a:p>
        </p:txBody>
      </p:sp>
      <p:sp>
        <p:nvSpPr>
          <p:cNvPr id="44" name="Text 44"/>
          <p:cNvSpPr txBox="1"/>
          <p:nvPr/>
        </p:nvSpPr>
        <p:spPr>
          <a:xfrm>
            <a:off x="1965960" y="48371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plágio</a:t>
            </a:r>
            <a:endParaRPr lang="pt-BR" sz="1700" dirty="0"/>
          </a:p>
        </p:txBody>
      </p:sp>
      <p:sp>
        <p:nvSpPr>
          <p:cNvPr id="45" name="Text 45"/>
          <p:cNvSpPr txBox="1"/>
          <p:nvPr/>
        </p:nvSpPr>
        <p:spPr>
          <a:xfrm>
            <a:off x="3977640" y="4837176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dirty="0">
                <a:solidFill>
                  <a:schemeClr val="bg1"/>
                </a:solidFill>
              </a:rPr>
              <a:t>só na mesma linguagem; não pega IA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depois do teste em sala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112368" y="3108960"/>
            <a:ext cx="342900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112368" y="31089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detectar código de IA</a:t>
            </a:r>
            <a:endParaRPr lang="pt-BR" sz="1800" dirty="0"/>
          </a:p>
        </p:txBody>
      </p:sp>
      <p:sp>
        <p:nvSpPr>
          <p:cNvPr id="23" name="Shape 23"/>
          <p:cNvSpPr/>
          <p:nvPr/>
        </p:nvSpPr>
        <p:spPr>
          <a:xfrm>
            <a:off x="4861408" y="3108960"/>
            <a:ext cx="315468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4861408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 com cgroups</a:t>
            </a:r>
            <a:endParaRPr lang="pt-BR" sz="1800" dirty="0"/>
          </a:p>
        </p:txBody>
      </p:sp>
      <p:sp>
        <p:nvSpPr>
          <p:cNvPr id="25" name="Shape 25"/>
          <p:cNvSpPr/>
          <p:nvPr/>
        </p:nvSpPr>
        <p:spPr>
          <a:xfrm>
            <a:off x="8336128" y="3108960"/>
            <a:ext cx="274320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336128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multi-core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etapas, em ordem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2240280" y="2194560"/>
            <a:ext cx="822960" cy="82296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2240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tx1"/>
                </a:solidFill>
              </a:rPr>
              <a:t>1</a:t>
            </a:r>
            <a:endParaRPr lang="pt-BR" sz="2400" dirty="0"/>
          </a:p>
        </p:txBody>
      </p:sp>
      <p:sp>
        <p:nvSpPr>
          <p:cNvPr id="23" name="Text 23"/>
          <p:cNvSpPr txBox="1"/>
          <p:nvPr/>
        </p:nvSpPr>
        <p:spPr>
          <a:xfrm>
            <a:off x="12801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Teste em sala</a:t>
            </a:r>
            <a:endParaRPr lang="pt-BR" sz="2200" dirty="0"/>
          </a:p>
        </p:txBody>
      </p:sp>
      <p:sp>
        <p:nvSpPr>
          <p:cNvPr id="24" name="Text 24"/>
          <p:cNvSpPr txBox="1"/>
          <p:nvPr/>
        </p:nvSpPr>
        <p:spPr>
          <a:xfrm>
            <a:off x="12801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29/10</a:t>
            </a:r>
            <a:endParaRPr lang="pt-BR" sz="1600" dirty="0"/>
          </a:p>
        </p:txBody>
      </p:sp>
      <p:cxnSp>
        <p:nvCxnSpPr>
          <p:cNvPr id="25" name="Arrow 25"/>
          <p:cNvCxnSpPr/>
          <p:nvPr/>
        </p:nvCxnSpPr>
        <p:spPr>
          <a:xfrm>
            <a:off x="3154680" y="2606040"/>
            <a:ext cx="2606040" cy="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5852160" y="2194560"/>
            <a:ext cx="822960" cy="82296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58521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tx1"/>
                </a:solidFill>
              </a:rPr>
              <a:t>2</a:t>
            </a:r>
            <a:endParaRPr lang="pt-BR" sz="2400" dirty="0"/>
          </a:p>
        </p:txBody>
      </p:sp>
      <p:sp>
        <p:nvSpPr>
          <p:cNvPr id="28" name="Text 28"/>
          <p:cNvSpPr txBox="1"/>
          <p:nvPr/>
        </p:nvSpPr>
        <p:spPr>
          <a:xfrm>
            <a:off x="489204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Análise</a:t>
            </a:r>
            <a:endParaRPr lang="pt-BR" sz="2200" dirty="0"/>
          </a:p>
        </p:txBody>
      </p:sp>
      <p:cxnSp>
        <p:nvCxnSpPr>
          <p:cNvPr id="29" name="Arrow 29"/>
          <p:cNvCxnSpPr/>
          <p:nvPr/>
        </p:nvCxnSpPr>
        <p:spPr>
          <a:xfrm>
            <a:off x="6766560" y="2606040"/>
            <a:ext cx="2606040" cy="0"/>
          </a:xfrm>
          <a:prstGeom prst="line">
            <a:avLst/>
          </a:prstGeom>
          <a:ln w="19050">
            <a:solidFill>
              <a:schemeClr val="bg2"/>
            </a:solidFill>
            <a:prstDash val="solid"/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9464040" y="2194560"/>
            <a:ext cx="822960" cy="82296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946404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tx1"/>
                </a:solidFill>
              </a:rPr>
              <a:t>3</a:t>
            </a:r>
            <a:endParaRPr lang="pt-BR" sz="2400" dirty="0"/>
          </a:p>
        </p:txBody>
      </p:sp>
      <p:sp>
        <p:nvSpPr>
          <p:cNvPr id="32" name="Text 32"/>
          <p:cNvSpPr txBox="1"/>
          <p:nvPr/>
        </p:nvSpPr>
        <p:spPr>
          <a:xfrm>
            <a:off x="850392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Defesa</a:t>
            </a:r>
            <a:endParaRPr lang="pt-B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01168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chemeClr val="accent1"/>
                </a:solidFill>
              </a:rPr>
              <a:t>Obrigado!</a:t>
            </a:r>
            <a:endParaRPr lang="pt-BR" sz="60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2"/>
                </a:solidFill>
              </a:rPr>
              <a:t>Perguntas?</a:t>
            </a:r>
            <a:endParaRPr lang="pt-BR" sz="2400" dirty="0"/>
          </a:p>
        </p:txBody>
      </p:sp>
      <p:sp>
        <p:nvSpPr>
          <p:cNvPr id="23" name="Text 23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Juan Israel dos Anjos · Orientadora: Suellen Mapa · IFMG Ouro Branco</a:t>
            </a:r>
            <a:endParaRPr lang="pt-B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yRunner">
  <a:themeElements>
    <a:clrScheme name="WhyRunner">
      <a:dk1>
        <a:srgbClr val="FFFFFF"/>
      </a:dk1>
      <a:lt1>
        <a:srgbClr val="1F2328"/>
      </a:lt1>
      <a:dk2>
        <a:srgbClr val="F6F8FA"/>
      </a:dk2>
      <a:lt2>
        <a:srgbClr val="59636E"/>
      </a:lt2>
      <a:accent1>
        <a:srgbClr val="1A7F37"/>
      </a:accent1>
      <a:accent2>
        <a:srgbClr val="9A6700"/>
      </a:accent2>
      <a:accent3>
        <a:srgbClr val="CF222E"/>
      </a:accent3>
      <a:accent4>
        <a:srgbClr val="8250DF"/>
      </a:accent4>
      <a:accent5>
        <a:srgbClr val="0969DA"/>
      </a:accent5>
      <a:accent6>
        <a:srgbClr val="D0D7DE"/>
      </a:accent6>
      <a:hlink>
        <a:srgbClr val="1A7F37"/>
      </a:hlink>
      <a:folHlink>
        <a:srgbClr val="8250DF"/>
      </a:folHlink>
    </a:clrScheme>
    <a:fontScheme name="WhyRun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WhyRunner — Apresentação Parcial TCC II</dc:title>
  <dc:subject>PptxGenJS Presentation</dc:subject>
  <dc:creator>Juan Israel dos Anjos</dc:creator>
  <cp:lastModifiedBy>Juan Israel dos Anjos</cp:lastModifiedBy>
  <cp:revision>1</cp:revision>
  <dcterms:created xsi:type="dcterms:W3CDTF">2026-10-15T22:08:06Z</dcterms:created>
  <dcterms:modified xsi:type="dcterms:W3CDTF">2026-10-15T22:08:06Z</dcterms:modified>
</cp:coreProperties>
</file>