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20"/>
    <p:sldId id="264" r:id="rId9"/>
    <p:sldId id="265" r:id="rId21"/>
    <p:sldId id="266" r:id="rId22"/>
    <p:sldId id="267" r:id="rId23"/>
    <p:sldId id="268" r:id="rId24"/>
    <p:sldId id="269" r:id="rId25"/>
    <p:sldId id="270" r:id="rId10"/>
    <p:sldId id="271" r:id="rId11"/>
    <p:sldId id="272" r:id="rId26"/>
    <p:sldId id="273" r:id="rId27"/>
    <p:sldId id="274" r:id="rId28"/>
    <p:sldId id="275" r:id="rId12"/>
    <p:sldId id="276" r:id="rId13"/>
    <p:sldId id="277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4ab60b7-2759-f0ca-8802-cf2776c57ed1}">
          <p14:sldIdLst>
            <p14:sldId id="256"/>
          </p14:sldIdLst>
        </p14:section>
        <p14:section name="Introdução" id="{eaac551f-4214-2913-b10b-ef1a0af77074}">
          <p14:sldIdLst>
            <p14:sldId id="257"/>
            <p14:sldId id="258"/>
          </p14:sldIdLst>
        </p14:section>
        <p14:section name="Trabalhos relacionados" id="{96d8f200-8e3f-2256-7803-618dec6fa8e6}">
          <p14:sldIdLst>
            <p14:sldId id="259"/>
          </p14:sldIdLst>
        </p14:section>
        <p14:section name="Metodologia" id="{0c10b5ba-a3bc-3664-b2a2-62a1239676ac}">
          <p14:sldIdLst>
            <p14:sldId id="260"/>
            <p14:sldId id="261"/>
            <p14:sldId id="262"/>
          </p14:sldIdLst>
        </p14:section>
        <p14:section name="Resultados" id="{6e54e262-8e6b-4997-f4ac-450b196d192d}">
          <p14:sldIdLst>
            <p14:sldId id="263"/>
            <p14:sldId id="264"/>
            <p14:sldId id="265"/>
          </p14:sldIdLst>
        </p14:section>
        <p14:section name="Discussão e cronograma" id="{20deca9a-0b7f-e2cd-946d-5c2692820231}">
          <p14:sldIdLst>
            <p14:sldId id="266"/>
            <p14:sldId id="267"/>
          </p14:sldIdLst>
        </p14:section>
        <p14:section name="Referências" id="{4ccfc0aa-a1d4-30a0-57c8-cb84e1396ea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 a todos. Meu nome é Juan Israel dos Anjos, sou orientado pela professora Suellen Mapa, e vou apresentar o andamento do meu TCC: o WhyRunner.
É um juiz online, um sistema que corrige código automaticamente, mas pensado para a sala de aula. A tela à direita já resume a ideia: em vez de só dizer que o código errou, a plataforma dá uma dica, e quem decide o quanto essa dica revela é 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Juízes online como o BOCA e o Run Codes recebem o código do aluno, executam contra casos de teste e devolvem um veredito: passou ou não passou. À esquerda está o que o aluno vê: "Wrong Answer", e nada mais. Isso funciona em maratona, que é para onde esses sistemas foram feitos.
A minha motivação é pessoal: passei anos competindo e usando esses sistemas como aluno.
O escopo, à direita: o WhyRunner faz torneios, turmas e aulas, execução isolada em seis linguagens, dicas de IA graduadas e restrições de solução. Fica de fora: plágio, avaliar estilo de código, e a IA não substitui a avaliação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problema: o aluno envia o código, recebe "Wrong Answer" e para por aí. Juízes foram feitos para competição, então o feedback é binário de propósito. Em sala de aula, um erro sem explicação não vira aprendizado. E o professor não consegue montar uma atividade nem exigir, por exemplo, que o aluno use Dijkstra e não força bruta.
Daí a pergunta de pesquisa: feedback por IA e atividades curadas pelo professor tornam um juiz online mais útil para o ensino?
O objetivo geral é desenvolver e avaliar esse juiz. Os específicos são os quatro cartões; o quarto, avaliar com usuários, ainda está em andamento.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Analisei quatro sistemas: Ataux, de 2021; o Gamma Online Judge, da UnB, de 2022; o Run Codes; e o BOCA, de 2004, usado na Maratona da SBC.
Nenhum deles dá feedback explicativo: todos corrigem, nenhum ensina. Alguns têm placar em tempo real, mas nenhum deixa o professor montar uma aula ou exigir um algoritmo.
O diferencial do WhyRunner está nas colunas de IA, aulas curadas, Portugol com blocos e restrições. Portugol com blocos é para quem nunca programou: o aluno encaixa blocos em português, eles viram Portugol e o código roda no judge como qualquer outra linguagem. E as restrições verificam como o aluno chegou na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metodologia foi iterativa: cada versão corrigiu problemas da anterior. Os requisitos vieram da literatura, de conversas com alunos e da minha experiência, e um primeiro MVP foi testado informalmente num servidor do Discord.
Cada linha mostra uma decisão. A fila passou por BullMQ e SQS e terminou no LISTEN/NOTIFY do próprio PostgreSQL. O backend saiu de uma API NestJS separada para Server Actions do Next.js. O banco saiu do Supabase para PostgreSQL com Drizzle. E o sandbox trocou um container Docker por submissão pelo isolate, o mesmo da Olimpíada Internacional de Informática, porque o Docker exigia rodar privilegiado.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arquitetura: dois serviços que só conversam pelo banco.
Seguindo os números: o aluno submete, seja num problema, num torneio ou numa aula. A Server Action do Next.js grava a submissão como PENDING e dispara um NOTIFY no PostgreSQL. O judge, escrito em Rust, recebe esse aviso e busca os casos de teste. O isolate compila e executa o código; o trecho embaixo é o código real que monta essa chamada, com limite de tempo, memória e processos. Se o problema tem restrições, o código passa por análise estática e depois pela IA. Por fim o veredito é gravado e o aluno é notificado.
A IA é chamada só pelo Next.js, nunca pelo judge, e passa por uma cadeia de modelos: primeiro o Gemini 3.5 Flash; se ele falhar ou passar de 30 segundos, o Gemini 3.5 Flash-Lite; e por último o Claude Haiku 5.5, quando a chave da Anthropic está configurada.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técnica é do judge, separado do site: são 29 testes automatizados. A maior parte cobre as restrições estruturais, incluindo casos que não podem disparar. Os outros cobrem correção, compilação e tempo, a leitura dos metadados do isolate, ataques como fork bomb, laço infinito e estouro de memória, e um programa rodando em cada linguagem.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resultado é que o aluno pode submeter em três lugares, cada um com um propósito.
O problema avulso é o treino livre: o banco de problemas, onde o aluno resolve no próprio ritmo. Ali ele recebe o veredito e os casos de exemplo, sem IA.
O torneio é para competir ou avaliar com tempo marcado: placar ao vivo, penalidade por tentativa errada. O professor escolhe os problemas, o período, se é privado e, como vou mostrar no próximo slide, o quanto a IA pode ajudar.
A aula é para aprender em sequência: o professor monta a lista de exercícios, define prazo, e cada resposta tem nota e comentário. Ali a IA dá uma dica explicativa, e o exercício pode ser em código, em blocos ou no formato Parsons, onde o aluno só ordena linhas prontas.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do torneio, a IA é ajustável. Em cima à esquerda está a configuração: o professor escolhe entre Desligada, Conceito, Dica e Precisa. Conceito só aponta a área do erro, por exemplo "laço for mal implementado". Dica explica o erro de lógica sem mostrar código. Precisa aponta a linha exata.
Embaixo, um exemplo real deste torneio, que está no nível Dica: o aluno pediu ajuda e recebeu primeiro o conceito, "uso incorreto dos limites da função range", depois a dica. A IA não reescreveu o código. O aluno libera um nível de cada vez, e o servidor recusa qualquer pedido acima do limite.
E por que isso é diferente de perguntar a outra IA? A IA da plataforma vê o código do aluno e o teste que falhou, então a dica é sobre o erro dele. Ela é instruída a não dar a correção, quem define o nível é o professor, tem limite de uso e, no modo blocos, fala em blocos. Um chatbot externo recebe só o que o aluno colar e normalmente devolve a solução pronta, sem controle nenhum.
Sendo honesto: a plataforma não impede o aluno de abrir outra IA. Por isso o professor tem as restrições de solução e as atividades em sala, que é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aula, o professor acompanha como o aluno resolveu, não só se acertou.
À esquerda, um caso real: o exercício pede para somar de 1 até N com no máximo um laço. O aluno chegou na saída certa, mas usou dois laços aninhados, e o judge marca violação de restrição. Também dá para proibir construções ou exigir um algoritmo, como Dijkstra; nesse caso a checagem é feita por IA.
No meio, a tela de revisão do professor depois do prazo: a nota vem dos testes, e o professor escreve um comentário por exercício. Repare que o segundo exercício foi respondido em blocos, que geram Portugol; o terceiro formato é o Parsons, em que o aluno só ordena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título resume a discussão: o sistema está pronto, falta provar que ensina.
Pontos fortes: não precisa de broker de mensagens, só PostgreSQL; isolamento no nível da IOI sem Docker privilegiado; tipagem de ponta a ponta; e IA sob demanda, com a entrada delimitada para reduzir prompt injection.
Limitações: a principal é que ainda não houve avaliação com alunos, então não posso afirmar impacto no aprendizado. A plataforma não impede consulta a IAs externas. A análise de laços é por texto, não por árvore sintática, e pode dar falso positivo, como um "for" dentro de uma string. E o sistema depende da API de IA e de Linux com cgroups para rodar o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próximas etapas, em ordem: atualizar o texto, preparar a avaliação, aplicar com a turma, analisar os dados, revisão final com a orientadora e a defesa. A etapa crítica é a três: sem ela não há resposta para a pergunta de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principais referências do trabalho. Obrigado pela atenção;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publicar um problema, o autor precisa provar que os casos de teste estão certos. Escolhe a linguagem, cola uma solução de referência ou pede para a IA gerar uma a partir da descrição e dos casos salvos, e manda validar: a solução roda no judge contra todos os casos. Se alguma saída não bate, o erro está no caso de teste. E se ele mudar qualquer teste depois, a publicação trava até validar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criação de problemas tem três ajudas de IA. A narrativa: um clique gera uma pequena história para contextualizar o enunciado. As tags: a IA sugere os temas, como laços ou matemática. E a revisão: a IA lê a descrição e os casos e sugere casos de borda que faltam, como n igual a 1 ou o valor máximo que estoura 32 bits; cada um entra nos testes com um clique. A pré-visualização mostra o problema como o aluno vai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banco de problemas tem busca por título ou código, filtro por dificuldade, por tags agrupadas e um filtro só com os meus problemas. Também dá para importar vários problemas de um arquivo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tela de resolver, aqui dentro de um torneio. O editor é o Monaco, o mesmo do VS Code, com destaque de sintaxe, e salva sozinho no navegador. Cada envio guarda o código, então o aluno sabe qual versão deu qual veredito e pode copiar. No caso que falhou ele vê a entrada, a própria saída e a esperada, e o botão Explicar pede uma dica à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Criar um torneio é preencher nome, datas, se ele é privado e quanto a IA pode ajudar. No privado, o aluno pede para entrar e o professor aprova. Os problemas são buscados pelo código e viram A, B, C 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placar segue o estilo das maratonas: em cada célula, o número de tentativas e o minuto em que resolveu; a estrela marca quem resolveu primeiro. Empates são desfeitos pela penalidade: soma dos minutos mais 20 por tentativa errada. E atualiza sozinho durante o torneio.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de código, a aula aceita dois formatos para iniciantes. Blocos, no estilo Scratch: a resposta vira Portugol e roda no judge. E Parsons: as linhas certas, embaralhadas, para ordenar e indentar. Para entrar na turma, o aluno digita um código de seis letras.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avaliação formal, fiz um teste informal com cinco colegas no meu servidor do Discord. Três reclamações viraram mudanças no sistema: o torneio não mostrava o código de cada tentativa, o placar só mostrava medalhas, e o erro de importar JSON não dizia nada. Do lado bom, gostaram do visual e do nome: o Why lido como o uai mineiro, que é justamente a ideia de explicar por que o código falhou. Mas é um teste pequeno, de colegas, sem professor: não substitui a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avaliação de verdade ainda não foi aplicada. O plano: um torneio e uma aula com uma turma real, o questionário SUS com os alunos, a visão do professor sobre criar a aula e o torneio, revisar os envios e dosar a IA, e uma análise descritiva dos dados do próprio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WhyRunner · TCC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10" Type="http://schemas.openxmlformats.org/officeDocument/2006/relationships/image" Target="../media/v3-validacao-aprovada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10" Type="http://schemas.openxmlformats.org/officeDocument/2006/relationships/image" Target="../media/v3-ia-narrativa-tags.png"/><Relationship Id="rId11" Type="http://schemas.openxmlformats.org/officeDocument/2006/relationships/image" Target="../media/v3-ia-revisao-topo.png"/><Relationship Id="rId12" Type="http://schemas.openxmlformats.org/officeDocument/2006/relationships/image" Target="../media/v3-previsualizacao-topo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10" Type="http://schemas.openxmlformats.org/officeDocument/2006/relationships/image" Target="../media/v3-lista-problemas-filtros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10" Type="http://schemas.openxmlformats.org/officeDocument/2006/relationships/image" Target="../media/v3-torneio-editor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10" Type="http://schemas.openxmlformats.org/officeDocument/2006/relationships/image" Target="../media/v3-torneio-configuracao.png"/><Relationship Id="rId11" Type="http://schemas.openxmlformats.org/officeDocument/2006/relationships/image" Target="../media/v3-torneio-busca-codigo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10" Type="http://schemas.openxmlformats.org/officeDocument/2006/relationships/image" Target="../media/v3-placar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10" Type="http://schemas.openxmlformats.org/officeDocument/2006/relationships/image" Target="../media/v3-formato-blocos.png"/><Relationship Id="rId11" Type="http://schemas.openxmlformats.org/officeDocument/2006/relationships/image" Target="../media/v3-formato-parsons.png"/><Relationship Id="rId12" Type="http://schemas.openxmlformats.org/officeDocument/2006/relationships/image" Target="../media/v3-turma-codigo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./whyrunner --tcc-ii --parcial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WhyRunner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Juiz online para o ensino de programação, com dicas de IA que o professor controla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Juan Israel dos Anjos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Orientadora: Suellen Mapa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Bacharelado em Sistemas de Informação · IFMG Ouro Branco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TCC II · Apresentação parcial · 16/10/2026</a:t>
            </a:r>
            <a:endParaRPr lang="en-US" sz="1500" dirty="0"/>
          </a:p>
        </p:txBody>
      </p:sp>
      <p:sp>
        <p:nvSpPr>
          <p:cNvPr id="6" name="frame-ai-ladder"/>
          <p:cNvSpPr/>
          <p:nvPr/>
        </p:nvSpPr>
        <p:spPr>
          <a:xfrm>
            <a:off x="7050024" y="1243584"/>
            <a:ext cx="4553712" cy="413366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shot-ai-ladder" descr="ai-lad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280160"/>
            <a:ext cx="4480560" cy="40605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55235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Dica da IA em dois níveis, dentro de um torneio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Juízes online corrigem código. Ensinar é outra coisa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Juiz online tradicional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Wrong Answer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teste 3 de 10  ·  sem explicação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BOCA, Run Codes: veredito binário, pensado para competição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Motivação: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anos de maratona de programação usando esses sistemas como aluno.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Escopo do TCC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468880"/>
            <a:ext cx="1197864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468880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Torneios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44384" y="2468880"/>
            <a:ext cx="185623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44384" y="246888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Turmas e aulas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372160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88036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Execução isolada · 6 linguagens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262432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29184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Dicas de IA graduadas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70848" y="3291840"/>
            <a:ext cx="262432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329184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Restrições de solução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FAZ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206240"/>
            <a:ext cx="2295144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4206240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Detecção de plágio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41664" y="4206240"/>
            <a:ext cx="295351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41664" y="420624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Avaliar estilo de código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617720"/>
            <a:ext cx="41605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46177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Substituir a avaliação do professor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PROBLEMA E OBJETIVOS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recebe "Wrong Answer" e para por aí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Problema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Juízes priorizam justiça e velocidade. O feedback é um veredito binário.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Erro sem explicação não vira aprendizado. E o professor não consegue montar atividades nem exigir uma abordagem.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57784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DE PESQUISA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1945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Feedback por IA e atividades curadas pelo professor tornam um juiz online mais útil para o ensino?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Objetivo geral: desenvolver e avaliar um juiz online voltado ao ensino de programação.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19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6460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Executar código com segurança em várias linguagens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55848" y="47548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38728" y="4919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38728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486460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Dar dicas por IA sem entregar a solução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63056" y="47548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4919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45936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486460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Deixar o professor montar aulas e exigir algoritmos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70264" y="47548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3144" y="49194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53144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56064" y="486460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Avaliar a usabilidade com alunos e professor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64040" y="6108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● em andamento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TRABALHOS RELACIONADOS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dos sistemas analisados ensina, só corrige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Sistema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Feedback IA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Linguagens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Tempo real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Aulas curadas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Restrições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Portugol + blocos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Ataux (2021)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Limitadas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GOJ – UnB (2022)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Moderadas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Limitado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Run Codes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Muitas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BOCA (2004)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Moderadas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WhyRunner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Diferencial: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dicas por IA, aulas montadas pelo professor, Portugol com blocos e restrições de solução: verificar </a:t>
            </a:r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como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o aluno resolveu, não só se a saída está certa.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METODOLOGIA · ETAPAS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iterativos: cada versão corrigiu a anterior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TENTADO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ADOTADO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Fila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BullMQ → AWS SQS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659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PostgreSQL LISTEN/NOTIFY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1965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sem polling ocioso nem outro serviço pago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0720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API NestJS separada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80720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Next.js Server Actions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8072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tipos e autenticação não ficam duplicados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64845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Banco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6484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Supabase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64845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6484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PostgreSQL + Drizzle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64845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liberdade para lógica no servidor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489704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4897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Sandbox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48970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Docker por submissão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448970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48970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isolate (usado na IOI; MAREŠ; BLACKHAM, 2012)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549640" y="448970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Docker exigia host privilegiado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5760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4864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Levantamento: literatura + conversas com alunos + experiência própria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5486400"/>
            <a:ext cx="32918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5486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MVP testado informalmente no Discord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METODOLOGIA · 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serviços que só conversam pelo banco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Navegador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971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React · TanStack Query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2514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624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Next.js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Server Actions · better-auth · Zod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25146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971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Drizzle · LISTEN/NOTIFY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25146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Judge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971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Rust · tokio · sqlx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0" y="25146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2301F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0" y="26243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isolate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namespaces · cgroups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2971800"/>
            <a:ext cx="7772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46320" y="297180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03720" y="2971800"/>
            <a:ext cx="7772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81160" y="2971800"/>
            <a:ext cx="7772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8221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Aluno submete em problema, torneio ou aula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0" y="38221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81728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Server Action grava PENDING e dispara NOTIFY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8221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30768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Judge recebe e busca os casos de teste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279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isolate compila e executa com limites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297680" y="4279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9768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681728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Checa restrições: análise estática, depois IA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46720" y="4279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430768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Veredito gravado; aluno notificado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0F141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" y="49834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Command::new("isolate")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.arg(format!("--time={}", limits.time_secs))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.arg(format!("--mem={}", limits.mem_kb))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.arg(format!("--processes={}", limits.processes))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498080" y="4937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judge/src/isolate.rs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498080" y="5257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Caixa sem rede, com limite de tempo, memória e processos: o sandbox da IOI (MAREŠ; BLACKHAM, 2012).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498080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C++ · Java · Python · Rust · Portugol</a:t>
            </a:r>
            <a:endParaRPr lang="en-US" sz="1100" dirty="0"/>
          </a:p>
        </p:txBody>
      </p:sp>
      <p:sp>
        <p:nvSpPr>
          <p:cNvPr id="61" name="Shape 61"/>
          <p:cNvSpPr/>
          <p:nvPr/>
        </p:nvSpPr>
        <p:spPr>
          <a:xfrm>
            <a:off x="2926080" y="1481328"/>
            <a:ext cx="1920240" cy="603504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2" name="Text 62"/>
          <p:cNvSpPr txBox="1"/>
          <p:nvPr/>
        </p:nvSpPr>
        <p:spPr>
          <a:xfrm>
            <a:off x="29260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b="1" dirty="0">
                <a:solidFill>
                  <a:schemeClr val="accent4"/>
                </a:solidFill>
              </a:rPr>
              <a:t>Gemini 3.5 Flash</a:t>
            </a:r>
            <a:endParaRPr lang="pt-BR" sz="1200" dirty="0"/>
          </a:p>
        </p:txBody>
      </p:sp>
      <p:sp>
        <p:nvSpPr>
          <p:cNvPr id="63" name="Text 63"/>
          <p:cNvSpPr txBox="1"/>
          <p:nvPr/>
        </p:nvSpPr>
        <p:spPr>
          <a:xfrm>
            <a:off x="2926080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900" dirty="0">
                <a:solidFill>
                  <a:schemeClr val="bg2"/>
                </a:solidFill>
              </a:rPr>
              <a:t>principal</a:t>
            </a:r>
            <a:endParaRPr lang="pt-BR" sz="900" dirty="0"/>
          </a:p>
        </p:txBody>
      </p:sp>
      <p:sp>
        <p:nvSpPr>
          <p:cNvPr id="64" name="Shape 64"/>
          <p:cNvSpPr/>
          <p:nvPr/>
        </p:nvSpPr>
        <p:spPr>
          <a:xfrm>
            <a:off x="5440680" y="1481328"/>
            <a:ext cx="1920240" cy="603504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5" name="Text 65"/>
          <p:cNvSpPr txBox="1"/>
          <p:nvPr/>
        </p:nvSpPr>
        <p:spPr>
          <a:xfrm>
            <a:off x="54406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b="1" dirty="0">
                <a:solidFill>
                  <a:schemeClr val="accent4"/>
                </a:solidFill>
              </a:rPr>
              <a:t>Gemini 3.5 Flash-Lite</a:t>
            </a:r>
            <a:endParaRPr lang="pt-BR" sz="1200" dirty="0"/>
          </a:p>
        </p:txBody>
      </p:sp>
      <p:sp>
        <p:nvSpPr>
          <p:cNvPr id="66" name="Text 66"/>
          <p:cNvSpPr txBox="1"/>
          <p:nvPr/>
        </p:nvSpPr>
        <p:spPr>
          <a:xfrm>
            <a:off x="5440680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900" dirty="0">
                <a:solidFill>
                  <a:schemeClr val="bg2"/>
                </a:solidFill>
              </a:rPr>
              <a:t>fallback 1</a:t>
            </a:r>
            <a:endParaRPr lang="pt-BR" sz="900" dirty="0"/>
          </a:p>
        </p:txBody>
      </p:sp>
      <p:sp>
        <p:nvSpPr>
          <p:cNvPr id="67" name="Shape 67"/>
          <p:cNvSpPr/>
          <p:nvPr/>
        </p:nvSpPr>
        <p:spPr>
          <a:xfrm>
            <a:off x="7955280" y="1481328"/>
            <a:ext cx="1920240" cy="603504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68" name="Text 68"/>
          <p:cNvSpPr txBox="1"/>
          <p:nvPr/>
        </p:nvSpPr>
        <p:spPr>
          <a:xfrm>
            <a:off x="79552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b="1" dirty="0">
                <a:solidFill>
                  <a:schemeClr val="accent4"/>
                </a:solidFill>
              </a:rPr>
              <a:t>Claude Haiku 5.5</a:t>
            </a:r>
            <a:endParaRPr lang="pt-BR" sz="1200" dirty="0"/>
          </a:p>
        </p:txBody>
      </p:sp>
      <p:sp>
        <p:nvSpPr>
          <p:cNvPr id="69" name="Text 69"/>
          <p:cNvSpPr txBox="1"/>
          <p:nvPr/>
        </p:nvSpPr>
        <p:spPr>
          <a:xfrm>
            <a:off x="7955280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900" dirty="0">
                <a:solidFill>
                  <a:schemeClr val="bg2"/>
                </a:solidFill>
              </a:rPr>
              <a:t>fallback 2 · se ANTHROPIC_API_KEY</a:t>
            </a:r>
            <a:endParaRPr lang="pt-BR" sz="900" dirty="0"/>
          </a:p>
        </p:txBody>
      </p:sp>
      <p:cxnSp>
        <p:nvCxnSpPr>
          <p:cNvPr id="70" name="Arrow 70"/>
          <p:cNvCxnSpPr/>
          <p:nvPr/>
        </p:nvCxnSpPr>
        <p:spPr>
          <a:xfrm>
            <a:off x="4873752" y="1783080"/>
            <a:ext cx="539496" cy="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71" name="Text 71"/>
          <p:cNvSpPr txBox="1"/>
          <p:nvPr/>
        </p:nvSpPr>
        <p:spPr>
          <a:xfrm>
            <a:off x="4800600" y="1508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8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falhou</a:t>
            </a:r>
            <a:endParaRPr lang="pt-BR" sz="850" dirty="0"/>
          </a:p>
        </p:txBody>
      </p:sp>
      <p:cxnSp>
        <p:nvCxnSpPr>
          <p:cNvPr id="72" name="Arrow 72"/>
          <p:cNvCxnSpPr/>
          <p:nvPr/>
        </p:nvCxnSpPr>
        <p:spPr>
          <a:xfrm>
            <a:off x="7388352" y="1783080"/>
            <a:ext cx="539496" cy="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73" name="Text 73"/>
          <p:cNvSpPr txBox="1"/>
          <p:nvPr/>
        </p:nvSpPr>
        <p:spPr>
          <a:xfrm>
            <a:off x="7315200" y="1508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8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falhou</a:t>
            </a:r>
            <a:endParaRPr lang="pt-BR" sz="850" dirty="0"/>
          </a:p>
        </p:txBody>
      </p:sp>
      <p:cxnSp>
        <p:nvCxnSpPr>
          <p:cNvPr id="74" name="Arrow 74"/>
          <p:cNvCxnSpPr/>
          <p:nvPr/>
        </p:nvCxnSpPr>
        <p:spPr>
          <a:xfrm>
            <a:off x="3886200" y="2084832"/>
            <a:ext cx="0" cy="429768"/>
          </a:xfrm>
          <a:prstGeom prst="line">
            <a:avLst/>
          </a:prstGeom>
          <a:ln w="19050">
            <a:solidFill>
              <a:schemeClr val="accent4"/>
            </a:solidFill>
            <a:prstDash val="dash"/>
            <a:tailEnd type="triangle" w="med" len="med"/>
          </a:ln>
        </p:spPr>
      </p:cxnSp>
      <p:sp>
        <p:nvSpPr>
          <p:cNvPr id="75" name="Text 75"/>
          <p:cNvSpPr txBox="1"/>
          <p:nvPr/>
        </p:nvSpPr>
        <p:spPr>
          <a:xfrm>
            <a:off x="10012680" y="1463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00" dirty="0">
                <a:solidFill>
                  <a:schemeClr val="bg2"/>
                </a:solidFill>
              </a:rPr>
              <a:t>30 s por tentativa</a:t>
            </a:r>
            <a:endParaRPr lang="pt-BR" sz="900" dirty="0"/>
          </a:p>
          <a:p>
            <a:pPr indent="0" marL="0">
              <a:buNone/>
            </a:pPr>
            <a:r>
              <a:rPr lang="pt-BR" sz="900" dirty="0">
                <a:solidFill>
                  <a:schemeClr val="bg2"/>
                </a:solidFill>
              </a:rPr>
              <a:t>IA só no Next.js: dicas, solução, revisão, narrativa, tags, algoritmo</a:t>
            </a:r>
            <a:endParaRPr lang="pt-BR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METODOLOGIA · VALIDAÇÃO TÉCNICA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judge é testado sozinho, sem o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1296" cy="45262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Validação técnica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651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</a:rPr>
              <a:t>29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testes automatizados no judge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611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Restrições estruturais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831336"/>
            <a:ext cx="251460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64992" y="37673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41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Correção, compilação, tempo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261104"/>
            <a:ext cx="167640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26792" y="419709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471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Leitura do isolate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4690872"/>
            <a:ext cx="83820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88592" y="46268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901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Ataques (fork bomb, TLE, memória)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5120640"/>
            <a:ext cx="62865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79042" y="5056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330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Todas as linguagens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5550408"/>
            <a:ext cx="41910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69492" y="5486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2</a:t>
            </a:r>
            <a:endParaRPr lang="en-US" sz="1000" dirty="0"/>
          </a:p>
        </p:txBody>
      </p:sp>
      <p:sp>
        <p:nvSpPr>
          <p:cNvPr id="61" name="Shape 61"/>
          <p:cNvSpPr/>
          <p:nvPr/>
        </p:nvSpPr>
        <p:spPr>
          <a:xfrm>
            <a:off x="4325112" y="1600200"/>
            <a:ext cx="7287768" cy="77724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2" name="Text 62"/>
          <p:cNvSpPr txBox="1"/>
          <p:nvPr/>
        </p:nvSpPr>
        <p:spPr>
          <a:xfrm>
            <a:off x="4526280" y="1600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12</a:t>
            </a:r>
            <a:endParaRPr lang="pt-BR" sz="2200" dirty="0"/>
          </a:p>
        </p:txBody>
      </p:sp>
      <p:sp>
        <p:nvSpPr>
          <p:cNvPr id="63" name="Text 63"/>
          <p:cNvSpPr txBox="1"/>
          <p:nvPr/>
        </p:nvSpPr>
        <p:spPr>
          <a:xfrm>
            <a:off x="5120640" y="169164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bg1"/>
                </a:solidFill>
              </a:rPr>
              <a:t>Restrições estruturais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Laços aninhados e construções proibidas em cada linguagem, incluindo casos que não podem disparar (texto em strings).</a:t>
            </a:r>
            <a:endParaRPr lang="pt-BR" sz="1200" dirty="0"/>
          </a:p>
        </p:txBody>
      </p:sp>
      <p:sp>
        <p:nvSpPr>
          <p:cNvPr id="64" name="Shape 64"/>
          <p:cNvSpPr/>
          <p:nvPr/>
        </p:nvSpPr>
        <p:spPr>
          <a:xfrm>
            <a:off x="4325112" y="2505456"/>
            <a:ext cx="7287768" cy="77724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5" name="Text 65"/>
          <p:cNvSpPr txBox="1"/>
          <p:nvPr/>
        </p:nvSpPr>
        <p:spPr>
          <a:xfrm>
            <a:off x="4526280" y="250545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8</a:t>
            </a:r>
            <a:endParaRPr lang="pt-BR" sz="2200" dirty="0"/>
          </a:p>
        </p:txBody>
      </p:sp>
      <p:sp>
        <p:nvSpPr>
          <p:cNvPr id="66" name="Text 66"/>
          <p:cNvSpPr txBox="1"/>
          <p:nvPr/>
        </p:nvSpPr>
        <p:spPr>
          <a:xfrm>
            <a:off x="5120640" y="2596896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bg1"/>
                </a:solidFill>
              </a:rPr>
              <a:t>Correção, compilação, tempo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Aceito, resposta errada, erro de compilação com a saída do compilador, limite de tempo do problema.</a:t>
            </a:r>
            <a:endParaRPr lang="pt-BR" sz="1200" dirty="0"/>
          </a:p>
        </p:txBody>
      </p:sp>
      <p:sp>
        <p:nvSpPr>
          <p:cNvPr id="67" name="Shape 67"/>
          <p:cNvSpPr/>
          <p:nvPr/>
        </p:nvSpPr>
        <p:spPr>
          <a:xfrm>
            <a:off x="4325112" y="3410712"/>
            <a:ext cx="7287768" cy="77724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8" name="Text 68"/>
          <p:cNvSpPr txBox="1"/>
          <p:nvPr/>
        </p:nvSpPr>
        <p:spPr>
          <a:xfrm>
            <a:off x="4526280" y="341071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4</a:t>
            </a:r>
            <a:endParaRPr lang="pt-BR" sz="2200" dirty="0"/>
          </a:p>
        </p:txBody>
      </p:sp>
      <p:sp>
        <p:nvSpPr>
          <p:cNvPr id="69" name="Text 69"/>
          <p:cNvSpPr txBox="1"/>
          <p:nvPr/>
        </p:nvSpPr>
        <p:spPr>
          <a:xfrm>
            <a:off x="5120640" y="3502152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bg1"/>
                </a:solidFill>
              </a:rPr>
              <a:t>Leitura do isolate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Interpretação do arquivo de metadados: tempo, memória, código de saída e sinal.</a:t>
            </a:r>
            <a:endParaRPr lang="pt-BR" sz="1200" dirty="0"/>
          </a:p>
        </p:txBody>
      </p:sp>
      <p:sp>
        <p:nvSpPr>
          <p:cNvPr id="70" name="Shape 70"/>
          <p:cNvSpPr/>
          <p:nvPr/>
        </p:nvSpPr>
        <p:spPr>
          <a:xfrm>
            <a:off x="4325112" y="4315968"/>
            <a:ext cx="7287768" cy="77724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1" name="Text 71"/>
          <p:cNvSpPr txBox="1"/>
          <p:nvPr/>
        </p:nvSpPr>
        <p:spPr>
          <a:xfrm>
            <a:off x="4526280" y="431596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3</a:t>
            </a:r>
            <a:endParaRPr lang="pt-BR" sz="2200" dirty="0"/>
          </a:p>
        </p:txBody>
      </p:sp>
      <p:sp>
        <p:nvSpPr>
          <p:cNvPr id="72" name="Text 72"/>
          <p:cNvSpPr txBox="1"/>
          <p:nvPr/>
        </p:nvSpPr>
        <p:spPr>
          <a:xfrm>
            <a:off x="5120640" y="440740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bg1"/>
                </a:solidFill>
              </a:rPr>
              <a:t>Ataques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Fork bomb, laço infinito e estouro de memória ficam contidos na caixa.</a:t>
            </a:r>
            <a:endParaRPr lang="pt-BR" sz="1200" dirty="0"/>
          </a:p>
        </p:txBody>
      </p:sp>
      <p:sp>
        <p:nvSpPr>
          <p:cNvPr id="73" name="Shape 73"/>
          <p:cNvSpPr/>
          <p:nvPr/>
        </p:nvSpPr>
        <p:spPr>
          <a:xfrm>
            <a:off x="4325112" y="5221224"/>
            <a:ext cx="7287768" cy="77724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4" name="Text 74"/>
          <p:cNvSpPr txBox="1"/>
          <p:nvPr/>
        </p:nvSpPr>
        <p:spPr>
          <a:xfrm>
            <a:off x="4526280" y="522122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2</a:t>
            </a:r>
            <a:endParaRPr lang="pt-BR" sz="2200" dirty="0"/>
          </a:p>
        </p:txBody>
      </p:sp>
      <p:sp>
        <p:nvSpPr>
          <p:cNvPr id="75" name="Text 75"/>
          <p:cNvSpPr txBox="1"/>
          <p:nvPr/>
        </p:nvSpPr>
        <p:spPr>
          <a:xfrm>
            <a:off x="5120640" y="5312664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bg1"/>
                </a:solidFill>
              </a:rPr>
              <a:t>Todas as linguagens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C, C++, Java, Python, Rust e Portugol compilam e passam num eco simples.</a:t>
            </a:r>
            <a:endParaRPr lang="pt-B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lugares para submeter, três propósitos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en-US" sz="1500" dirty="0"/>
          </a:p>
        </p:txBody>
      </p:sp>
      <p:sp>
        <p:nvSpPr>
          <p:cNvPr id="5" name="frame-banco"/>
          <p:cNvSpPr/>
          <p:nvPr/>
        </p:nvSpPr>
        <p:spPr>
          <a:xfrm>
            <a:off x="512064" y="1929384"/>
            <a:ext cx="3639312" cy="190195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6" name="shot-banco" descr="ban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3566160" cy="1828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Treino livre no banco de problemas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00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monta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Autor publica; aluno resolve no seu ritmo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Sem IA: veredito e casos de exemplo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en-US" sz="1500" dirty="0"/>
          </a:p>
        </p:txBody>
      </p:sp>
      <p:sp>
        <p:nvSpPr>
          <p:cNvPr id="11" name="frame-placar"/>
          <p:cNvSpPr/>
          <p:nvPr/>
        </p:nvSpPr>
        <p:spPr>
          <a:xfrm>
            <a:off x="4261104" y="1929384"/>
            <a:ext cx="3639312" cy="126187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12" name="shot-placar" descr="plac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65960"/>
            <a:ext cx="3566160" cy="11887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Competir ou avaliar com tempo marcado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4800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monta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Professor define problemas, período e acesso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IA no nível que o professor escolher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en-US" sz="1500" dirty="0"/>
          </a:p>
        </p:txBody>
      </p:sp>
      <p:sp>
        <p:nvSpPr>
          <p:cNvPr id="17" name="frame-aula"/>
          <p:cNvSpPr/>
          <p:nvPr/>
        </p:nvSpPr>
        <p:spPr>
          <a:xfrm>
            <a:off x="8010144" y="1929384"/>
            <a:ext cx="3639312" cy="135158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18" name="shot-aula" descr="au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65960"/>
            <a:ext cx="3566160" cy="12784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4672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Aprender em sequência, com prazo e nota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046720" y="4800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monta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Professor monta a aula e comenta cada resposta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04672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Dica livre · código, blocos ou Parsons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RESULTADOS · IA NO TORNEIO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decide quanto a IA ajuda</a:t>
            </a:r>
            <a:endParaRPr lang="en-US" sz="3000" dirty="0"/>
          </a:p>
        </p:txBody>
      </p:sp>
      <p:sp>
        <p:nvSpPr>
          <p:cNvPr id="4" name="frame-ai-config"/>
          <p:cNvSpPr/>
          <p:nvPr/>
        </p:nvSpPr>
        <p:spPr>
          <a:xfrm>
            <a:off x="512064" y="1563624"/>
            <a:ext cx="5650992" cy="111899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5" name="shot-ai-config" descr="ai-conf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577840" cy="10458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55773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Configuração do torneio: Desligada → Conceito → Dica → Precisa</a:t>
            </a:r>
            <a:endParaRPr lang="en-US" sz="1100" dirty="0"/>
          </a:p>
        </p:txBody>
      </p:sp>
      <p:sp>
        <p:nvSpPr>
          <p:cNvPr id="7" name="frame-ai-ladder"/>
          <p:cNvSpPr/>
          <p:nvPr/>
        </p:nvSpPr>
        <p:spPr>
          <a:xfrm>
            <a:off x="512064" y="3209544"/>
            <a:ext cx="3182112" cy="289064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8" name="shot-ai-ladder" descr="ai-lad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3108960" cy="2817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3337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 aluno libera um nível por vez.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 servidor recusa qualquer pedido acima do limite do torneio, e uma mudança do professor vale já no próximo pedido.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DO WHYRUNNER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 EXTERNO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92240" y="1965960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29400" y="19659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Vê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código do aluno + teste que falhou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o que o aluno colar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92240" y="2715768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629400" y="271576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Devolve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818120" y="2715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dica, sem a correção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0104120" y="2715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solução pronta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92240" y="3465576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29400" y="346557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Controle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818120" y="34655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professor, por torneio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0104120" y="346557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nenhum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92240" y="4215384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629400" y="421538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Limite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7818120" y="42153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 pedidos / 10 min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0104120" y="42153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ilimitado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92240" y="4965192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29400" y="49651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Formato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7818120" y="4965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fala em blocos e linhas no modo visual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10104120" y="49651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sempre código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6492240" y="5760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O aluno ainda pode abrir outra IA. Por isso o professor também tem restrições de solução e atividades em sala.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RESULTADOS · AULA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vê como o aluno resolveu, não só se acertou</a:t>
            </a:r>
            <a:endParaRPr lang="en-US" sz="3000" dirty="0"/>
          </a:p>
        </p:txBody>
      </p:sp>
      <p:sp>
        <p:nvSpPr>
          <p:cNvPr id="4" name="frame-violacao"/>
          <p:cNvSpPr/>
          <p:nvPr/>
        </p:nvSpPr>
        <p:spPr>
          <a:xfrm>
            <a:off x="512064" y="1563624"/>
            <a:ext cx="3639312" cy="3567989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5" name="shot-violacao" descr="violac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566160" cy="34948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3219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Saída correta, mas viola "no máximo 1 laço"</a:t>
            </a:r>
            <a:endParaRPr lang="en-US" sz="1100" dirty="0"/>
          </a:p>
        </p:txBody>
      </p:sp>
      <p:sp>
        <p:nvSpPr>
          <p:cNvPr id="7" name="frame-review"/>
          <p:cNvSpPr/>
          <p:nvPr/>
        </p:nvSpPr>
        <p:spPr>
          <a:xfrm>
            <a:off x="4398264" y="1563624"/>
            <a:ext cx="4965192" cy="341291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8" name="shot-review" descr="re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00200"/>
            <a:ext cx="4892040" cy="33397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34840" y="507711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Revisão do professor: nota pelos testes + comentário; resposta em blocos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9601200" y="1645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Restrições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limite de laços aninhados, construções proibidas ou "deve usar Dijkstra" (checado por IA)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9601200" y="30175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Formatos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código, blocos (gera Portugol) ou Parsons (ordenar linhas)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0" y="43891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Revisão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após o prazo, nota automática e comentário do professor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está pronto; falta provar que ensina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 FORTES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042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Sem broker de mensagens: só PostgreSQL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6440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06324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Isolamento no nível da IOI (MAREŠ; BLACKHAM, 2012), sem Docker privilegiado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2245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02336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Tipagem de ponta a ponta (Drizzle + Zod)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846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9834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IA sob demanda, com entrada delimitada contra prompt injection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600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LIMITAÇÕES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10312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30428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10312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Ainda sem avaliação com alunos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306324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326440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06324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Não impede consulta a IAs externas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402336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22452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02336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Análise de laços por texto, não por AST: falso positivo em strings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63640" y="498348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18464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6520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9834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Depende da API de IA (custo e limites) e de Linux com cgroups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· CRONOGRAMA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etapas, em ordem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Atualizar o texto: isolate, 6 linguagens, avaliação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Preparar avaliação: problemas, aula e questionário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Aplicar com uma turma: torneio + aula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Analisar os dados e escrever os resultados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953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Revisão final com a orientadora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424160" y="27889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241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Defesa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92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Etapa crítica: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aplicar com a turma (3). Sem ela não há resposta para a pergunta de pesquisa; as etapas 4 e 5 dependem dela.</a:t>
            </a:r>
            <a:endParaRPr lang="en-US" sz="1500" dirty="0"/>
          </a:p>
        </p:txBody>
      </p:sp>
      <p:cxnSp>
        <p:nvCxnSpPr>
          <p:cNvPr id="61" name="Arrow 61"/>
          <p:cNvCxnSpPr/>
          <p:nvPr/>
        </p:nvCxnSpPr>
        <p:spPr>
          <a:xfrm>
            <a:off x="1810512" y="3017520"/>
            <a:ext cx="1225296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cxnSp>
        <p:nvCxnSpPr>
          <p:cNvPr id="62" name="Arrow 62"/>
          <p:cNvCxnSpPr/>
          <p:nvPr/>
        </p:nvCxnSpPr>
        <p:spPr>
          <a:xfrm>
            <a:off x="3639312" y="3017520"/>
            <a:ext cx="1225296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cxnSp>
        <p:nvCxnSpPr>
          <p:cNvPr id="63" name="Arrow 63"/>
          <p:cNvCxnSpPr/>
          <p:nvPr/>
        </p:nvCxnSpPr>
        <p:spPr>
          <a:xfrm>
            <a:off x="5468112" y="3017520"/>
            <a:ext cx="1225296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cxnSp>
        <p:nvCxnSpPr>
          <p:cNvPr id="64" name="Arrow 64"/>
          <p:cNvCxnSpPr/>
          <p:nvPr/>
        </p:nvCxnSpPr>
        <p:spPr>
          <a:xfrm>
            <a:off x="7296912" y="3017520"/>
            <a:ext cx="1225296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cxnSp>
        <p:nvCxnSpPr>
          <p:cNvPr id="65" name="Arrow 65"/>
          <p:cNvCxnSpPr/>
          <p:nvPr/>
        </p:nvCxnSpPr>
        <p:spPr>
          <a:xfrm>
            <a:off x="9125712" y="3017520"/>
            <a:ext cx="1225296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ANTHROPIC. Claude Haiku 5.5. 2026. Disponível em: https://www.anthropic.com/claude.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BROOKE, J. SUS: a quick and dirty usability scale. Usability Evaluation in Industry, 1996.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CAMPOS, C. P.; FERREIRA, C. E. BOCA: um sistema de apoio a competições de programação. WEI, 2004.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CARNEIRO, M. F. Sistema web para auxílio no treinamento para maratonas de programação. UTFPR, 2012.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DRIZZLE TEAM. Drizzle ORM: TypeScript ORM for SQL.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GEMINI TEAM, GOOGLE. Gemini: a family of highly capable multimodal models. 2023.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LIMA, G. M. Gamma Online Judge: plataforma para as questões das maratonas UnB de programação. 2022.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MAREŠ, M.; BLACKHAM, B. A new contest sandbox. Olympiads in Informatics, v. 6, 2012.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MATSAKIS, N. D.; KLOCK, F. S. The Rust language. ACM SIGAda Ada Letters, 2014.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MERKEL, D. Docker: lightweight Linux containers for consistent development and deployment. Linux Journal, 2014.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RUN CODES. Run Codes: plataforma de programação online.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SILVA, J. T. S. et al. Ataux: uma ferramenta para auxiliar o acompanhamento de submissões de questões de programação. 2021.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STONEBRAKER, M.; ROWE, L. A. The design of POSTGRES. ACM SIGMOD, 1986.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VERCEL INC. Next.js: the React framework for the web. 2024.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METODOLOGIA · VALIDAÇÃO DOS PROBLEMAS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problema é publicado sem uma solução que passa</a:t>
            </a:r>
            <a:endParaRPr lang="en-US" sz="3000" dirty="0"/>
          </a:p>
        </p:txBody>
      </p:sp>
      <p:sp>
        <p:nvSpPr>
          <p:cNvPr id="21" name="frame-validacao-aprovada.png"/>
          <p:cNvSpPr/>
          <p:nvPr/>
        </p:nvSpPr>
        <p:spPr>
          <a:xfrm>
            <a:off x="512064" y="1563624"/>
            <a:ext cx="6382512" cy="293501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shot-validacao-aprovada.png" descr="Solução de referência gerada pela IA, aprovada contra todos os casos de test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600200"/>
            <a:ext cx="6309360" cy="2861864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45717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Solução de referência gerada pela IA, aprovada contra todos os casos de teste</a:t>
            </a:r>
            <a:endParaRPr lang="pt-BR" sz="1100" dirty="0"/>
          </a:p>
        </p:txBody>
      </p:sp>
      <p:sp>
        <p:nvSpPr>
          <p:cNvPr id="24" name="Shape 24"/>
          <p:cNvSpPr/>
          <p:nvPr/>
        </p:nvSpPr>
        <p:spPr>
          <a:xfrm>
            <a:off x="7269480" y="1645920"/>
            <a:ext cx="292608" cy="29260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726948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Text 26"/>
          <p:cNvSpPr txBox="1"/>
          <p:nvPr/>
        </p:nvSpPr>
        <p:spPr>
          <a:xfrm>
            <a:off x="7726680" y="162763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bg1"/>
                </a:solidFill>
              </a:rPr>
              <a:t>Escolhe a linguagem</a:t>
            </a:r>
            <a:endParaRPr lang="pt-BR" sz="1250" dirty="0"/>
          </a:p>
          <a:p>
            <a:pPr indent="0" marL="0">
              <a:buNone/>
            </a:pPr>
            <a:r>
              <a:rPr lang="pt-BR" sz="1250" dirty="0">
                <a:solidFill>
                  <a:schemeClr val="bg1"/>
                </a:solidFill>
              </a:rPr>
              <a:t>Qualquer uma das 6 que o judge executa.</a:t>
            </a:r>
            <a:endParaRPr lang="pt-BR" sz="1250" dirty="0"/>
          </a:p>
        </p:txBody>
      </p:sp>
      <p:sp>
        <p:nvSpPr>
          <p:cNvPr id="27" name="Shape 27"/>
          <p:cNvSpPr/>
          <p:nvPr/>
        </p:nvSpPr>
        <p:spPr>
          <a:xfrm>
            <a:off x="7269480" y="2670048"/>
            <a:ext cx="292608" cy="29260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726948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2</a:t>
            </a:r>
            <a:endParaRPr lang="pt-BR" sz="1100" dirty="0"/>
          </a:p>
        </p:txBody>
      </p:sp>
      <p:sp>
        <p:nvSpPr>
          <p:cNvPr id="29" name="Text 29"/>
          <p:cNvSpPr txBox="1"/>
          <p:nvPr/>
        </p:nvSpPr>
        <p:spPr>
          <a:xfrm>
            <a:off x="7726680" y="26517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bg1"/>
                </a:solidFill>
              </a:rPr>
              <a:t>Gera com IA ou cola</a:t>
            </a:r>
            <a:endParaRPr lang="pt-BR" sz="1250" dirty="0"/>
          </a:p>
          <a:p>
            <a:pPr indent="0" marL="0">
              <a:buNone/>
            </a:pPr>
            <a:r>
              <a:rPr lang="pt-BR" sz="1250" dirty="0">
                <a:solidFill>
                  <a:schemeClr val="bg1"/>
                </a:solidFill>
              </a:rPr>
              <a:t>A IA escreve uma solução de referência a partir da descrição e dos casos salvos.</a:t>
            </a:r>
            <a:endParaRPr lang="pt-BR" sz="1250" dirty="0"/>
          </a:p>
        </p:txBody>
      </p:sp>
      <p:sp>
        <p:nvSpPr>
          <p:cNvPr id="30" name="Shape 30"/>
          <p:cNvSpPr/>
          <p:nvPr/>
        </p:nvSpPr>
        <p:spPr>
          <a:xfrm>
            <a:off x="7269480" y="3694176"/>
            <a:ext cx="292608" cy="29260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726948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3</a:t>
            </a:r>
            <a:endParaRPr lang="pt-BR" sz="1100" dirty="0"/>
          </a:p>
        </p:txBody>
      </p:sp>
      <p:sp>
        <p:nvSpPr>
          <p:cNvPr id="32" name="Text 32"/>
          <p:cNvSpPr txBox="1"/>
          <p:nvPr/>
        </p:nvSpPr>
        <p:spPr>
          <a:xfrm>
            <a:off x="7726680" y="36758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bg1"/>
                </a:solidFill>
              </a:rPr>
              <a:t>Valida no judge</a:t>
            </a:r>
            <a:endParaRPr lang="pt-BR" sz="1250" dirty="0"/>
          </a:p>
          <a:p>
            <a:pPr indent="0" marL="0">
              <a:buNone/>
            </a:pPr>
            <a:r>
              <a:rPr lang="pt-BR" sz="1250" dirty="0">
                <a:solidFill>
                  <a:schemeClr val="bg1"/>
                </a:solidFill>
              </a:rPr>
              <a:t>A solução roda contra todos os casos. Saída diferente = caso de teste errado.</a:t>
            </a:r>
            <a:endParaRPr lang="pt-BR" sz="1250" dirty="0"/>
          </a:p>
        </p:txBody>
      </p:sp>
      <p:sp>
        <p:nvSpPr>
          <p:cNvPr id="33" name="Shape 33"/>
          <p:cNvSpPr/>
          <p:nvPr/>
        </p:nvSpPr>
        <p:spPr>
          <a:xfrm>
            <a:off x="7269480" y="4718304"/>
            <a:ext cx="292608" cy="29260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726948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4</a:t>
            </a:r>
            <a:endParaRPr lang="pt-BR" sz="1100" dirty="0"/>
          </a:p>
        </p:txBody>
      </p:sp>
      <p:sp>
        <p:nvSpPr>
          <p:cNvPr id="35" name="Text 35"/>
          <p:cNvSpPr txBox="1"/>
          <p:nvPr/>
        </p:nvSpPr>
        <p:spPr>
          <a:xfrm>
            <a:off x="7726680" y="470001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bg1"/>
                </a:solidFill>
              </a:rPr>
              <a:t>Publicação travada</a:t>
            </a:r>
            <a:endParaRPr lang="pt-BR" sz="1250" dirty="0"/>
          </a:p>
          <a:p>
            <a:pPr indent="0" marL="0">
              <a:buNone/>
            </a:pPr>
            <a:r>
              <a:rPr lang="pt-BR" sz="1250" dirty="0">
                <a:solidFill>
                  <a:schemeClr val="bg1"/>
                </a:solidFill>
              </a:rPr>
              <a:t>Mudou um teste? É preciso validar de novo antes de publicar.</a:t>
            </a:r>
            <a:endParaRPr lang="pt-B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RESULTADOS · CRIAÇÃO DE PROBLEMAS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ajuda o professor a escrever o problema</a:t>
            </a:r>
            <a:endParaRPr lang="en-US" sz="3000" dirty="0"/>
          </a:p>
        </p:txBody>
      </p:sp>
      <p:sp>
        <p:nvSpPr>
          <p:cNvPr id="21" name="frame-ia-narrativa-tags.png"/>
          <p:cNvSpPr/>
          <p:nvPr/>
        </p:nvSpPr>
        <p:spPr>
          <a:xfrm>
            <a:off x="512064" y="1536192"/>
            <a:ext cx="5559552" cy="2946065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shot-ia-narrativa-tags.png" descr="Narrativa e tags geradas pela I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572768"/>
            <a:ext cx="5486400" cy="2872913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455540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Narrativa e tags geradas pela IA</a:t>
            </a:r>
            <a:endParaRPr lang="pt-BR" sz="1100" dirty="0"/>
          </a:p>
        </p:txBody>
      </p:sp>
      <p:sp>
        <p:nvSpPr>
          <p:cNvPr id="24" name="frame-ia-revisao-topo.png"/>
          <p:cNvSpPr/>
          <p:nvPr/>
        </p:nvSpPr>
        <p:spPr>
          <a:xfrm>
            <a:off x="6318504" y="1536192"/>
            <a:ext cx="5330952" cy="203753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5" name="shot-ia-revisao-topo.png" descr="Revisão com IA: casos de borda que falta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1572768"/>
            <a:ext cx="5257800" cy="1964385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6355080" y="3646881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Revisão com IA: casos de borda que faltam</a:t>
            </a:r>
            <a:endParaRPr lang="pt-BR" sz="1100" dirty="0"/>
          </a:p>
        </p:txBody>
      </p:sp>
      <p:sp>
        <p:nvSpPr>
          <p:cNvPr id="27" name="frame-previsualizacao-topo.png"/>
          <p:cNvSpPr/>
          <p:nvPr/>
        </p:nvSpPr>
        <p:spPr>
          <a:xfrm>
            <a:off x="6318504" y="3968496"/>
            <a:ext cx="5330952" cy="2221698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8" name="shot-previsualizacao-topo.png" descr="previsualizacao-top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4005072"/>
            <a:ext cx="5257800" cy="2148546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548640" y="48463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accent1"/>
                </a:solidFill>
              </a:rPr>
              <a:t xml:space="preserve">Narrativa: </a:t>
            </a:r>
            <a:r>
              <a:rPr lang="pt-BR" sz="1250" dirty="0">
                <a:solidFill>
                  <a:schemeClr val="bg1"/>
                </a:solidFill>
              </a:rPr>
              <a:t>um clique gera uma história para o enunciado.</a:t>
            </a:r>
            <a:endParaRPr lang="pt-BR" sz="1250" dirty="0"/>
          </a:p>
        </p:txBody>
      </p:sp>
      <p:sp>
        <p:nvSpPr>
          <p:cNvPr id="30" name="Text 30"/>
          <p:cNvSpPr txBox="1"/>
          <p:nvPr/>
        </p:nvSpPr>
        <p:spPr>
          <a:xfrm>
            <a:off x="548640" y="51937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accent1"/>
                </a:solidFill>
              </a:rPr>
              <a:t xml:space="preserve">Tags: </a:t>
            </a:r>
            <a:r>
              <a:rPr lang="pt-BR" sz="1250" dirty="0">
                <a:solidFill>
                  <a:schemeClr val="bg1"/>
                </a:solidFill>
              </a:rPr>
              <a:t>a IA sugere os temas do problema.</a:t>
            </a:r>
            <a:endParaRPr lang="pt-BR" sz="1250" dirty="0"/>
          </a:p>
        </p:txBody>
      </p:sp>
      <p:sp>
        <p:nvSpPr>
          <p:cNvPr id="31" name="Text 31"/>
          <p:cNvSpPr txBox="1"/>
          <p:nvPr/>
        </p:nvSpPr>
        <p:spPr>
          <a:xfrm>
            <a:off x="548640" y="55412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accent1"/>
                </a:solidFill>
              </a:rPr>
              <a:t xml:space="preserve">Revisão: </a:t>
            </a:r>
            <a:r>
              <a:rPr lang="pt-BR" sz="1250" dirty="0">
                <a:solidFill>
                  <a:schemeClr val="bg1"/>
                </a:solidFill>
              </a:rPr>
              <a:t>aponta ambiguidades e sugere casos de borda.</a:t>
            </a:r>
            <a:endParaRPr lang="pt-BR" sz="1250" dirty="0"/>
          </a:p>
        </p:txBody>
      </p:sp>
      <p:sp>
        <p:nvSpPr>
          <p:cNvPr id="32" name="Text 32"/>
          <p:cNvSpPr txBox="1"/>
          <p:nvPr/>
        </p:nvSpPr>
        <p:spPr>
          <a:xfrm>
            <a:off x="548640" y="58887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accent1"/>
                </a:solidFill>
              </a:rPr>
              <a:t xml:space="preserve">Pré-visualização: </a:t>
            </a:r>
            <a:r>
              <a:rPr lang="pt-BR" sz="1250" dirty="0">
                <a:solidFill>
                  <a:schemeClr val="bg1"/>
                </a:solidFill>
              </a:rPr>
              <a:t>o problema como o aluno vai ver (abaixo, à direita).</a:t>
            </a:r>
            <a:endParaRPr lang="pt-B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RESULTADOS · BANCO DE PROBLEMAS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 o problema certo pelo código, tema ou dificuldade</a:t>
            </a:r>
            <a:endParaRPr lang="en-US" sz="3000" dirty="0"/>
          </a:p>
        </p:txBody>
      </p:sp>
      <p:sp>
        <p:nvSpPr>
          <p:cNvPr id="21" name="frame-lista-problemas-filtros.png"/>
          <p:cNvSpPr/>
          <p:nvPr/>
        </p:nvSpPr>
        <p:spPr>
          <a:xfrm>
            <a:off x="512064" y="1563624"/>
            <a:ext cx="7662672" cy="355369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shot-lista-problemas-filtros.png" descr="Busca por código (DEMO) com o filtro de tags abert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600200"/>
            <a:ext cx="7589520" cy="3480544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1904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Busca por código (DEMO) com o filtro de tags aberto</a:t>
            </a:r>
            <a:endParaRPr lang="pt-BR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850392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Busca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por título ou pelo código do problema (DEMO-101).</a:t>
            </a:r>
            <a:endParaRPr lang="pt-BR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8503920" y="24871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Dificuldade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fácil, médio ou difícil.</a:t>
            </a:r>
            <a:endParaRPr lang="pt-BR" sz="1200" dirty="0"/>
          </a:p>
        </p:txBody>
      </p:sp>
      <p:sp>
        <p:nvSpPr>
          <p:cNvPr id="26" name="Text 26"/>
          <p:cNvSpPr txBox="1"/>
          <p:nvPr/>
        </p:nvSpPr>
        <p:spPr>
          <a:xfrm>
            <a:off x="8503920" y="332841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Tags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por tema, agrupadas: fundamentos, estruturas, algoritmos.</a:t>
            </a:r>
            <a:endParaRPr lang="pt-BR" sz="1200" dirty="0"/>
          </a:p>
        </p:txBody>
      </p:sp>
      <p:sp>
        <p:nvSpPr>
          <p:cNvPr id="27" name="Text 27"/>
          <p:cNvSpPr txBox="1"/>
          <p:nvPr/>
        </p:nvSpPr>
        <p:spPr>
          <a:xfrm>
            <a:off x="8503920" y="416966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Meus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só os problemas que eu criei, inclusive rascunhos.</a:t>
            </a:r>
            <a:endParaRPr lang="pt-BR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8503920" y="50109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Importar JSON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vários problemas de uma vez, com o formato documentado.</a:t>
            </a:r>
            <a:endParaRPr lang="pt-B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RESULTADOS · RESOLVER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vê o que enviou e por que falhou</a:t>
            </a:r>
            <a:endParaRPr lang="en-US" sz="3000" dirty="0"/>
          </a:p>
        </p:txBody>
      </p:sp>
      <p:sp>
        <p:nvSpPr>
          <p:cNvPr id="21" name="frame-torneio-editor.png"/>
          <p:cNvSpPr/>
          <p:nvPr/>
        </p:nvSpPr>
        <p:spPr>
          <a:xfrm>
            <a:off x="512064" y="1536192"/>
            <a:ext cx="7342632" cy="428895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shot-torneio-editor.png" descr="Torneio: enunciado, envios e editor lado a lad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572768"/>
            <a:ext cx="7269480" cy="4215804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830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Torneio: enunciado, envios e editor lado a lado</a:t>
            </a:r>
            <a:endParaRPr lang="pt-BR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8183880" y="1600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Editor com destaque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O mesmo do VS Code (Monaco), em 6 linguagens.</a:t>
            </a:r>
            <a:endParaRPr lang="pt-BR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8183880" y="24688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Salvo automaticamente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No navegador, por problema e linguagem: “Salvo às 17:36”.</a:t>
            </a:r>
            <a:endParaRPr lang="pt-BR" sz="1200" dirty="0"/>
          </a:p>
        </p:txBody>
      </p:sp>
      <p:sp>
        <p:nvSpPr>
          <p:cNvPr id="26" name="Text 26"/>
          <p:cNvSpPr txBox="1"/>
          <p:nvPr/>
        </p:nvSpPr>
        <p:spPr>
          <a:xfrm>
            <a:off x="8183880" y="3337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Cada envio guarda o código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Expande, compara com o veredito e copia com um clique.</a:t>
            </a:r>
            <a:endParaRPr lang="pt-BR" sz="1200" dirty="0"/>
          </a:p>
        </p:txBody>
      </p:sp>
      <p:sp>
        <p:nvSpPr>
          <p:cNvPr id="27" name="Text 27"/>
          <p:cNvSpPr txBox="1"/>
          <p:nvPr/>
        </p:nvSpPr>
        <p:spPr>
          <a:xfrm>
            <a:off x="8183880" y="42062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Teste que falhou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Entrada, saída do aluno e saída esperada.</a:t>
            </a:r>
            <a:endParaRPr lang="pt-BR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8183880" y="50749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Explicar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Pede à IA uma dica sobre o erro, no limite do torneio.</a:t>
            </a:r>
            <a:endParaRPr lang="pt-B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RESULTADOS · CRIAR TORNEIO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monta o torneio em uma tela</a:t>
            </a:r>
            <a:endParaRPr lang="en-US" sz="3000" dirty="0"/>
          </a:p>
        </p:txBody>
      </p:sp>
      <p:sp>
        <p:nvSpPr>
          <p:cNvPr id="21" name="frame-torneio-configuracao.png"/>
          <p:cNvSpPr/>
          <p:nvPr/>
        </p:nvSpPr>
        <p:spPr>
          <a:xfrm>
            <a:off x="512064" y="1563624"/>
            <a:ext cx="5879592" cy="3059883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shot-torneio-configuracao.png" descr="Configuração: datas, privado e nível de I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600200"/>
            <a:ext cx="5806440" cy="2986731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4696659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Configuração: datas, privado e nível de IA</a:t>
            </a:r>
            <a:endParaRPr lang="pt-BR" sz="1100" dirty="0"/>
          </a:p>
        </p:txBody>
      </p:sp>
      <p:sp>
        <p:nvSpPr>
          <p:cNvPr id="24" name="frame-torneio-busca-codigo.png"/>
          <p:cNvSpPr/>
          <p:nvPr/>
        </p:nvSpPr>
        <p:spPr>
          <a:xfrm>
            <a:off x="6684264" y="1563624"/>
            <a:ext cx="4965192" cy="228462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5" name="shot-torneio-busca-codigo.png" descr="Problemas adicionados buscando pelo códi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1600200"/>
            <a:ext cx="4892040" cy="2211470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6720840" y="392139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Problemas adicionados buscando pelo código</a:t>
            </a:r>
            <a:endParaRPr lang="pt-BR" sz="1100" dirty="0"/>
          </a:p>
        </p:txBody>
      </p:sp>
      <p:sp>
        <p:nvSpPr>
          <p:cNvPr id="27" name="Text 27"/>
          <p:cNvSpPr txBox="1"/>
          <p:nvPr/>
        </p:nvSpPr>
        <p:spPr>
          <a:xfrm>
            <a:off x="6720840" y="443484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150" b="1" dirty="0">
                <a:solidFill>
                  <a:schemeClr val="accent1"/>
                </a:solidFill>
              </a:rPr>
              <a:t>Torneio privado</a:t>
            </a:r>
            <a:endParaRPr lang="pt-BR" sz="115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150" dirty="0">
                <a:solidFill>
                  <a:schemeClr val="bg1"/>
                </a:solidFill>
              </a:rPr>
              <a:t>participantes pedem para entrar e o professor aprova.</a:t>
            </a:r>
            <a:endParaRPr lang="pt-BR" sz="1150" dirty="0"/>
          </a:p>
        </p:txBody>
      </p:sp>
      <p:sp>
        <p:nvSpPr>
          <p:cNvPr id="28" name="Text 28"/>
          <p:cNvSpPr txBox="1"/>
          <p:nvPr/>
        </p:nvSpPr>
        <p:spPr>
          <a:xfrm>
            <a:off x="6720840" y="500176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150" b="1" dirty="0">
                <a:solidFill>
                  <a:schemeClr val="accent1"/>
                </a:solidFill>
              </a:rPr>
              <a:t>Assistência de IA</a:t>
            </a:r>
            <a:endParaRPr lang="pt-BR" sz="115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150" dirty="0">
                <a:solidFill>
                  <a:schemeClr val="bg1"/>
                </a:solidFill>
              </a:rPr>
              <a:t>desligada, conceito, dica ou precisa; vale no próximo pedido.</a:t>
            </a:r>
            <a:endParaRPr lang="pt-BR" sz="1150" dirty="0"/>
          </a:p>
        </p:txBody>
      </p:sp>
      <p:sp>
        <p:nvSpPr>
          <p:cNvPr id="29" name="Text 29"/>
          <p:cNvSpPr txBox="1"/>
          <p:nvPr/>
        </p:nvSpPr>
        <p:spPr>
          <a:xfrm>
            <a:off x="6720840" y="55686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150" b="1" dirty="0">
                <a:solidFill>
                  <a:schemeClr val="accent1"/>
                </a:solidFill>
              </a:rPr>
              <a:t>Problemas</a:t>
            </a:r>
            <a:endParaRPr lang="pt-BR" sz="115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150" dirty="0">
                <a:solidFill>
                  <a:schemeClr val="bg1"/>
                </a:solidFill>
              </a:rPr>
              <a:t>do banco, pelo código; viram A, B, C, D na ordem escolhida.</a:t>
            </a:r>
            <a:endParaRPr lang="pt-B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RESULTADOS · PLACAR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Placar no estilo das maratonas de programação</a:t>
            </a:r>
            <a:endParaRPr lang="en-US" sz="3000" dirty="0"/>
          </a:p>
        </p:txBody>
      </p:sp>
      <p:sp>
        <p:nvSpPr>
          <p:cNvPr id="21" name="frame-placar.png"/>
          <p:cNvSpPr/>
          <p:nvPr/>
        </p:nvSpPr>
        <p:spPr>
          <a:xfrm>
            <a:off x="512064" y="1536192"/>
            <a:ext cx="7754112" cy="409983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shot-placar.png" descr="Placar de um torneio com dados de demonstraçã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572768"/>
            <a:ext cx="7680960" cy="4026685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709181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Placar de um torneio com dados de demonstração</a:t>
            </a:r>
            <a:endParaRPr lang="pt-BR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859536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4'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tentativas e minuto da resolução</a:t>
            </a:r>
            <a:endParaRPr lang="pt-BR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859536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primeiro a resolver o problema</a:t>
            </a:r>
            <a:endParaRPr lang="pt-BR" sz="1200" dirty="0"/>
          </a:p>
        </p:txBody>
      </p:sp>
      <p:sp>
        <p:nvSpPr>
          <p:cNvPr id="26" name="Text 26"/>
          <p:cNvSpPr txBox="1"/>
          <p:nvPr/>
        </p:nvSpPr>
        <p:spPr>
          <a:xfrm>
            <a:off x="859536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verde / vermelho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resolvido / só tentativas erradas</a:t>
            </a:r>
            <a:endParaRPr lang="pt-BR" sz="1200" dirty="0"/>
          </a:p>
        </p:txBody>
      </p:sp>
      <p:sp>
        <p:nvSpPr>
          <p:cNvPr id="27" name="Text 27"/>
          <p:cNvSpPr txBox="1"/>
          <p:nvPr/>
        </p:nvSpPr>
        <p:spPr>
          <a:xfrm>
            <a:off x="8595360" y="4114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Penalidade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minutos das resoluções + 20 por tentativa errada (estilo ICPC)</a:t>
            </a:r>
            <a:endParaRPr lang="pt-BR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8595360" y="4937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 vivo</a:t>
            </a:r>
            <a:endParaRPr lang="pt-BR" sz="1200" dirty="0"/>
          </a:p>
          <a:p>
            <a:pPr indent="0" marL="0">
              <a:buNone/>
            </a:pPr>
            <a:r>
              <a:rPr lang="pt-BR" sz="1200" dirty="0">
                <a:solidFill>
                  <a:schemeClr val="bg1"/>
                </a:solidFill>
              </a:rPr>
              <a:t>atualiza sozinho durante o torneio</a:t>
            </a:r>
            <a:endParaRPr lang="pt-B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RESULTADOS · FORMATOS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Blocos e Parsons para quem está começando</a:t>
            </a:r>
            <a:endParaRPr lang="en-US" sz="3000" dirty="0"/>
          </a:p>
        </p:txBody>
      </p:sp>
      <p:sp>
        <p:nvSpPr>
          <p:cNvPr id="21" name="frame-formato-blocos.png"/>
          <p:cNvSpPr/>
          <p:nvPr/>
        </p:nvSpPr>
        <p:spPr>
          <a:xfrm>
            <a:off x="512064" y="1563624"/>
            <a:ext cx="3261176" cy="405079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shot-formato-blocos.png" descr="Blocos: a resposta vira Portugol e roda no jud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600200"/>
            <a:ext cx="3188024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687568"/>
            <a:ext cx="318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Blocos: a resposta vira Portugol e roda no judge</a:t>
            </a:r>
            <a:endParaRPr lang="pt-BR" sz="1100" dirty="0"/>
          </a:p>
        </p:txBody>
      </p:sp>
      <p:sp>
        <p:nvSpPr>
          <p:cNvPr id="24" name="frame-formato-parsons.png"/>
          <p:cNvSpPr/>
          <p:nvPr/>
        </p:nvSpPr>
        <p:spPr>
          <a:xfrm>
            <a:off x="4169664" y="1563624"/>
            <a:ext cx="4233672" cy="1869405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5" name="shot-formato-parsons.png" descr="Parsons: ordenar e indentar linha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6240" y="1600200"/>
            <a:ext cx="4160520" cy="1796253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4206240" y="3506181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Parsons: ordenar e indentar linhas</a:t>
            </a:r>
            <a:endParaRPr lang="pt-BR" sz="1100" dirty="0"/>
          </a:p>
        </p:txBody>
      </p:sp>
      <p:sp>
        <p:nvSpPr>
          <p:cNvPr id="27" name="frame-turma-codigo.png"/>
          <p:cNvSpPr/>
          <p:nvPr/>
        </p:nvSpPr>
        <p:spPr>
          <a:xfrm>
            <a:off x="4169664" y="4123944"/>
            <a:ext cx="4233672" cy="611731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8" name="shot-turma-codigo.png" descr="Turma: código para os alunos entrare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6240" y="4160520"/>
            <a:ext cx="4160520" cy="538579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4206240" y="4808827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i="1" dirty="0">
                <a:solidFill>
                  <a:schemeClr val="bg2"/>
                </a:solidFill>
              </a:rPr>
              <a:t>Turma: código para os alunos entrarem</a:t>
            </a:r>
            <a:endParaRPr lang="pt-BR" sz="1100" dirty="0"/>
          </a:p>
        </p:txBody>
      </p:sp>
      <p:sp>
        <p:nvSpPr>
          <p:cNvPr id="30" name="Text 30"/>
          <p:cNvSpPr txBox="1"/>
          <p:nvPr/>
        </p:nvSpPr>
        <p:spPr>
          <a:xfrm>
            <a:off x="8732520" y="16459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Blocos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Encaixe estilo Scratch. Bom para quem nunca programou.</a:t>
            </a:r>
            <a:endParaRPr lang="pt-BR" sz="1200" dirty="0"/>
          </a:p>
        </p:txBody>
      </p:sp>
      <p:sp>
        <p:nvSpPr>
          <p:cNvPr id="31" name="Text 31"/>
          <p:cNvSpPr txBox="1"/>
          <p:nvPr/>
        </p:nvSpPr>
        <p:spPr>
          <a:xfrm>
            <a:off x="8732520" y="2606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Parsons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As linhas certas, fora de ordem. Treina leitura de código.</a:t>
            </a:r>
            <a:endParaRPr lang="pt-BR" sz="1200" dirty="0"/>
          </a:p>
        </p:txBody>
      </p:sp>
      <p:sp>
        <p:nvSpPr>
          <p:cNvPr id="32" name="Text 32"/>
          <p:cNvSpPr txBox="1"/>
          <p:nvPr/>
        </p:nvSpPr>
        <p:spPr>
          <a:xfrm>
            <a:off x="873252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Código da turma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Seis letras, como ALG26B. O aluno digita e entra.</a:t>
            </a:r>
            <a:endParaRPr lang="pt-BR" sz="1200" dirty="0"/>
          </a:p>
        </p:txBody>
      </p:sp>
      <p:sp>
        <p:nvSpPr>
          <p:cNvPr id="33" name="Text 33"/>
          <p:cNvSpPr txBox="1"/>
          <p:nvPr/>
        </p:nvSpPr>
        <p:spPr>
          <a:xfrm>
            <a:off x="8732520" y="4526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chemeClr val="accent1"/>
                </a:solidFill>
              </a:rPr>
              <a:t>Aulas com prazo</a:t>
            </a:r>
            <a:endParaRPr lang="pt-BR" sz="1200" dirty="0"/>
          </a:p>
          <a:p>
            <a:pPr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chemeClr val="bg1"/>
                </a:solidFill>
              </a:rPr>
              <a:t>O professor cria atividades; a revisão abre após o prazo.</a:t>
            </a:r>
            <a:endParaRPr lang="pt-B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· AVALIAÇÃO · TESTE PILOTO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teste informal já mudou o sistema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48640" y="1572768"/>
            <a:ext cx="950976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48640" y="157276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INFORMAL</a:t>
            </a:r>
            <a:endParaRPr lang="pt-BR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1600200" y="15727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5 colegas usaram o sistema no meu servidor do Discord, sem roteiro nem questionário</a:t>
            </a:r>
            <a:endParaRPr lang="pt-BR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548640" y="2103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INCOMODOU → O QUE MUDOU</a:t>
            </a:r>
            <a:endParaRPr lang="pt-BR" sz="1300" dirty="0"/>
          </a:p>
        </p:txBody>
      </p:sp>
      <p:sp>
        <p:nvSpPr>
          <p:cNvPr id="25" name="Shape 25"/>
          <p:cNvSpPr/>
          <p:nvPr/>
        </p:nvSpPr>
        <p:spPr>
          <a:xfrm>
            <a:off x="548640" y="2560320"/>
            <a:ext cx="6766560" cy="896112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Shape 26"/>
          <p:cNvSpPr/>
          <p:nvPr/>
        </p:nvSpPr>
        <p:spPr>
          <a:xfrm>
            <a:off x="731520" y="2862072"/>
            <a:ext cx="292608" cy="29260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73152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!</a:t>
            </a:r>
            <a:endParaRPr lang="pt-BR" sz="1100" dirty="0"/>
          </a:p>
        </p:txBody>
      </p:sp>
      <p:sp>
        <p:nvSpPr>
          <p:cNvPr id="28" name="Text 28"/>
          <p:cNvSpPr txBox="1"/>
          <p:nvPr/>
        </p:nvSpPr>
        <p:spPr>
          <a:xfrm>
            <a:off x="1188720" y="265176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chemeClr val="bg2"/>
                </a:solidFill>
              </a:rPr>
              <a:t>Não dava para ver o código de cada tentativa no torneio</a:t>
            </a:r>
            <a:endParaRPr lang="pt-BR" sz="1250" dirty="0"/>
          </a:p>
          <a:p>
            <a:pPr indent="0" marL="0">
              <a:buNone/>
            </a:pPr>
            <a:r>
              <a:rPr lang="pt-BR" sz="1250" b="1" dirty="0">
                <a:solidFill>
                  <a:schemeClr val="accent1"/>
                </a:solidFill>
              </a:rPr>
              <a:t xml:space="preserve">→ </a:t>
            </a:r>
            <a:r>
              <a:rPr lang="pt-BR" sz="1250" b="1" dirty="0">
                <a:solidFill>
                  <a:schemeClr val="bg1"/>
                </a:solidFill>
              </a:rPr>
              <a:t>Cada envio mostra o código, com botão de copiar</a:t>
            </a:r>
            <a:endParaRPr lang="pt-BR" sz="1250" dirty="0"/>
          </a:p>
        </p:txBody>
      </p:sp>
      <p:sp>
        <p:nvSpPr>
          <p:cNvPr id="29" name="Shape 29"/>
          <p:cNvSpPr/>
          <p:nvPr/>
        </p:nvSpPr>
        <p:spPr>
          <a:xfrm>
            <a:off x="548640" y="3584448"/>
            <a:ext cx="6766560" cy="896112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Shape 30"/>
          <p:cNvSpPr/>
          <p:nvPr/>
        </p:nvSpPr>
        <p:spPr>
          <a:xfrm>
            <a:off x="731520" y="3886200"/>
            <a:ext cx="292608" cy="29260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731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!</a:t>
            </a:r>
            <a:endParaRPr lang="pt-BR" sz="1100" dirty="0"/>
          </a:p>
        </p:txBody>
      </p:sp>
      <p:sp>
        <p:nvSpPr>
          <p:cNvPr id="32" name="Text 32"/>
          <p:cNvSpPr txBox="1"/>
          <p:nvPr/>
        </p:nvSpPr>
        <p:spPr>
          <a:xfrm>
            <a:off x="1188720" y="3675888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chemeClr val="bg2"/>
                </a:solidFill>
              </a:rPr>
              <a:t>O placar só mostrava medalhas</a:t>
            </a:r>
            <a:endParaRPr lang="pt-BR" sz="1250" dirty="0"/>
          </a:p>
          <a:p>
            <a:pPr indent="0" marL="0">
              <a:buNone/>
            </a:pPr>
            <a:r>
              <a:rPr lang="pt-BR" sz="1250" b="1" dirty="0">
                <a:solidFill>
                  <a:schemeClr val="accent1"/>
                </a:solidFill>
              </a:rPr>
              <a:t xml:space="preserve">→ </a:t>
            </a:r>
            <a:r>
              <a:rPr lang="pt-BR" sz="1250" b="1" dirty="0">
                <a:solidFill>
                  <a:schemeClr val="bg1"/>
                </a:solidFill>
              </a:rPr>
              <a:t>Tentativas, minuto, ★ primeiro a resolver, penalidade, ao vivo</a:t>
            </a:r>
            <a:endParaRPr lang="pt-BR" sz="1250" dirty="0"/>
          </a:p>
        </p:txBody>
      </p:sp>
      <p:sp>
        <p:nvSpPr>
          <p:cNvPr id="33" name="Shape 33"/>
          <p:cNvSpPr/>
          <p:nvPr/>
        </p:nvSpPr>
        <p:spPr>
          <a:xfrm>
            <a:off x="548640" y="4608576"/>
            <a:ext cx="6766560" cy="896112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Shape 34"/>
          <p:cNvSpPr/>
          <p:nvPr/>
        </p:nvSpPr>
        <p:spPr>
          <a:xfrm>
            <a:off x="731520" y="4910328"/>
            <a:ext cx="292608" cy="29260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731520" y="4910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!</a:t>
            </a:r>
            <a:endParaRPr lang="pt-BR" sz="1100" dirty="0"/>
          </a:p>
        </p:txBody>
      </p:sp>
      <p:sp>
        <p:nvSpPr>
          <p:cNvPr id="36" name="Text 36"/>
          <p:cNvSpPr txBox="1"/>
          <p:nvPr/>
        </p:nvSpPr>
        <p:spPr>
          <a:xfrm>
            <a:off x="1188720" y="4700016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chemeClr val="bg2"/>
                </a:solidFill>
              </a:rPr>
              <a:t>Importar JSON dava “Invalid format: Required”</a:t>
            </a:r>
            <a:endParaRPr lang="pt-BR" sz="1250" dirty="0"/>
          </a:p>
          <a:p>
            <a:pPr indent="0" marL="0">
              <a:buNone/>
            </a:pPr>
            <a:r>
              <a:rPr lang="pt-BR" sz="1250" b="1" dirty="0">
                <a:solidFill>
                  <a:schemeClr val="accent1"/>
                </a:solidFill>
              </a:rPr>
              <a:t xml:space="preserve">→ </a:t>
            </a:r>
            <a:r>
              <a:rPr lang="pt-BR" sz="1250" b="1" dirty="0">
                <a:solidFill>
                  <a:schemeClr val="bg1"/>
                </a:solidFill>
              </a:rPr>
              <a:t>Formato documentado e erro com o campo e o problema</a:t>
            </a:r>
            <a:endParaRPr lang="pt-BR" sz="1250" dirty="0"/>
          </a:p>
        </p:txBody>
      </p:sp>
      <p:sp>
        <p:nvSpPr>
          <p:cNvPr id="37" name="Text 37"/>
          <p:cNvSpPr txBox="1"/>
          <p:nvPr/>
        </p:nvSpPr>
        <p:spPr>
          <a:xfrm>
            <a:off x="768096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AGRADOU</a:t>
            </a:r>
            <a:endParaRPr lang="pt-BR" sz="1300" dirty="0"/>
          </a:p>
        </p:txBody>
      </p:sp>
      <p:sp>
        <p:nvSpPr>
          <p:cNvPr id="38" name="Shape 38"/>
          <p:cNvSpPr/>
          <p:nvPr/>
        </p:nvSpPr>
        <p:spPr>
          <a:xfrm>
            <a:off x="7680960" y="2560320"/>
            <a:ext cx="3931920" cy="896112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Shape 39"/>
          <p:cNvSpPr/>
          <p:nvPr/>
        </p:nvSpPr>
        <p:spPr>
          <a:xfrm>
            <a:off x="7863840" y="2862072"/>
            <a:ext cx="292608" cy="29260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Text 40"/>
          <p:cNvSpPr txBox="1"/>
          <p:nvPr/>
        </p:nvSpPr>
        <p:spPr>
          <a:xfrm>
            <a:off x="786384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+</a:t>
            </a:r>
            <a:endParaRPr lang="pt-BR" sz="1100" dirty="0"/>
          </a:p>
        </p:txBody>
      </p:sp>
      <p:sp>
        <p:nvSpPr>
          <p:cNvPr id="41" name="Text 41"/>
          <p:cNvSpPr txBox="1"/>
          <p:nvPr/>
        </p:nvSpPr>
        <p:spPr>
          <a:xfrm>
            <a:off x="8321040" y="2651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bg1"/>
                </a:solidFill>
              </a:rPr>
              <a:t>Visual</a:t>
            </a:r>
            <a:endParaRPr lang="pt-BR" sz="1250" dirty="0"/>
          </a:p>
          <a:p>
            <a:pPr indent="0" marL="0">
              <a:buNone/>
            </a:pPr>
            <a:r>
              <a:rPr lang="pt-BR" sz="1250" dirty="0">
                <a:solidFill>
                  <a:schemeClr val="bg1"/>
                </a:solidFill>
              </a:rPr>
              <a:t>O tema escuro, estilo terminal.</a:t>
            </a:r>
            <a:endParaRPr lang="pt-BR" sz="1250" dirty="0"/>
          </a:p>
        </p:txBody>
      </p:sp>
      <p:sp>
        <p:nvSpPr>
          <p:cNvPr id="42" name="Shape 42"/>
          <p:cNvSpPr/>
          <p:nvPr/>
        </p:nvSpPr>
        <p:spPr>
          <a:xfrm>
            <a:off x="7680960" y="3584448"/>
            <a:ext cx="3931920" cy="896112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Shape 43"/>
          <p:cNvSpPr/>
          <p:nvPr/>
        </p:nvSpPr>
        <p:spPr>
          <a:xfrm>
            <a:off x="7863840" y="3886200"/>
            <a:ext cx="292608" cy="29260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4"/>
          <p:cNvSpPr txBox="1"/>
          <p:nvPr/>
        </p:nvSpPr>
        <p:spPr>
          <a:xfrm>
            <a:off x="786384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+</a:t>
            </a:r>
            <a:endParaRPr lang="pt-BR" sz="1100" dirty="0"/>
          </a:p>
        </p:txBody>
      </p:sp>
      <p:sp>
        <p:nvSpPr>
          <p:cNvPr id="45" name="Text 45"/>
          <p:cNvSpPr txBox="1"/>
          <p:nvPr/>
        </p:nvSpPr>
        <p:spPr>
          <a:xfrm>
            <a:off x="8321040" y="3675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dirty="0">
                <a:solidFill>
                  <a:schemeClr val="bg1"/>
                </a:solidFill>
              </a:rPr>
              <a:t>O nome</a:t>
            </a:r>
            <a:endParaRPr lang="pt-BR" sz="1250" dirty="0"/>
          </a:p>
          <a:p>
            <a:pPr indent="0" marL="0">
              <a:buNone/>
            </a:pPr>
            <a:r>
              <a:rPr lang="pt-BR" sz="1250" dirty="0">
                <a:solidFill>
                  <a:schemeClr val="bg1"/>
                </a:solidFill>
              </a:rPr>
              <a:t>“Why” lido como o “Uai” mineiro: a ideia é mostrar por que o código falhou.</a:t>
            </a:r>
            <a:endParaRPr lang="pt-BR" sz="1250" dirty="0"/>
          </a:p>
        </p:txBody>
      </p:sp>
      <p:sp>
        <p:nvSpPr>
          <p:cNvPr id="46" name="Text 46"/>
          <p:cNvSpPr txBox="1"/>
          <p:nvPr/>
        </p:nvSpPr>
        <p:spPr>
          <a:xfrm>
            <a:off x="7680960" y="46634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i="1" dirty="0">
                <a:solidFill>
                  <a:schemeClr val="accent2"/>
                </a:solidFill>
              </a:rPr>
              <a:t>Não substitui a avaliação com a turma: amostra pequena, de colegas, sem professor.</a:t>
            </a:r>
            <a:endParaRPr lang="pt-B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· AVALIAÇÃO · PLANEJADA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falta: a avaliação em sala de aula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48640" y="1600200"/>
            <a:ext cx="2606040" cy="26974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22"/>
          <p:cNvSpPr/>
          <p:nvPr/>
        </p:nvSpPr>
        <p:spPr>
          <a:xfrm>
            <a:off x="777240" y="1810512"/>
            <a:ext cx="130759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777240" y="181051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PLANEJADO</a:t>
            </a:r>
            <a:endParaRPr lang="pt-BR" sz="1000" dirty="0"/>
          </a:p>
        </p:txBody>
      </p:sp>
      <p:sp>
        <p:nvSpPr>
          <p:cNvPr id="24" name="Text 24"/>
          <p:cNvSpPr txBox="1"/>
          <p:nvPr/>
        </p:nvSpPr>
        <p:spPr>
          <a:xfrm>
            <a:off x="7772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Aplicação</a:t>
            </a:r>
            <a:endParaRPr lang="pt-BR" sz="1600" dirty="0"/>
          </a:p>
        </p:txBody>
      </p:sp>
      <p:sp>
        <p:nvSpPr>
          <p:cNvPr id="25" name="Text 25"/>
          <p:cNvSpPr txBox="1"/>
          <p:nvPr/>
        </p:nvSpPr>
        <p:spPr>
          <a:xfrm>
            <a:off x="77724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1"/>
                </a:solidFill>
              </a:rPr>
              <a:t>Um torneio e uma aula com uma turma real de programação.</a:t>
            </a:r>
            <a:endParaRPr lang="pt-BR" sz="1300" dirty="0"/>
          </a:p>
        </p:txBody>
      </p:sp>
      <p:sp>
        <p:nvSpPr>
          <p:cNvPr id="26" name="Shape 26"/>
          <p:cNvSpPr/>
          <p:nvPr/>
        </p:nvSpPr>
        <p:spPr>
          <a:xfrm>
            <a:off x="3364992" y="1600200"/>
            <a:ext cx="2606040" cy="26974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7"/>
          <p:cNvSpPr/>
          <p:nvPr/>
        </p:nvSpPr>
        <p:spPr>
          <a:xfrm>
            <a:off x="3593592" y="1810512"/>
            <a:ext cx="130759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3593592" y="181051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PLANEJADO</a:t>
            </a:r>
            <a:endParaRPr lang="pt-BR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3593592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Usabilidade</a:t>
            </a:r>
            <a:endParaRPr lang="pt-BR" sz="1600" dirty="0"/>
          </a:p>
        </p:txBody>
      </p:sp>
      <p:sp>
        <p:nvSpPr>
          <p:cNvPr id="30" name="Text 30"/>
          <p:cNvSpPr txBox="1"/>
          <p:nvPr/>
        </p:nvSpPr>
        <p:spPr>
          <a:xfrm>
            <a:off x="3593592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1"/>
                </a:solidFill>
              </a:rPr>
              <a:t>Questionário SUS com os alunos (nota de 0 a 100).</a:t>
            </a:r>
            <a:endParaRPr lang="pt-BR" sz="1300" dirty="0"/>
          </a:p>
        </p:txBody>
      </p:sp>
      <p:sp>
        <p:nvSpPr>
          <p:cNvPr id="31" name="Shape 31"/>
          <p:cNvSpPr/>
          <p:nvPr/>
        </p:nvSpPr>
        <p:spPr>
          <a:xfrm>
            <a:off x="6181344" y="1600200"/>
            <a:ext cx="2606040" cy="26974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Shape 32"/>
          <p:cNvSpPr/>
          <p:nvPr/>
        </p:nvSpPr>
        <p:spPr>
          <a:xfrm>
            <a:off x="6409944" y="1810512"/>
            <a:ext cx="130759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6409944" y="181051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PLANEJADO</a:t>
            </a:r>
            <a:endParaRPr lang="pt-BR" sz="1000" dirty="0"/>
          </a:p>
        </p:txBody>
      </p:sp>
      <p:sp>
        <p:nvSpPr>
          <p:cNvPr id="34" name="Text 34"/>
          <p:cNvSpPr txBox="1"/>
          <p:nvPr/>
        </p:nvSpPr>
        <p:spPr>
          <a:xfrm>
            <a:off x="6409944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Visão do professor</a:t>
            </a:r>
            <a:endParaRPr lang="pt-BR" sz="1600" dirty="0"/>
          </a:p>
        </p:txBody>
      </p:sp>
      <p:sp>
        <p:nvSpPr>
          <p:cNvPr id="35" name="Text 35"/>
          <p:cNvSpPr txBox="1"/>
          <p:nvPr/>
        </p:nvSpPr>
        <p:spPr>
          <a:xfrm>
            <a:off x="6409944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1"/>
                </a:solidFill>
              </a:rPr>
              <a:t>Como foi criar a aula e o torneio, revisar envios e dosar a IA.</a:t>
            </a:r>
            <a:endParaRPr lang="pt-BR" sz="1300" dirty="0"/>
          </a:p>
        </p:txBody>
      </p:sp>
      <p:sp>
        <p:nvSpPr>
          <p:cNvPr id="36" name="Shape 36"/>
          <p:cNvSpPr/>
          <p:nvPr/>
        </p:nvSpPr>
        <p:spPr>
          <a:xfrm>
            <a:off x="8997696" y="1600200"/>
            <a:ext cx="2606040" cy="26974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Shape 37"/>
          <p:cNvSpPr/>
          <p:nvPr/>
        </p:nvSpPr>
        <p:spPr>
          <a:xfrm>
            <a:off x="9226296" y="1810512"/>
            <a:ext cx="130759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9226296" y="181051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PLANEJADO</a:t>
            </a:r>
            <a:endParaRPr lang="pt-BR" sz="1000" dirty="0"/>
          </a:p>
        </p:txBody>
      </p:sp>
      <p:sp>
        <p:nvSpPr>
          <p:cNvPr id="39" name="Text 39"/>
          <p:cNvSpPr txBox="1"/>
          <p:nvPr/>
        </p:nvSpPr>
        <p:spPr>
          <a:xfrm>
            <a:off x="9226296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Uso</a:t>
            </a:r>
            <a:endParaRPr lang="pt-BR" sz="1600" dirty="0"/>
          </a:p>
        </p:txBody>
      </p:sp>
      <p:sp>
        <p:nvSpPr>
          <p:cNvPr id="40" name="Text 40"/>
          <p:cNvSpPr txBox="1"/>
          <p:nvPr/>
        </p:nvSpPr>
        <p:spPr>
          <a:xfrm>
            <a:off x="9226296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1"/>
                </a:solidFill>
              </a:rPr>
              <a:t>Análise descritiva: veredictos, tempo até acertar e pedidos de dica.</a:t>
            </a:r>
            <a:endParaRPr lang="pt-BR" sz="1300" dirty="0"/>
          </a:p>
        </p:txBody>
      </p:sp>
      <p:sp>
        <p:nvSpPr>
          <p:cNvPr id="41" name="Shape 41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777240" y="45720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chemeClr val="accent2"/>
                </a:solidFill>
              </a:rPr>
              <a:t xml:space="preserve">Ainda não aplicada. </a:t>
            </a:r>
            <a:r>
              <a:rPr lang="pt-BR" sz="1400" dirty="0">
                <a:solidFill>
                  <a:schemeClr val="bg1"/>
                </a:solidFill>
              </a:rPr>
              <a:t>Sem ela, a pergunta de pesquisa fica sem resposta: o teste no Discord não mede aprendizado nem a experiência do professor.</a:t>
            </a:r>
            <a:endParaRPr lang="pt-B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yRunner">
  <a:themeElements>
    <a:clrScheme name="WhyRunner">
      <a:dk1>
        <a:srgbClr val="0B0F14"/>
      </a:dk1>
      <a:lt1>
        <a:srgbClr val="E6EDF3"/>
      </a:lt1>
      <a:dk2>
        <a:srgbClr val="151B23"/>
      </a:dk2>
      <a:lt2>
        <a:srgbClr val="8B96A3"/>
      </a:lt2>
      <a:accent1>
        <a:srgbClr val="22C55E"/>
      </a:accent1>
      <a:accent2>
        <a:srgbClr val="F5A524"/>
      </a:accent2>
      <a:accent3>
        <a:srgbClr val="F0566A"/>
      </a:accent3>
      <a:accent4>
        <a:srgbClr val="A78BFA"/>
      </a:accent4>
      <a:accent5>
        <a:srgbClr val="3B82F6"/>
      </a:accent5>
      <a:accent6>
        <a:srgbClr val="2A323D"/>
      </a:accent6>
      <a:hlink>
        <a:srgbClr val="22C55E"/>
      </a:hlink>
      <a:folHlink>
        <a:srgbClr val="A78BFA"/>
      </a:folHlink>
    </a:clrScheme>
    <a:fontScheme name="WhyRun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WhyRunner — Apresentação Parcial TCC II</dc:title>
  <dc:subject>PptxGenJS Presentation</dc:subject>
  <dc:creator>Juan Israel dos Anjos</dc:creator>
  <cp:lastModifiedBy>Juan Israel dos Anjos</cp:lastModifiedBy>
  <cp:revision>1</cp:revision>
  <dcterms:created xsi:type="dcterms:W3CDTF">2026-10-15T22:08:06Z</dcterms:created>
  <dcterms:modified xsi:type="dcterms:W3CDTF">2026-10-15T22:08:06Z</dcterms:modified>
</cp:coreProperties>
</file>