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29"/>
    <p:sldId id="258" r:id="rId30"/>
    <p:sldId id="259" r:id="rId31"/>
    <p:sldId id="260" r:id="rId5"/>
    <p:sldId id="261" r:id="rId32"/>
    <p:sldId id="262" r:id="rId6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06" r:id="rId76"/>
    <p:sldId id="307" r:id="rId77"/>
    <p:sldId id="308" r:id="rId78"/>
    <p:sldId id="309" r:id="rId79"/>
    <p:sldId id="310" r:id="rId80"/>
    <p:sldId id="311" r:id="rId81"/>
    <p:sldId id="312" r:id="rId82"/>
    <p:sldId id="313" r:id="rId83"/>
    <p:sldId id="314" r:id="rId84"/>
    <p:sldId id="315" r:id="rId85"/>
    <p:sldId id="316" r:id="rId86"/>
    <p:sldId id="317" r:id="rId87"/>
    <p:sldId id="318" r:id="rId88"/>
    <p:sldId id="319" r:id="rId89"/>
    <p:sldId id="320" r:id="rId90"/>
    <p:sldId id="321" r:id="rId91"/>
    <p:sldId id="322" r:id="rId92"/>
    <p:sldId id="323" r:id="rId93"/>
    <p:sldId id="324" r:id="rId94"/>
    <p:sldId id="325" r:id="rId95"/>
    <p:sldId id="326" r:id="rId96"/>
    <p:sldId id="327" r:id="rId97"/>
    <p:sldId id="328" r:id="rId98"/>
    <p:sldId id="329" r:id="rId99"/>
    <p:sldId id="330" r:id="rId100"/>
    <p:sldId id="331" r:id="rId101"/>
    <p:sldId id="332" r:id="rId102"/>
    <p:sldId id="333" r:id="rId103"/>
    <p:sldId id="334" r:id="rId104"/>
    <p:sldId id="335" r:id="rId105"/>
    <p:sldId id="336" r:id="rId106"/>
    <p:sldId id="337" r:id="rId107"/>
    <p:sldId id="338" r:id="rId108"/>
    <p:sldId id="339" r:id="rId109"/>
    <p:sldId id="340" r:id="rId110"/>
    <p:sldId id="341" r:id="rId111"/>
    <p:sldId id="342" r:id="rId112"/>
    <p:sldId id="343" r:id="rId113"/>
    <p:sldId id="344" r:id="rId114"/>
    <p:sldId id="345" r:id="rId115"/>
    <p:sldId id="346" r:id="rId116"/>
    <p:sldId id="347" r:id="rId117"/>
    <p:sldId id="348" r:id="rId118"/>
    <p:sldId id="349" r:id="rId119"/>
    <p:sldId id="350" r:id="rId120"/>
    <p:sldId id="351" r:id="rId121"/>
    <p:sldId id="352" r:id="rId122"/>
    <p:sldId id="353" r:id="rId123"/>
    <p:sldId id="354" r:id="rId124"/>
    <p:sldId id="355" r:id="rId125"/>
    <p:sldId id="356" r:id="rId126"/>
    <p:sldId id="357" r:id="rId127"/>
    <p:sldId id="358" r:id="rId128"/>
    <p:sldId id="359" r:id="rId129"/>
    <p:sldId id="360" r:id="rId14"/>
    <p:sldId id="361" r:id="rId130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4ab60b7-2759-f0ca-8802-cf2776c57ed1}">
          <p14:sldIdLst>
            <p14:sldId id="256"/>
          </p14:sldIdLst>
        </p14:section>
        <p14:section name="Introdução" id="{eaac551f-4214-2913-b10b-ef1a0af77074}">
          <p14:sldIdLst>
            <p14:sldId id="257"/>
            <p14:sldId id="258"/>
          </p14:sldIdLst>
        </p14:section>
        <p14:section name="Trabalhos relacionados" id="{96d8f200-8e3f-2256-7803-618dec6fa8e6}">
          <p14:sldIdLst>
            <p14:sldId id="259"/>
          </p14:sldIdLst>
        </p14:section>
        <p14:section name="Metodologia" id="{0c10b5ba-a3bc-3664-b2a2-62a1239676ac}">
          <p14:sldIdLst>
            <p14:sldId id="260"/>
            <p14:sldId id="261"/>
            <p14:sldId id="262"/>
          </p14:sldIdLst>
        </p14:section>
        <p14:section name="Resultados" id="{6e54e262-8e6b-4997-f4ac-450b196d192d}">
          <p14:sldIdLst>
            <p14:sldId id="263"/>
            <p14:sldId id="264"/>
            <p14:sldId id="265"/>
          </p14:sldIdLst>
        </p14:section>
        <p14:section name="Discussão e cronograma" id="{20deca9a-0b7f-e2cd-946d-5c2692820231}">
          <p14:sldIdLst>
            <p14:sldId id="266"/>
            <p14:sldId id="267"/>
          </p14:sldIdLst>
        </p14:section>
        <p14:section name="Referências" id="{4ccfc0aa-a1d4-30a0-57c8-cb84e1396ea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Eu sou o Juan, e este é o WhyRunner: um juiz online para o ensino de programação, com dicas de IA que o professor controla. Esta versão da apresentação tem uma ideia por slide; os detalhes estão aqui nas notas.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Analisei quatro sistemas: Ataux, de 2021; o Gamma Online Judge, da UnB, de 2022; o Run Codes; e o BOCA, de 2004, usado na Maratona da SBC. Nenhum deles dá feedback explicativo: todos corrigem, nenhum ensina. Alguns têm placar em tempo real, mas nenhum deixa o professor montar uma aula ou exigir um algoritmo.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desenvolvimento foi iterativo. A fila começou com BullMQ e depois AWS SQS, e terminou no próprio PostgreSQL com LISTEN e NOTIFY. O backend NestJS separado virou Server Actions do Next.js. O Supabase virou PostgreSQL com Drizzle. E a execução em contêiner Docker por submissão virou o isolate, o sandbox da IOI.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referências, incluindo o artigo do winnowing de Schleimer, Wilkerson e Aiken, base da detecção de plágio, e o SUS de Brooke, usado nos questionários.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juiz online recebe o código, roda contra casos de teste e devolve um veredito. Em sistemas como o BOCA ou o Run Codes, o aluno vê só isto: Wrong Answer, caso 3 de 10, sem explicação. Para quem está aprendendo, isso não ensina nada. Foi a minha experiência em maratonas de programação usando esses sistemas como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Daí a pergunta de pesquisa: será que feedback gerado por IA, somado a atividades montadas pelo professor, torna um juiz online mais útil para o ensino? O resto da apresentação mostra o que foi construído para responder isso, e como vamos 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geral é desenvolver e avaliar um juiz online voltado ao ensino. Três pilares: executar código com segurança em várias linguagens; explicar o erro, com dicas de IA que não entregam a solução; e deixar o professor no controle, montando aulas, torneios e decidindo quanto a IA ajuda.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Resumindo a tabela: o diferencial está em três colunas. Dicas por IA, sob controle do professor. Aulas montadas pelo professor, com prazo e revisão. E Portugol com blocos, para quem nunca programou: o aluno encaixa blocos em português e eles viram código que roda no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arquitetura: o navegador fala com o Next.js por Server Actions. A action grava a submissão como PENDING e dispara um NOTIFY no PostgreSQL. O judge, em Rust, está escutando; pega a submissão, compila e roda cada caso de teste no isolate, e grava o veredito no mesmo banco. Não há fila externa nem API entre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chamada de IA passa por um único módulo do Next.js, nunca pelo judge. Ele tenta primeiro o Gemini 3.5 Flash; se falhar ou passar de 30 segundos, o Gemini 3.5 Flash-Lite; e por último o Claude Haiku 5.5, quando a chave da Anthropic está configurada. Só falhas transitórias passam adiante: timeout, rede, 429, 5xx ou saída que não valida no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judge: como ele executa o código, que vereditos devolve e como compara a saída.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execução roda numa caixa nova do isolate, o sandbox usado na Olimpíada Internacional de Informática. A caixa não tem rede, tem limite de tempo de CPU e de parede, de memória, e no máximo 64 processos, o que contém fork bombs. Depois de cada caso de teste a caixa é destruída. Não precisamos mais de Docker privilegiado, só de duas capabilities do Linux.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judge roda seis linguagens: C, C++, Java, Python, Rust e Portugol. Todos os compiladores estão na mesma imagem. Linguagens compiladas compilam uma vez por submissão, numa caixa própria, e o tempo de compilação não conta no limite do problema. Portugol é o caso especial: o interpretador recompila o programa em toda execução, por isso ganha mais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a versão 3, o judge só dizia passou ou falhou. Agora cada falha tem nome, no padrão das maratonas: aceito, resposta errada, tempo excedido, memória excedida, erro de compilação e erro de execução. O veredito da submissão é o do primeiro caso que falhou. Há ainda o erro do juiz, quando a falha é nossa, que nunca penaliza 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Aceito é o óbvio: o programa produziu a saída esperada em todos os casos de teste, dentro dos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errada: o programa terminou normalmente, mas a saída é diferente da esperada, segundo o modo de comparação do problema. É o erro de lógica clássico.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excedido: estourou o limite de CPU ou de tempo de parede. O limite é o do problema multiplicado por um fator da linguagem: Java ganha o dobro mais meio segundo pela JVM, Python o triplo, Portugol o dobro mais três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Memória excedida: o programa tentou usar mais memória do que o limite da caixa. É o veredito mais difícil de detectar, como vamos ver daqui a pouco.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de compilação: o compilador rejeitou o código. O aluno vê a saída do compilador, sempre, porque ela não depende de nenhum caso de teste escondido.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de execução: o programa terminou com código de saída diferente de zero ou foi morto por um sinal, como divisão por zero, índice fora do vetor ou exceção não tratada.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assim que aparece para o aluno, dentro de um torneio: cada tentativa com a hora, a linguagem e o veredito com a sua cor. Este aluno de demonstração errou, não compilou, estourou tempo, quebrou, estourou memória e por fim acertou.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placar, seguimos a convenção da ICPC: tentativas rejeitadas custam 20 minutos de penalidade quando o problema é resolvido, mas erro de compilação não conta. Quem não compilou não chegou a ser julgado. Erro do juiz também não penaliza.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o MLE é difícil: o limite de memória do isolate, sem cgroups, é um limite de espaço de endereçamento. Quando estoura, o malloc simplesmente falha e o programa quebra; não há um sinal limpo de falta de memória. Então o judge deduz: se o pico de memória chegou a 90% do limite, ou se a saída de erro tem uma mensagem como MemoryError ou bad_alloc, é MLE. É uma heurística, e o benchmark mostra onde ela erra.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a saída também ficou configurável por problema. Exata: idêntica, ignorando só espaços no começo e no fim. Tokens: palavra por palavra, espaços e quebras de linha não importam; é o padrão de problema novo. Float: números aceitos dentro de uma tolerância épsilon, absoluta ou relativa. E corretor: um programa do professor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corretor serve para problemas com mais de uma resposta certa. Neste exemplo, imprimir qualquer divisor de N: 12 aceita 2, 3, 4 ou 6. O professor escreve um pequeno programa que lê a entrada, a saída do aluno e a resposta esperada e decide. O código do corretor fica numa tabela separada e nunca chega ao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protocolo é o do testlib: o corretor recebe três arquivos, input.txt, output.txt com a saída do aluno e answer.txt com a esperada. Código de saída zero é aceito; um é resposta errada, e o que ele imprimir vira a mensagem para o aluno; qualquer outra coisa, inclusive estourar o tempo ou não compilar, é erro do juiz, que não penaliza o aluno. O corretor roda no isolate como qualquer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medir o impacto, peguei as saídas esperadas dos dez problemas de exemplo e as reescrevi como um programa correto costuma escrever: espaço no fim da linha, linhas em branco, quebra de linha do Windows, floats com outra precisão. O modo tokens aceita todas as de espaço; o exato recusa as de várias linhas. Floats com outra precisão só passam no modo float: 7 de 12 com épsilon de um milionésimo. Erros de verdade, como faltar um número, continuam recusados. No histórico real, as 16 respostas erradas que existiam eram todas erros de verdade: nenhuma teria virado aceita.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banca não ter que acreditar em mim, todos os números a seguir vêm de scripts no diretório bench do repositório, com os resultados brutos commitados. Máquina: Ryzen 5 5600, 6 núcleos e 12 threads, 32 GB de RAM, CachyOS. O judge roda na mesma imagem Docker de produção, contra um PostgreSQL descartável.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mudança de desempenho: o judge virou um pool de workers. Um dispatcher escuta o NOTIFY, faz a varredura a cada 60 segundos e reaproveita envios travados; os workers pegam envios com FOR UPDATE SKIP LOCKED, então dois nunca pegam o mesmo. Cada worker tem a sua caixa do isolate. O número de workers vem de JUDGE_CONCURRENCY, por padrão o número de CPUs, até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benchmark simula uma turma apertando enviar ao mesmo tempo: 40 ou 100 envios de uma vez, misturando as seis linguagens, contra o judge real e um PostgreSQL real. Com um worker, 100 envios levam 143 segundos. Com 4, 51; com 8, 38. Não escala linearmente porque compiladores e a JVM disputam CPU e disco. Todos os envios passaram em todas as rodadas.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o aluno sente é a espera. Numa rajada de 100, com um worker a mediana é 66 segundos e o percentil 95 é 134: o último aluno espera mais de dois minutos. Com 8 workers, a mediana cai para 18 segundos e o p95 para 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a parte honesta. Em produção, o judge roda numa máquina shared-cpu-1x da Fly.io, com uma vCPU. Lá o padrão resolve para um worker. Prendi o contêiner a uma CPU e repeti: com 1 worker, 80 segundos; com 4, 82. Nenhum ganho. O pool só ajuda com uma máquina de vários núcleos, o que fica como trabalho futuro. Pelo menos não houve tempo excedido espúrio com 4 workers numa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judge ocioso, quanto tempo leva um envio? Do INSERT até o judge pegar a linha: cerca de 1 milissegundo, o NOTIFY é imediato. C fica pronto em 76 ms, Python em 87 ms, C++ e Rust em cerca de 354 ms, Java em 1,1 s. Portugol leva 7,2 s, porque o interpretador recompila o programa em cada um dos cinco casos de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Separando compilação e execução: C compila em 40 ms, C++ em 309, Rust em 236, Java em 619. Rodar um olá mundo leva poucos milissegundos, exceto Portugol: 1,3 segundo. No laço de dez milhões de passos, Python leva 0,9 segundo e C 52 ms. A primeira execução não foi mais lenta que as outras: não medi efeito de cache frio dentro do contêiner.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Memória: C, C++ e Rust ficam abaixo de 4 MB, Python em 7,9 MB. Java usa 44 MB e Portugol 87, por causa da JVM. É por isso que as linguagens da JVM têm um limite nominal maior, de 2 GB de espaço de endereçamento, com o heap real limitado por flags da JVM.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custa a segurança? Rodei o mesmo programa direto e dentro do isolate, com criação e destruição da caixa. O custo extra é de 5 a 6 ms por execução na maioria das linguagens, e 14 em Rust. Só criar e destruir uma caixa vazia leva 2,6 ms. No Portugol a diferença some no ruído do segundo e pouco que ele já leva.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testar os vereditos, escrevi dois programas para cada veredito em cada linguagem: 72 programas, julgados pelo código real. Aceito, resposta errada e tempo excedido: 100%. Os erros têm três causas. Primeira: o console do Portugol imprime erros de compilação e de execução na saída padrão e termina com código zero, então o judge vê uma resposta errada; são 6 dos 9 erros, e é uma limitação a corrigir. Segunda: Python não tem etapa de compilação, então erro de sintaxe vira erro de execução. Terceira: o MLE é heurístico; um programa em C que escreve num malloc que falhou quebra com falha de segmentação e vira erro de execução. Fora do Portugol, foram 57 de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validação técnica: o judge tem 51 testes automatizados, 20 deles rodando código de verdade no isolate, incluindo fork bomb, laço infinito e estouro de memória. O site tem 112 testes em 13 arquivos, das funções puras: placar, boletim, plágio, pesquisa, relatório do judge. Os benchmarks são testes ignorados à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a última apresentação há integração contínua: cada push e pull request roda três jobs. Web: checagem de tipos, lint com Biome e testes. Judge: formatação, clippy e os 31 testes que não precisam do sandbox; os 20 testes que rodam código de verdade no isolate precisam de capabilities elevadas e rodam localmente na imagem do judge. E um job que confere se os enums do Rust e do Drizzle estão em sincronia.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 13 execuções até agora, todas passaram. A mediana é 24 segundos para o job web e 24 para o judge; os pontos mais à direita do judge são execuções sem cache do Cargo, até 89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um job só para enums? O judge e o site compartilham o banco, mas não o código: o status da submissão e a linguagem são enums definidos duas vezes, em Rust e no Drizzle. Se um lado ganhar um valor e o outro não, o judge quebra ao ler a linha. O script check-enum-sync compara os dois e falha o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lado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publicar, o autor precisa provar que os casos de teste estão certos: escolhe uma linguagem, cola uma solução de referência ou pede para a IA gerar uma, e o judge roda a solução contra todos os casos. Se alguma saída não bate, o erro está no caso de teste. Se ele mudar um teste depois, a publicação trava até validar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 isso: pedi à IA soluções de referência em Python e em C para os dez problemas de exemplo e julguei todas no judge. Python passou em 10 de 10; C em 8 de 10. As duas falhas vieram do último modelo da cadeia, o Claude Haiku, que escreveu uma frase antes do código, apesar da instrução; não compilou. É exatamente o caso que a validação antes de publicar existe para pegar.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ajudas de IA na criação: a narrativa, uma pequena história no estilo do Advent of Code para contextualizar o enunciado; e as tags, de um catálogo fixo de temas. As duas só preenchem o formulário; nada é salvo sem 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revisão com IA lê o enunciado e os casos de teste e sugere casos de borda que faltam, como n igual a 1 ou um valor que estoura 32 bits. Cada sugestão entra nos testes com um clique.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pré-visualização mostra o enunciado renderizado, com Markdown e LaTeX, exatamente como o aluno vai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tempo a IA leva? Fiz 10 chamadas de cada recurso com os prompts reais: 60 chamadas no total. As medianas ficaram entre 13,1 e 20,4 segundos. Esse tempo inclui as tentativas que falharam antes do fallback responder, o que explica os pontos acima de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falharam bastante: durante o teste a chave do Gemini Flash estourou a cota, com erro 429. Das 60 chamadas, 37 precisaram de pelo menos um fallback; o Flash-Lite respondeu 30 e o Haiku 7. Nenhuma chamada ficou sem resposta. Sem a cadeia, mais da metade teria virado mensagem de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banco de problemas: busca por título ou pelo código do problema, como DEMO-101, filtro por dificuldade, por tags agrupadas e só pelos meus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a importação: vários problemas de uma vez a partir de um arquivo JSON, com o formato documentado na própria tela e um modelo para baixar. Erro de formato aponta o problema e o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Criar um torneio: nome, descrição, datas, se é privado e o nível máximo de ajuda da IA. A mudança de nível vale a partir do próximo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problemas são buscados pelo código e viram A, B, C, D na ordem escolhida.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 torneio privado, o aluno pede para entrar e o professor aprova ou rejeita. O pedido gera uma notificação para o professor, e a aprovação uma para 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torneio, a IA tem quatro níveis: desligada; conceito, que só nomeia a área do erro; dica, que explica o que está errado sem código; e precisa, que aponta a linha. O professor define o máximo, o servidor aplica, e o aluno libera um nível por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placar segue as maratonas: em cada célula, as tentativas e o minuto do acerto; verde é resolvido, vermelho só tentativas erradas; e atualiza sozinho durante o torneio.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Lendo uma célula: 2 tentativas, resolvido no minuto 22, e a estrela marca o primeiro a resolver aquele problema. Empate em número de problemas é desfeito pela penalidade: soma dos minutos dos acertos mais 20 por tentativa errada antes do acerto. Erro de compilação não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placar e o boletim são calculados no servidor a cada visita. Com turmas sintéticas bem maiores que uma turma real: placar de 1000 alunos e 52252 envios em 116 ms; boletim de 1000 alunos com 240 exercícios em 267 ms. Numa turma de 30, os dois ficam abaixo de 2 ms. O tempo de banco não está incluído.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lado do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nova tela inicial: exercícios pendentes da turma, o último torneio, o que resolveu recentemente e sugestões de problemas. É a primeira coisa que o aluno vê depois de entrar.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editor é o Monaco, o mesmo do VS Code, com destaque de sintaxe nas seis linguagens. O código é salvo no navegador por problema e linguagem, então fechar a aba não perde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envio guarda o código, então o aluno sabe qual versão deu qual veredito, e pode copiar. O botão Explicar pede à IA uma dica sobre o erro, dentro do limite do torneio.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o caso que falhou é um exemplo público, o aluno vê a entrada, a própria saída e a esperada. Se for um caso escondido, vê só o veredito e o número do caso, para não dar para extrair os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paleta de comandos: Ctrl K abre uma busca por problemas, páginas e ações, como criar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para ninguém precisar adivinhar o atalho, ele aparece no menu, junto do botão de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notificações avisam quando uma submissão foi julgada, quando um pedido para entrar num torneio foi aprovado e quando uma nova lição foi liberada. Eventos repetidos se agrupam numa entrada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perfil público de cada usuário, com foto, capa e cor, e as abas de torneios e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 configurações, o aluno escolhe claro ou escuro e um entre seis temas, ou monta o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detalhe: a página 404 imita uma saída de terminal com erro de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dos torneios, o professor monta aulas.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entrar na turma, o aluno digita um código de seis letras, como ALG26B.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aula é uma lista de exercícios com prazo. Depois do prazo o professor revisa as entregas.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modo blocos, no estilo Scratch: os blocos têm rótulos em português e viram Portugol, que roda no judge como qualquer outra linguagem. O aluno pode abrir o código gerado.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modo Parsons: o aluno recebe as linhas da solução do professor, embaralhadas, e só ordena e indenta. A solução do professor precisa passar no judge antes de virar exercício.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restrições de solução: limite de laços aninhados, construções proibidas ou obrigatórias, e um algoritmo exigido, verificado pela IA. Uma solução correta que viola a restrição recebe um veredito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restrições estruturais analisam o texto do código, não uma árvore sintática. Medi com 30 amostras: violações reais, código limpo e nomes que contêm a palavra proibida, todos certos. Mas quando a palavra está dentro de uma string ou de um comentário, o verificador erra 10 de 11 vezes. É uma limitação conhecida; um parser por linguagem é trabalho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do prazo, o professor revisa: nota automática pela fração de casos que passaram, e um comentário por exercício.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boletim: cada aluno numa linha, cada exercício numa coluna, com a soma por aula e o total. Traço indica aula não entregue. As notas vêm do mesmo cálculo da revisão, então os dois nunca discordam.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boletim exporta para CSV. Três cuidados: segue a RFC 4180 para aspas e quebras de linha; começa com um BOM para o Excel abrir os acentos certos; e neutraliza células que começam com igual, mais, menos ou arroba, para um nome de aluno malicioso não virar fórmula no Excel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funcionalidade nova desde a última apresentação: detecção de plágio.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algoritmo é o do MOSS, de Schleimer, Wilkerson e Aiken. O código vira tokens, com um tokenizador por linguagem. Grupos de 5 tokens viram hashes, os k-gramas. O winnowing escolhe o menor hash de cada janela, e esses são as impressões digitais. Pares de alunos que compartilham impressões são comparados por greedy string tiling, que encontra os trechos iguais, e a similaridade é a fração de tokens cobertos.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truque está na normalização: identificadores viram V, números viram N, strings viram S, e comentários e espaços somem. Renomear variáveis e reformatar o código não muda nada do que é comparado. Além disso, o código que a maioria da turma compartilha, como o esqueleto do problema, é descontado.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relatório, só para o dono do torneio ou da turma, e só quando ele pede: escolhe o problema, se compara o último envio ou o melhor de cada aluno, e a similaridade mínima. A tela avisa: nota alta é motivo para ler os dois códigos, não prova de cópia.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Clicando no par, os dois códigos aparecem lado a lado, com os trechos coincidentes da mesma cor. Aqui a aluna renomeou tudo e adicionou comentários: cem por cento coincidente mesmo assim.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comparação existe para cada exercício de uma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medir a qualidade, escrevi 36 soluções independentes: 4 problemas, em Python, C e Java, cada um com 3 autores de estilos diferentes. Cada uma ganhou 6 cópias ofuscadas automaticamente: renomear, reformatar, comentários, reordenar funções, inserir código morto e tudo junto. Renomear, reformatar e comentários dão 100%. Reordenar e código morto caem um pouco; tudo junto tem mediana de 84%. Soluções independentes do mesmo problema ficam em 34% de mediana.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curva ROC, a área é 0,998 comparando par a par. O melhor limiar foi 0,52: 98,2% de precisão e 99,5% de revocação. No relatório da turma, com o filtro de código comum, a separação foi perfeita neste conjunto: nenhuma solução independente passou de 16%. Cuidado: as ofuscações são automáticas e sistemáticas, não as de um aluno esperto.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custo cresce com o quadrado do número de alunos, porque compara todos os pares. Mesmo assim: 30 alunos em cerca de 16 ms, 200 alunos em 364 a 420 ms, 300, o máximo do relatório, em menos de um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limitações: só compara envios na mesma linguagem, então traduzir de Python para C escapa. E não detecta código gerado por IA: duas respostas do ChatGPT para o mesmo aluno não são cópia uma da outra. Detectar código de IA fica como trabalho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da avaliação formal, cinco colegas usaram o sistema no meu servidor do Discord, sem roteiro nem questionário. É um teste informal, não a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reclamações viraram mudanças: o torneio não mostrava o código de cada tentativa; o placar só mostrava medalhas; e o erro de importar JSON dizia só Invalid format. Todas foram corrigidas antes da versão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lado bom: o tema escuro, estilo terminal, e o nome. O Why lido como o uai mineiro, que é justamente a ideia de explicar por que o código falhou.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avaliação de verdade, os questionários estão dentro do próprio sistema. Quando o torneio ou a lista termina, aparece este convite para quem participou. O servidor decide quem pode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quatro formulários: professor e aluno, para torneio e para lista de exercícios. Todos começam pelo termo de consentimento; as respostas são anônimas na análise.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usabilidade é medida pela System Usability Scale, de Brooke: dez afirmações de 1 a 5, e o sistema calcula a nota de 0 a 100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página de resultados, só para o pesquisador: número de respostas, SUS médio, mediana e desvio, filtro por atividade e exportação em CSV. Está vazia porque ainda não aplicamos com alunos.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aqui está o ponto mais importante: a avaliação com alunos ainda não aconteceu. O primeiro teste em sala está marcado para 29 de outubro de 2026, com um torneio e uma lista de exercícios, e os questionários no final. Não há resultados ainda, e nenhum número desta apresentação vem de alunos.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fortes: não há fila externa, só o PostgreSQL; o isolamento é o da IOI, sem Docker privilegiado; e a IA está sob controle do professor, com entrada delimitada contra prompt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limitação é a maior: sem o teste em sala, a pergunta de pesquisa continua sem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produção o judge roda numa vCPU, e o benchmark mostrou que aí o pool de workers não ajuda.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benchmark de vereditos achou isto: o console do Portugol imprime erros na saída padrão e termina com sucesso, então erro de compilação e de execução viram resposta errada. A correção é reconhecer as mensagens de erro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MLE depende de pico de memória e de mensagens de erro; um programa que quebra antes de usar a memória vira erro de execução. O modo cgroups do isolate resolveria, mas exige mais configuração do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restrições estruturais são uma busca no texto; strings e comentários enganam. Um parser por linguagem resolveria.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Trabalhos futuros: detectar código gerado por IA; ativar o modo cgroups do isolate, que dá limite de memória por caixa e um sinal limpo de estouro; e um judge com vários núcleos em produção, para o pool de workers valer a pena. E, claro, a avaliação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próximas etapas, em ordem: o teste em sala no dia 29, a análise dos dados, com o SUS e os dados de uso do próprio sistema, e a defesa.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Obrigado.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WhyRunner · TCC II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10" Type="http://schemas.openxmlformats.org/officeDocument/2006/relationships/image" Target="../media/v4-screenshots-v4-verdicts-contest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10" Type="http://schemas.openxmlformats.org/officeDocument/2006/relationships/image" Target="../media/v4-screenshots-v4-compare-checker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10" Type="http://schemas.openxmlformats.org/officeDocument/2006/relationships/image" Target="../media/v4-charts-compare_modes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10" Type="http://schemas.openxmlformats.org/officeDocument/2006/relationships/image" Target="../media/v4-charts-concurrency_throughput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10" Type="http://schemas.openxmlformats.org/officeDocument/2006/relationships/image" Target="../media/v4-charts-concurrency_latency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10" Type="http://schemas.openxmlformats.org/officeDocument/2006/relationships/image" Target="../media/v4-charts-concurrency_1cpu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10" Type="http://schemas.openxmlformats.org/officeDocument/2006/relationships/image" Target="../media/v4-charts-e2e_stages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10" Type="http://schemas.openxmlformats.org/officeDocument/2006/relationships/image" Target="../media/v4-charts-lang_time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10" Type="http://schemas.openxmlformats.org/officeDocument/2006/relationships/image" Target="../media/v4-charts-lang_memory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10" Type="http://schemas.openxmlformats.org/officeDocument/2006/relationships/image" Target="../media/v4-charts-sandbox_overhead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10" Type="http://schemas.openxmlformats.org/officeDocument/2006/relationships/image" Target="../media/v4-charts-verdict_confusion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10" Type="http://schemas.openxmlformats.org/officeDocument/2006/relationships/image" Target="../media/v4-charts-ci_jobs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10" Type="http://schemas.openxmlformats.org/officeDocument/2006/relationships/image" Target="../media/v4-screenshots-validacao-aprovada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10" Type="http://schemas.openxmlformats.org/officeDocument/2006/relationships/image" Target="../media/v4-charts-ai_reference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10" Type="http://schemas.openxmlformats.org/officeDocument/2006/relationships/image" Target="../media/v4-screenshots-ia-narrativa-tags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10" Type="http://schemas.openxmlformats.org/officeDocument/2006/relationships/image" Target="../media/v4-screenshots-ia-revisao-casos-borda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10" Type="http://schemas.openxmlformats.org/officeDocument/2006/relationships/image" Target="../media/v4-screenshots-previsualizacao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10" Type="http://schemas.openxmlformats.org/officeDocument/2006/relationships/image" Target="../media/v4-charts-ai_latency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10" Type="http://schemas.openxmlformats.org/officeDocument/2006/relationships/image" Target="../media/v4-screenshots-lista-problemas-filtros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10" Type="http://schemas.openxmlformats.org/officeDocument/2006/relationships/image" Target="../media/v4-screenshots-v4-problem-import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10" Type="http://schemas.openxmlformats.org/officeDocument/2006/relationships/image" Target="../media/v4-screenshots-v4-contest-settings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10" Type="http://schemas.openxmlformats.org/officeDocument/2006/relationships/image" Target="../media/v4-screenshots-torneio-busca-codigo.png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10" Type="http://schemas.openxmlformats.org/officeDocument/2006/relationships/image" Target="../media/v4-screenshots-v4-contest-join-requests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10" Type="http://schemas.openxmlformats.org/officeDocument/2006/relationships/image" Target="../media/v4-screenshots-v4-standings.pn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10" Type="http://schemas.openxmlformats.org/officeDocument/2006/relationships/image" Target="../media/v4-charts-web_compute.png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10" Type="http://schemas.openxmlformats.org/officeDocument/2006/relationships/image" Target="../media/v4-screenshots-v4-home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10" Type="http://schemas.openxmlformats.org/officeDocument/2006/relationships/image" Target="../media/v4-screenshots-editor-autosave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10" Type="http://schemas.openxmlformats.org/officeDocument/2006/relationships/image" Target="../media/v4-screenshots-submissoes-explicar.png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10" Type="http://schemas.openxmlformats.org/officeDocument/2006/relationships/image" Target="../media/v4-screenshots-torneio-editor.png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10" Type="http://schemas.openxmlformats.org/officeDocument/2006/relationships/image" Target="../media/v4-screenshots-v4-command-palette.png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10" Type="http://schemas.openxmlformats.org/officeDocument/2006/relationships/image" Target="../media/v4-screenshots-v4-command-palette-hint.png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10" Type="http://schemas.openxmlformats.org/officeDocument/2006/relationships/image" Target="../media/v4-screenshots-v4-notifications.png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10" Type="http://schemas.openxmlformats.org/officeDocument/2006/relationships/image" Target="../media/v4-screenshots-v4-profile.png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10" Type="http://schemas.openxmlformats.org/officeDocument/2006/relationships/image" Target="../media/v4-screenshots-v4-settings-theme.png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10" Type="http://schemas.openxmlformats.org/officeDocument/2006/relationships/image" Target="../media/v4-screenshots-v4-404.png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10" Type="http://schemas.openxmlformats.org/officeDocument/2006/relationships/image" Target="../media/v4-screenshots-turma-codigo.png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10" Type="http://schemas.openxmlformats.org/officeDocument/2006/relationships/image" Target="../media/v4-screenshots-v4-class-lessons.png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10" Type="http://schemas.openxmlformats.org/officeDocument/2006/relationships/image" Target="../media/v4-screenshots-formato-blocos.png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10" Type="http://schemas.openxmlformats.org/officeDocument/2006/relationships/image" Target="../media/v4-screenshots-formato-parsons.png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10" Type="http://schemas.openxmlformats.org/officeDocument/2006/relationships/image" Target="../media/v4-screenshots-solution-constraints.png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10" Type="http://schemas.openxmlformats.org/officeDocument/2006/relationships/image" Target="../media/v4-charts-constraints_accuracy.png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10" Type="http://schemas.openxmlformats.org/officeDocument/2006/relationships/image" Target="../media/v4-screenshots-revisao-professor.png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10" Type="http://schemas.openxmlformats.org/officeDocument/2006/relationships/image" Target="../media/v4-screenshots-v4-gradebook.png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10" Type="http://schemas.openxmlformats.org/officeDocument/2006/relationships/image" Target="../media/v4-screenshots-v4-similarity-pairs.png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10" Type="http://schemas.openxmlformats.org/officeDocument/2006/relationships/image" Target="../media/v4-screenshots-v4-similarity-side-by-side.png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10" Type="http://schemas.openxmlformats.org/officeDocument/2006/relationships/image" Target="../media/v4-screenshots-v4-similarity-exercise.png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10" Type="http://schemas.openxmlformats.org/officeDocument/2006/relationships/image" Target="../media/v4-charts-plagiarism_levels.png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10" Type="http://schemas.openxmlformats.org/officeDocument/2006/relationships/image" Target="../media/v4-charts-plagiarism_roc.png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10" Type="http://schemas.openxmlformats.org/officeDocument/2006/relationships/image" Target="../media/v4-charts-plagiarism_perf.png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10" Type="http://schemas.openxmlformats.org/officeDocument/2006/relationships/image" Target="../media/v4-screenshots-v4-survey-banner.png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Relationship Id="rId10" Type="http://schemas.openxmlformats.org/officeDocument/2006/relationships/image" Target="../media/v4-screenshots-v4-survey-tcle.png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10" Type="http://schemas.openxmlformats.org/officeDocument/2006/relationships/image" Target="../media/v4-screenshots-v4-survey-sus.png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Relationship Id="rId10" Type="http://schemas.openxmlformats.org/officeDocument/2006/relationships/image" Target="../media/v4-screenshots-v4-survey-results.png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./whyrunner --tcc-ii --v4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WhyRunner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Juiz online para o ensino de programação, com dicas de IA que o professor controla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Juan Israel dos Anjos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Orientadora: Suellen Mapa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Bacharelado em Sistemas de Informação · IFMG Ouro Branco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TCC II · Apresentação · outubro de 2026</a:t>
            </a:r>
            <a:endParaRPr lang="en-US" sz="1500" dirty="0"/>
          </a:p>
        </p:txBody>
      </p:sp>
      <p:sp>
        <p:nvSpPr>
          <p:cNvPr id="6" name="frame-ai-ladder"/>
          <p:cNvSpPr/>
          <p:nvPr/>
        </p:nvSpPr>
        <p:spPr>
          <a:xfrm>
            <a:off x="7050024" y="1243584"/>
            <a:ext cx="4553712" cy="413366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shot-ai-ladder" descr="ai-lad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280160"/>
            <a:ext cx="4480560" cy="40605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55235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Dica da IA em dois níveis, dentro de um torneio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 · TRABALHOS RELACIONADOS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dos sistemas analisados ensina, só corrige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Sistema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Feedback IA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Linguagens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Tempo real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Aulas curadas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Restrições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Portugol + blocos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Ataux (2021)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Limitadas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GOJ – UnB (2022)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Moderadas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Limitado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Run Codes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Muitas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BOCA (2004)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Moderadas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2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WhyRunner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8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Diferencial: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dicas por IA, aulas montadas pelo professor, Portugol com blocos e restrições de solução: verificar </a:t>
            </a:r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como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o aluno resolveu, não só se a saída está certa.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METODOLOGIA · ETAPAS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iterativos: cada versão corrigiu a anterior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TENTADO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ADOTADO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Fila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965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BullMQ → AWS SQS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659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965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PostgreSQL LISTEN/NOTIFY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19659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sem polling ocioso nem outro serviço pago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0720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07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API NestJS separada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80720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807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Next.js Server Actions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8072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tipos e autenticação não ficam duplicados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648456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Banco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6484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Supabase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64845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6484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PostgreSQL + Drizzle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364845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liberdade para lógica no servidor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489704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489704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Sandbox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448970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</a:rPr>
              <a:t>Docker por submissão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448970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48970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isolate (usado na IOI; MAREŠ; BLACKHAM, 2012)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549640" y="448970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Docker exigia host privilegiado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57607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4864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Levantamento: literatura + conversas com alunos + experiência própria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5486400"/>
            <a:ext cx="329184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5486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MVP testado informalmente no Discord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ANTHROPIC. Claude Haiku 5.5. 2026. Disponível em: https://www.anthropic.com/claude.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BROOKE, J. SUS: a quick and dirty usability scale. Usability Evaluation in Industry, 1996.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CAMPOS, C. P.; FERREIRA, C. E. BOCA: um sistema de apoio a competições de programação. WEI, 2004.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CARNEIRO, M. F. Sistema web para auxílio no treinamento para maratonas de programação. UTFPR, 2012.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DRIZZLE TEAM. Drizzle ORM: TypeScript ORM for SQL. 2024.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GEMINI TEAM, GOOGLE. Gemini: a family of highly capable multimodal models. 2023.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LIMA, G. M. Gamma Online Judge: plataforma para as questões das maratonas UnB de programação. 2022.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MAREŠ, M.; BLACKHAM, B. A new contest sandbox. Olympiads in Informatics, v. 6, 2012.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MATSAKIS, N. D.; KLOCK, F. S. The Rust language. ACM SIGAda Ada Letters, 2014.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MERKEL, D. Docker: lightweight Linux containers for consistent development and deployment. Linux Journal, 2014.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RUN CODES. Run Codes: plataforma de programação online. 2024.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SCHLEIMER, S.; WILKERSON, D. S.; AIKEN, A. Winnowing: local algorithms for document fingerprinting. ACM SIGMOD, 2003.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SILVA, J. T. S. et al. Ataux: uma ferramenta para auxiliar o acompanhamento de submissões de questões de programação. 2021.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STONEBRAKER, M.; ROWE, L. A. The design of POSTGRES. ACM SIGMOD, 1986.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VERCEL INC. Next.js: the React framework for the web. 2024.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Juízes online corrigem código; ensinar é outra coisa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2651760" y="2011680"/>
            <a:ext cx="6858000" cy="2377440"/>
          </a:xfrm>
          <a:prstGeom prst="roundRect">
            <a:avLst>
              <a:gd name="adj" fmla="val 6000"/>
            </a:avLst>
          </a:prstGeom>
          <a:solidFill>
            <a:srgbClr val="151B2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2651760" y="2240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Wrong Answer</a:t>
            </a:r>
            <a:endParaRPr lang="pt-BR" sz="4800" dirty="0"/>
          </a:p>
        </p:txBody>
      </p:sp>
      <p:sp>
        <p:nvSpPr>
          <p:cNvPr id="23" name="Text 23"/>
          <p:cNvSpPr txBox="1"/>
          <p:nvPr/>
        </p:nvSpPr>
        <p:spPr>
          <a:xfrm>
            <a:off x="2651760" y="3429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8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teste 3 de 10 · sem explicação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e atividades curadas tornam o juiz útil para ensinar?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280160" y="1828800"/>
            <a:ext cx="9601200" cy="3108960"/>
          </a:xfrm>
          <a:prstGeom prst="roundRect">
            <a:avLst>
              <a:gd name="adj" fmla="val 5000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28016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 DE PESQUISA</a:t>
            </a:r>
            <a:endParaRPr lang="pt-BR" sz="1400" dirty="0"/>
          </a:p>
        </p:txBody>
      </p:sp>
      <p:sp>
        <p:nvSpPr>
          <p:cNvPr id="23" name="Text 23"/>
          <p:cNvSpPr txBox="1"/>
          <p:nvPr/>
        </p:nvSpPr>
        <p:spPr>
          <a:xfrm>
            <a:off x="1737360" y="246888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000" b="1" dirty="0">
                <a:solidFill>
                  <a:schemeClr val="bg1"/>
                </a:solidFill>
              </a:rPr>
              <a:t>Feedback por IA e atividades curadas tornam o juiz útil para ensinar?</a:t>
            </a:r>
            <a:endParaRPr lang="pt-B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objetivo é um juiz online feito para a sala de aula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929488" y="3108960"/>
            <a:ext cx="357759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929488" y="3108960"/>
            <a:ext cx="3577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 com segurança</a:t>
            </a:r>
            <a:endParaRPr lang="pt-BR" sz="2000" dirty="0"/>
          </a:p>
        </p:txBody>
      </p:sp>
      <p:sp>
        <p:nvSpPr>
          <p:cNvPr id="23" name="Shape 23"/>
          <p:cNvSpPr/>
          <p:nvPr/>
        </p:nvSpPr>
        <p:spPr>
          <a:xfrm>
            <a:off x="4827118" y="3108960"/>
            <a:ext cx="253746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4827118" y="3108960"/>
            <a:ext cx="2537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 o erro</a:t>
            </a:r>
            <a:endParaRPr lang="pt-BR" sz="2000" dirty="0"/>
          </a:p>
        </p:txBody>
      </p:sp>
      <p:sp>
        <p:nvSpPr>
          <p:cNvPr id="25" name="Shape 25"/>
          <p:cNvSpPr/>
          <p:nvPr/>
        </p:nvSpPr>
        <p:spPr>
          <a:xfrm>
            <a:off x="7684618" y="3108960"/>
            <a:ext cx="357759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684618" y="3108960"/>
            <a:ext cx="3577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 no controle</a:t>
            </a:r>
            <a:endParaRPr lang="pt-B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que nenhum dos sistemas analisados tem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449553" y="3291840"/>
            <a:ext cx="224028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449553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dicas por IA</a:t>
            </a:r>
            <a:endParaRPr lang="pt-BR" sz="2000" dirty="0"/>
          </a:p>
        </p:txBody>
      </p:sp>
      <p:sp>
        <p:nvSpPr>
          <p:cNvPr id="23" name="Shape 23"/>
          <p:cNvSpPr/>
          <p:nvPr/>
        </p:nvSpPr>
        <p:spPr>
          <a:xfrm>
            <a:off x="4009873" y="3291840"/>
            <a:ext cx="31318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4009873" y="3291840"/>
            <a:ext cx="3131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aulas do professor</a:t>
            </a:r>
            <a:endParaRPr lang="pt-BR" sz="2000" dirty="0"/>
          </a:p>
        </p:txBody>
      </p:sp>
      <p:sp>
        <p:nvSpPr>
          <p:cNvPr id="25" name="Shape 25"/>
          <p:cNvSpPr/>
          <p:nvPr/>
        </p:nvSpPr>
        <p:spPr>
          <a:xfrm>
            <a:off x="7461733" y="3291840"/>
            <a:ext cx="328041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7461733" y="3291840"/>
            <a:ext cx="3280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Portugol com blocos</a:t>
            </a:r>
            <a:endParaRPr lang="pt-B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serviços que só conversam pelo banco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48640" y="274320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0080" y="295351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Navegador</a:t>
            </a:r>
            <a:endParaRPr lang="pt-BR" sz="1700" dirty="0"/>
          </a:p>
        </p:txBody>
      </p:sp>
      <p:sp>
        <p:nvSpPr>
          <p:cNvPr id="23" name="Text 23"/>
          <p:cNvSpPr txBox="1"/>
          <p:nvPr/>
        </p:nvSpPr>
        <p:spPr>
          <a:xfrm>
            <a:off x="640080" y="33832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React · TanStack Query</a:t>
            </a:r>
            <a:endParaRPr lang="pt-BR" sz="1200" dirty="0"/>
          </a:p>
        </p:txBody>
      </p:sp>
      <p:cxnSp>
        <p:nvCxnSpPr>
          <p:cNvPr id="24" name="Arrow 24"/>
          <p:cNvCxnSpPr/>
          <p:nvPr/>
        </p:nvCxnSpPr>
        <p:spPr>
          <a:xfrm>
            <a:off x="2420051" y="333756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5" name="Shape 25"/>
          <p:cNvSpPr/>
          <p:nvPr/>
        </p:nvSpPr>
        <p:spPr>
          <a:xfrm>
            <a:off x="2868107" y="274320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2959547" y="295351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Next.js</a:t>
            </a:r>
            <a:endParaRPr lang="pt-BR" sz="1700" dirty="0"/>
          </a:p>
        </p:txBody>
      </p:sp>
      <p:sp>
        <p:nvSpPr>
          <p:cNvPr id="27" name="Text 27"/>
          <p:cNvSpPr txBox="1"/>
          <p:nvPr/>
        </p:nvSpPr>
        <p:spPr>
          <a:xfrm>
            <a:off x="2959547" y="33832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Server Actions</a:t>
            </a:r>
            <a:endParaRPr lang="pt-BR" sz="1200" dirty="0"/>
          </a:p>
        </p:txBody>
      </p:sp>
      <p:cxnSp>
        <p:nvCxnSpPr>
          <p:cNvPr id="28" name="Arrow 28"/>
          <p:cNvCxnSpPr/>
          <p:nvPr/>
        </p:nvCxnSpPr>
        <p:spPr>
          <a:xfrm>
            <a:off x="4739518" y="333756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9" name="Shape 29"/>
          <p:cNvSpPr/>
          <p:nvPr/>
        </p:nvSpPr>
        <p:spPr>
          <a:xfrm>
            <a:off x="5187574" y="274320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5279014" y="295351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PostgreSQL</a:t>
            </a:r>
            <a:endParaRPr lang="pt-BR" sz="1700" dirty="0"/>
          </a:p>
        </p:txBody>
      </p:sp>
      <p:sp>
        <p:nvSpPr>
          <p:cNvPr id="31" name="Text 31"/>
          <p:cNvSpPr txBox="1"/>
          <p:nvPr/>
        </p:nvSpPr>
        <p:spPr>
          <a:xfrm>
            <a:off x="5279014" y="33832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LISTEN / NOTIFY</a:t>
            </a:r>
            <a:endParaRPr lang="pt-BR" sz="1200" dirty="0"/>
          </a:p>
        </p:txBody>
      </p:sp>
      <p:cxnSp>
        <p:nvCxnSpPr>
          <p:cNvPr id="32" name="Arrow 32"/>
          <p:cNvCxnSpPr/>
          <p:nvPr/>
        </p:nvCxnSpPr>
        <p:spPr>
          <a:xfrm>
            <a:off x="7058985" y="333756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3" name="Shape 33"/>
          <p:cNvSpPr/>
          <p:nvPr/>
        </p:nvSpPr>
        <p:spPr>
          <a:xfrm>
            <a:off x="7507041" y="274320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7598481" y="295351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Judge</a:t>
            </a:r>
            <a:endParaRPr lang="pt-BR" sz="1700" dirty="0"/>
          </a:p>
        </p:txBody>
      </p:sp>
      <p:sp>
        <p:nvSpPr>
          <p:cNvPr id="35" name="Text 35"/>
          <p:cNvSpPr txBox="1"/>
          <p:nvPr/>
        </p:nvSpPr>
        <p:spPr>
          <a:xfrm>
            <a:off x="7598481" y="33832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Rust · tokio · sqlx</a:t>
            </a:r>
            <a:endParaRPr lang="pt-BR" sz="1200" dirty="0"/>
          </a:p>
        </p:txBody>
      </p:sp>
      <p:cxnSp>
        <p:nvCxnSpPr>
          <p:cNvPr id="36" name="Arrow 36"/>
          <p:cNvCxnSpPr/>
          <p:nvPr/>
        </p:nvCxnSpPr>
        <p:spPr>
          <a:xfrm>
            <a:off x="9378452" y="333756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7" name="Shape 37"/>
          <p:cNvSpPr/>
          <p:nvPr/>
        </p:nvSpPr>
        <p:spPr>
          <a:xfrm>
            <a:off x="9826508" y="2743200"/>
            <a:ext cx="1816547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9917948" y="2953512"/>
            <a:ext cx="1633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isolate</a:t>
            </a:r>
            <a:endParaRPr lang="pt-BR" sz="1700" dirty="0"/>
          </a:p>
        </p:txBody>
      </p:sp>
      <p:sp>
        <p:nvSpPr>
          <p:cNvPr id="39" name="Text 39"/>
          <p:cNvSpPr txBox="1"/>
          <p:nvPr/>
        </p:nvSpPr>
        <p:spPr>
          <a:xfrm>
            <a:off x="9917948" y="3383280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sem rede · limites</a:t>
            </a:r>
            <a:endParaRPr lang="pt-BR" sz="1200" dirty="0"/>
          </a:p>
        </p:txBody>
      </p:sp>
      <p:sp>
        <p:nvSpPr>
          <p:cNvPr id="40" name="Text 40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O site grava; o judge escuta, executa e grava o veredito.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METODOLOGIA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passa por uma cadeia de três modelos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097280" y="2560320"/>
            <a:ext cx="2987040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188720" y="2816352"/>
            <a:ext cx="280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Gemini 3.5 Flash</a:t>
            </a:r>
            <a:endParaRPr lang="pt-BR" sz="1700" dirty="0"/>
          </a:p>
        </p:txBody>
      </p:sp>
      <p:sp>
        <p:nvSpPr>
          <p:cNvPr id="23" name="Text 23"/>
          <p:cNvSpPr txBox="1"/>
          <p:nvPr/>
        </p:nvSpPr>
        <p:spPr>
          <a:xfrm>
            <a:off x="1188720" y="324612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principal</a:t>
            </a:r>
            <a:endParaRPr lang="pt-BR" sz="1200" dirty="0"/>
          </a:p>
        </p:txBody>
      </p:sp>
      <p:cxnSp>
        <p:nvCxnSpPr>
          <p:cNvPr id="24" name="Arrow 24"/>
          <p:cNvCxnSpPr/>
          <p:nvPr/>
        </p:nvCxnSpPr>
        <p:spPr>
          <a:xfrm>
            <a:off x="4139184" y="3200400"/>
            <a:ext cx="393192" cy="0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25" name="Text 25"/>
          <p:cNvSpPr txBox="1"/>
          <p:nvPr/>
        </p:nvSpPr>
        <p:spPr>
          <a:xfrm>
            <a:off x="3901440" y="28712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falhou</a:t>
            </a:r>
            <a:endParaRPr lang="pt-BR" sz="1000" dirty="0"/>
          </a:p>
        </p:txBody>
      </p:sp>
      <p:sp>
        <p:nvSpPr>
          <p:cNvPr id="26" name="Shape 26"/>
          <p:cNvSpPr/>
          <p:nvPr/>
        </p:nvSpPr>
        <p:spPr>
          <a:xfrm>
            <a:off x="4587240" y="2560320"/>
            <a:ext cx="2987040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4678680" y="2816352"/>
            <a:ext cx="280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Flash-Lite</a:t>
            </a:r>
            <a:endParaRPr lang="pt-BR" sz="1700" dirty="0"/>
          </a:p>
        </p:txBody>
      </p:sp>
      <p:sp>
        <p:nvSpPr>
          <p:cNvPr id="28" name="Text 28"/>
          <p:cNvSpPr txBox="1"/>
          <p:nvPr/>
        </p:nvSpPr>
        <p:spPr>
          <a:xfrm>
            <a:off x="4678680" y="324612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fallback 1</a:t>
            </a:r>
            <a:endParaRPr lang="pt-BR" sz="1200" dirty="0"/>
          </a:p>
        </p:txBody>
      </p:sp>
      <p:cxnSp>
        <p:nvCxnSpPr>
          <p:cNvPr id="29" name="Arrow 29"/>
          <p:cNvCxnSpPr/>
          <p:nvPr/>
        </p:nvCxnSpPr>
        <p:spPr>
          <a:xfrm>
            <a:off x="7629144" y="3200400"/>
            <a:ext cx="393192" cy="0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30" name="Text 30"/>
          <p:cNvSpPr txBox="1"/>
          <p:nvPr/>
        </p:nvSpPr>
        <p:spPr>
          <a:xfrm>
            <a:off x="7391400" y="28712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falhou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8077200" y="2560320"/>
            <a:ext cx="2987040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2" name="Text 32"/>
          <p:cNvSpPr txBox="1"/>
          <p:nvPr/>
        </p:nvSpPr>
        <p:spPr>
          <a:xfrm>
            <a:off x="8168640" y="2816352"/>
            <a:ext cx="280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700" b="1" dirty="0">
                <a:solidFill>
                  <a:schemeClr val="bg1"/>
                </a:solidFill>
              </a:rPr>
              <a:t>Claude Haiku 5.5</a:t>
            </a:r>
            <a:endParaRPr lang="pt-BR" sz="1700" dirty="0"/>
          </a:p>
        </p:txBody>
      </p:sp>
      <p:sp>
        <p:nvSpPr>
          <p:cNvPr id="33" name="Text 33"/>
          <p:cNvSpPr txBox="1"/>
          <p:nvPr/>
        </p:nvSpPr>
        <p:spPr>
          <a:xfrm>
            <a:off x="8168640" y="324612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se ANTHROPIC_API_KEY</a:t>
            </a:r>
            <a:endParaRPr lang="pt-BR" sz="1200" dirty="0"/>
          </a:p>
        </p:txBody>
      </p:sp>
      <p:sp>
        <p:nvSpPr>
          <p:cNvPr id="34" name="Text 34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30 s por tentativa · só o Next.js chama a IA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judge executa e corrige; o site só pede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31520" y="219456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800" b="1" dirty="0">
                <a:solidFill>
                  <a:schemeClr val="accent1"/>
                </a:solidFill>
              </a:rPr>
              <a:t>O judge</a:t>
            </a:r>
            <a:endParaRPr lang="pt-BR" sz="4800" dirty="0"/>
          </a:p>
        </p:txBody>
      </p:sp>
      <p:sp>
        <p:nvSpPr>
          <p:cNvPr id="22" name="Text 22"/>
          <p:cNvSpPr txBox="1"/>
          <p:nvPr/>
        </p:nvSpPr>
        <p:spPr>
          <a:xfrm>
            <a:off x="731520" y="3749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800" dirty="0">
                <a:solidFill>
                  <a:schemeClr val="bg2"/>
                </a:solidFill>
              </a:rPr>
              <a:t>execução, veredictos e comparação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código roda numa caixa sem rede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3566160" y="18288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22" name="Text 22"/>
          <p:cNvSpPr txBox="1"/>
          <p:nvPr/>
        </p:nvSpPr>
        <p:spPr>
          <a:xfrm>
            <a:off x="356616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caixa do isolate</a:t>
            </a:r>
            <a:endParaRPr lang="pt-BR" sz="1400" dirty="0"/>
          </a:p>
        </p:txBody>
      </p:sp>
      <p:sp>
        <p:nvSpPr>
          <p:cNvPr id="23" name="Text 23"/>
          <p:cNvSpPr txBox="1"/>
          <p:nvPr/>
        </p:nvSpPr>
        <p:spPr>
          <a:xfrm>
            <a:off x="3566160" y="2560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800" b="1" dirty="0">
                <a:solidFill>
                  <a:schemeClr val="bg1"/>
                </a:solidFill>
              </a:rPr>
              <a:t>programa do aluno</a:t>
            </a:r>
            <a:endParaRPr lang="pt-BR" sz="2800" dirty="0"/>
          </a:p>
        </p:txBody>
      </p:sp>
      <p:sp>
        <p:nvSpPr>
          <p:cNvPr id="24" name="Shape 24"/>
          <p:cNvSpPr/>
          <p:nvPr/>
        </p:nvSpPr>
        <p:spPr>
          <a:xfrm>
            <a:off x="2890876" y="5029200"/>
            <a:ext cx="1408176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2890876" y="5029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rede</a:t>
            </a:r>
            <a:endParaRPr lang="pt-BR" sz="1600" dirty="0"/>
          </a:p>
        </p:txBody>
      </p:sp>
      <p:sp>
        <p:nvSpPr>
          <p:cNvPr id="26" name="Shape 26"/>
          <p:cNvSpPr/>
          <p:nvPr/>
        </p:nvSpPr>
        <p:spPr>
          <a:xfrm>
            <a:off x="4619092" y="5029200"/>
            <a:ext cx="2240280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4619092" y="5029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 e memória</a:t>
            </a:r>
            <a:endParaRPr lang="pt-BR" sz="1600" dirty="0"/>
          </a:p>
        </p:txBody>
      </p:sp>
      <p:sp>
        <p:nvSpPr>
          <p:cNvPr id="28" name="Shape 28"/>
          <p:cNvSpPr/>
          <p:nvPr/>
        </p:nvSpPr>
        <p:spPr>
          <a:xfrm>
            <a:off x="7179412" y="5029200"/>
            <a:ext cx="2121408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7179412" y="50292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64 processos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linguagens, do C ao Portugol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237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8151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C</a:t>
            </a:r>
            <a:endParaRPr lang="pt-BR" sz="2200" dirty="0"/>
          </a:p>
        </p:txBody>
      </p:sp>
      <p:sp>
        <p:nvSpPr>
          <p:cNvPr id="23" name="Shape 23"/>
          <p:cNvSpPr/>
          <p:nvPr/>
        </p:nvSpPr>
        <p:spPr>
          <a:xfrm>
            <a:off x="25525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26439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C++</a:t>
            </a:r>
            <a:endParaRPr lang="pt-BR" sz="2200" dirty="0"/>
          </a:p>
        </p:txBody>
      </p:sp>
      <p:sp>
        <p:nvSpPr>
          <p:cNvPr id="25" name="Shape 25"/>
          <p:cNvSpPr/>
          <p:nvPr/>
        </p:nvSpPr>
        <p:spPr>
          <a:xfrm>
            <a:off x="43813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44727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Java</a:t>
            </a:r>
            <a:endParaRPr lang="pt-BR" sz="2200" dirty="0"/>
          </a:p>
        </p:txBody>
      </p:sp>
      <p:sp>
        <p:nvSpPr>
          <p:cNvPr id="27" name="Shape 27"/>
          <p:cNvSpPr/>
          <p:nvPr/>
        </p:nvSpPr>
        <p:spPr>
          <a:xfrm>
            <a:off x="62101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63015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Python</a:t>
            </a:r>
            <a:endParaRPr lang="pt-BR" sz="2200" dirty="0"/>
          </a:p>
        </p:txBody>
      </p:sp>
      <p:sp>
        <p:nvSpPr>
          <p:cNvPr id="29" name="Shape 29"/>
          <p:cNvSpPr/>
          <p:nvPr/>
        </p:nvSpPr>
        <p:spPr>
          <a:xfrm>
            <a:off x="80389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1303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Rust</a:t>
            </a:r>
            <a:endParaRPr lang="pt-BR" sz="2200" dirty="0"/>
          </a:p>
        </p:txBody>
      </p:sp>
      <p:sp>
        <p:nvSpPr>
          <p:cNvPr id="31" name="Shape 31"/>
          <p:cNvSpPr/>
          <p:nvPr/>
        </p:nvSpPr>
        <p:spPr>
          <a:xfrm>
            <a:off x="9867748" y="2743200"/>
            <a:ext cx="1600200" cy="109728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9959188" y="27432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Portugol</a:t>
            </a:r>
            <a:endParaRPr lang="pt-B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falha agora tem nome: seis veredictos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09448" y="24688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09448" y="2468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</a:t>
            </a:r>
            <a:endParaRPr lang="pt-BR" sz="3000" dirty="0"/>
          </a:p>
        </p:txBody>
      </p:sp>
      <p:sp>
        <p:nvSpPr>
          <p:cNvPr id="23" name="Text 23"/>
          <p:cNvSpPr txBox="1"/>
          <p:nvPr/>
        </p:nvSpPr>
        <p:spPr>
          <a:xfrm>
            <a:off x="518008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Aceito</a:t>
            </a:r>
            <a:endParaRPr lang="pt-BR" sz="1300" dirty="0"/>
          </a:p>
        </p:txBody>
      </p:sp>
      <p:sp>
        <p:nvSpPr>
          <p:cNvPr id="24" name="Shape 24"/>
          <p:cNvSpPr/>
          <p:nvPr/>
        </p:nvSpPr>
        <p:spPr>
          <a:xfrm>
            <a:off x="2483968" y="24688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F0566A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2483968" y="2468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000" b="1" dirty="0">
                <a:solidFill>
                  <a:srgbClr val="F05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</a:t>
            </a:r>
            <a:endParaRPr lang="pt-BR" sz="3000" dirty="0"/>
          </a:p>
        </p:txBody>
      </p:sp>
      <p:sp>
        <p:nvSpPr>
          <p:cNvPr id="26" name="Text 26"/>
          <p:cNvSpPr txBox="1"/>
          <p:nvPr/>
        </p:nvSpPr>
        <p:spPr>
          <a:xfrm>
            <a:off x="2392528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Resposta errada</a:t>
            </a:r>
            <a:endParaRPr lang="pt-BR" sz="1300" dirty="0"/>
          </a:p>
        </p:txBody>
      </p:sp>
      <p:sp>
        <p:nvSpPr>
          <p:cNvPr id="27" name="Shape 27"/>
          <p:cNvSpPr/>
          <p:nvPr/>
        </p:nvSpPr>
        <p:spPr>
          <a:xfrm>
            <a:off x="4358488" y="24688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4358488" y="2468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0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TLE</a:t>
            </a:r>
            <a:endParaRPr lang="pt-BR" sz="3000" dirty="0"/>
          </a:p>
        </p:txBody>
      </p:sp>
      <p:sp>
        <p:nvSpPr>
          <p:cNvPr id="29" name="Text 29"/>
          <p:cNvSpPr txBox="1"/>
          <p:nvPr/>
        </p:nvSpPr>
        <p:spPr>
          <a:xfrm>
            <a:off x="4267048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Tempo excedido</a:t>
            </a:r>
            <a:endParaRPr lang="pt-BR" sz="1300" dirty="0"/>
          </a:p>
        </p:txBody>
      </p:sp>
      <p:sp>
        <p:nvSpPr>
          <p:cNvPr id="30" name="Shape 30"/>
          <p:cNvSpPr/>
          <p:nvPr/>
        </p:nvSpPr>
        <p:spPr>
          <a:xfrm>
            <a:off x="6233008" y="24688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6233008" y="2468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0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MLE</a:t>
            </a:r>
            <a:endParaRPr lang="pt-BR" sz="3000" dirty="0"/>
          </a:p>
        </p:txBody>
      </p:sp>
      <p:sp>
        <p:nvSpPr>
          <p:cNvPr id="32" name="Text 32"/>
          <p:cNvSpPr txBox="1"/>
          <p:nvPr/>
        </p:nvSpPr>
        <p:spPr>
          <a:xfrm>
            <a:off x="6141568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Memória excedida</a:t>
            </a:r>
            <a:endParaRPr lang="pt-BR" sz="1300" dirty="0"/>
          </a:p>
        </p:txBody>
      </p:sp>
      <p:sp>
        <p:nvSpPr>
          <p:cNvPr id="33" name="Shape 33"/>
          <p:cNvSpPr/>
          <p:nvPr/>
        </p:nvSpPr>
        <p:spPr>
          <a:xfrm>
            <a:off x="8107528" y="24688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8107528" y="2468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00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</a:t>
            </a:r>
            <a:endParaRPr lang="pt-BR" sz="3000" dirty="0"/>
          </a:p>
        </p:txBody>
      </p:sp>
      <p:sp>
        <p:nvSpPr>
          <p:cNvPr id="35" name="Text 35"/>
          <p:cNvSpPr txBox="1"/>
          <p:nvPr/>
        </p:nvSpPr>
        <p:spPr>
          <a:xfrm>
            <a:off x="8016088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Erro de compilação</a:t>
            </a:r>
            <a:endParaRPr lang="pt-BR" sz="1300" dirty="0"/>
          </a:p>
        </p:txBody>
      </p:sp>
      <p:sp>
        <p:nvSpPr>
          <p:cNvPr id="36" name="Shape 36"/>
          <p:cNvSpPr/>
          <p:nvPr/>
        </p:nvSpPr>
        <p:spPr>
          <a:xfrm>
            <a:off x="9982048" y="2468880"/>
            <a:ext cx="1600200" cy="100584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9982048" y="24688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0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endParaRPr lang="pt-BR" sz="3000" dirty="0"/>
          </a:p>
        </p:txBody>
      </p:sp>
      <p:sp>
        <p:nvSpPr>
          <p:cNvPr id="38" name="Text 38"/>
          <p:cNvSpPr txBox="1"/>
          <p:nvPr/>
        </p:nvSpPr>
        <p:spPr>
          <a:xfrm>
            <a:off x="9890608" y="3611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300" dirty="0">
                <a:solidFill>
                  <a:schemeClr val="bg2"/>
                </a:solidFill>
              </a:rPr>
              <a:t>Erro de execução</a:t>
            </a:r>
            <a:endParaRPr lang="pt-BR" sz="1300" dirty="0"/>
          </a:p>
        </p:txBody>
      </p:sp>
      <p:sp>
        <p:nvSpPr>
          <p:cNvPr id="39" name="Text 39"/>
          <p:cNvSpPr txBox="1"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Antes: só “passou” ou “falhou”.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Aceito: passou em todos os casos de teste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4983480" y="182880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4983480" y="1828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</a:t>
            </a:r>
            <a:endParaRPr lang="pt-BR" sz="4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474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Passou em todos os casos de teste</a:t>
            </a:r>
            <a:endParaRPr lang="pt-BR" sz="2400" dirty="0"/>
          </a:p>
        </p:txBody>
      </p:sp>
      <p:sp>
        <p:nvSpPr>
          <p:cNvPr id="24" name="Text 24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veredito: PASSED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errada: a saída não bate com a esperada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4983480" y="182880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F0566A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4983480" y="1828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000" b="1" dirty="0">
                <a:solidFill>
                  <a:srgbClr val="F05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</a:t>
            </a:r>
            <a:endParaRPr lang="pt-BR" sz="4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474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A saída não bate com a esperada</a:t>
            </a:r>
            <a:endParaRPr lang="pt-BR" sz="2400" dirty="0"/>
          </a:p>
        </p:txBody>
      </p:sp>
      <p:sp>
        <p:nvSpPr>
          <p:cNvPr id="24" name="Text 24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esperado 15 · recebido 14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excedido: o programa não terminou a tempo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4983480" y="182880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4983480" y="1828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0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TLE</a:t>
            </a:r>
            <a:endParaRPr lang="pt-BR" sz="4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474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Não terminou dentro do limite</a:t>
            </a:r>
            <a:endParaRPr lang="pt-BR" sz="2400" dirty="0"/>
          </a:p>
        </p:txBody>
      </p:sp>
      <p:sp>
        <p:nvSpPr>
          <p:cNvPr id="24" name="Text 24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 do problema × fator da linguagem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excedida: o programa pediu memória demais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4983480" y="182880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4983480" y="1828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0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MLE</a:t>
            </a:r>
            <a:endParaRPr lang="pt-BR" sz="4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474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Pediu mais memória que o limite</a:t>
            </a:r>
            <a:endParaRPr lang="pt-BR" sz="2400" dirty="0"/>
          </a:p>
        </p:txBody>
      </p:sp>
      <p:sp>
        <p:nvSpPr>
          <p:cNvPr id="24" name="Text 24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MB em C, C++ e Python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de compilação: o código nem chegou a rodar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4983480" y="182880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4983480" y="1828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00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</a:t>
            </a:r>
            <a:endParaRPr lang="pt-BR" sz="4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474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O código não compilou</a:t>
            </a:r>
            <a:endParaRPr lang="pt-BR" sz="2400" dirty="0"/>
          </a:p>
        </p:txBody>
      </p:sp>
      <p:sp>
        <p:nvSpPr>
          <p:cNvPr id="24" name="Text 24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saída do compilador é mostrada ao aluno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de execução: o programa quebrou no meio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4983480" y="182880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51B23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4983480" y="1828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0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</a:t>
            </a:r>
            <a:endParaRPr lang="pt-BR" sz="4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474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O programa terminou com erro</a:t>
            </a:r>
            <a:endParaRPr lang="pt-BR" sz="2400" dirty="0"/>
          </a:p>
        </p:txBody>
      </p:sp>
      <p:sp>
        <p:nvSpPr>
          <p:cNvPr id="24" name="Text 24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divisão por zero · índice fora do vetor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vê o veredito de cada tentativa</a:t>
            </a:r>
            <a:endParaRPr lang="en-US" sz="3000" dirty="0"/>
          </a:p>
        </p:txBody>
      </p:sp>
      <p:sp>
        <p:nvSpPr>
          <p:cNvPr id="21" name="frame-v4-verdicts-contest.png"/>
          <p:cNvSpPr/>
          <p:nvPr/>
        </p:nvSpPr>
        <p:spPr>
          <a:xfrm>
            <a:off x="512064" y="2068925"/>
            <a:ext cx="11167567" cy="340595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verdicts-contest.png" descr="v4-verdicts-contes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105501"/>
            <a:ext cx="11094415" cy="3332798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Seis tentativas, seis vereditos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de compilação não penaliza no placar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828800" y="2194560"/>
            <a:ext cx="3840480" cy="182880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92024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WA, TLE, RE…</a:t>
            </a:r>
            <a:endParaRPr lang="pt-BR" sz="2400" dirty="0"/>
          </a:p>
        </p:txBody>
      </p:sp>
      <p:sp>
        <p:nvSpPr>
          <p:cNvPr id="23" name="Text 23"/>
          <p:cNvSpPr txBox="1"/>
          <p:nvPr/>
        </p:nvSpPr>
        <p:spPr>
          <a:xfrm>
            <a:off x="1920240" y="3154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+20 min por tentativa</a:t>
            </a:r>
            <a:endParaRPr lang="pt-BR" sz="1600" dirty="0"/>
          </a:p>
        </p:txBody>
      </p:sp>
      <p:sp>
        <p:nvSpPr>
          <p:cNvPr id="24" name="Shape 24"/>
          <p:cNvSpPr/>
          <p:nvPr/>
        </p:nvSpPr>
        <p:spPr>
          <a:xfrm>
            <a:off x="6492240" y="2194560"/>
            <a:ext cx="3840480" cy="182880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658368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800" b="1" dirty="0">
                <a:solidFill>
                  <a:schemeClr val="bg1"/>
                </a:solidFill>
              </a:rPr>
              <a:t>CE</a:t>
            </a:r>
            <a:endParaRPr lang="pt-BR" sz="2800" dirty="0"/>
          </a:p>
        </p:txBody>
      </p:sp>
      <p:sp>
        <p:nvSpPr>
          <p:cNvPr id="26" name="Text 26"/>
          <p:cNvSpPr txBox="1"/>
          <p:nvPr/>
        </p:nvSpPr>
        <p:spPr>
          <a:xfrm>
            <a:off x="6583680" y="3154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não conta no placar</a:t>
            </a:r>
            <a:endParaRPr lang="pt-BR" sz="1600" dirty="0"/>
          </a:p>
        </p:txBody>
      </p:sp>
      <p:sp>
        <p:nvSpPr>
          <p:cNvPr id="27" name="Text 27"/>
          <p:cNvSpPr txBox="1"/>
          <p:nvPr/>
        </p:nvSpPr>
        <p:spPr>
          <a:xfrm>
            <a:off x="548640" y="4663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Convenção da ICPC: quem não compilou não foi julgado.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excedida é deduzida, não detectada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48640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0080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malloc falha</a:t>
            </a:r>
            <a:endParaRPr lang="pt-BR" sz="1800" dirty="0"/>
          </a:p>
        </p:txBody>
      </p:sp>
      <p:sp>
        <p:nvSpPr>
          <p:cNvPr id="23" name="Text 23"/>
          <p:cNvSpPr txBox="1"/>
          <p:nvPr/>
        </p:nvSpPr>
        <p:spPr>
          <a:xfrm>
            <a:off x="640080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limite RLIMIT_AS</a:t>
            </a:r>
            <a:endParaRPr lang="pt-BR" sz="1200" dirty="0"/>
          </a:p>
        </p:txBody>
      </p:sp>
      <p:cxnSp>
        <p:nvCxnSpPr>
          <p:cNvPr id="24" name="Arrow 24"/>
          <p:cNvCxnSpPr/>
          <p:nvPr/>
        </p:nvCxnSpPr>
        <p:spPr>
          <a:xfrm>
            <a:off x="2999918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5" name="Shape 25"/>
          <p:cNvSpPr/>
          <p:nvPr/>
        </p:nvSpPr>
        <p:spPr>
          <a:xfrm>
            <a:off x="3447974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3539414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programa quebra</a:t>
            </a:r>
            <a:endParaRPr lang="pt-BR" sz="1800" dirty="0"/>
          </a:p>
        </p:txBody>
      </p:sp>
      <p:sp>
        <p:nvSpPr>
          <p:cNvPr id="27" name="Text 27"/>
          <p:cNvSpPr txBox="1"/>
          <p:nvPr/>
        </p:nvSpPr>
        <p:spPr>
          <a:xfrm>
            <a:off x="3539414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sem sinal de OOM</a:t>
            </a:r>
            <a:endParaRPr lang="pt-BR" sz="1200" dirty="0"/>
          </a:p>
        </p:txBody>
      </p:sp>
      <p:cxnSp>
        <p:nvCxnSpPr>
          <p:cNvPr id="28" name="Arrow 28"/>
          <p:cNvCxnSpPr/>
          <p:nvPr/>
        </p:nvCxnSpPr>
        <p:spPr>
          <a:xfrm>
            <a:off x="5899252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9" name="Shape 29"/>
          <p:cNvSpPr/>
          <p:nvPr/>
        </p:nvSpPr>
        <p:spPr>
          <a:xfrm>
            <a:off x="6347308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6438748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heurística</a:t>
            </a:r>
            <a:endParaRPr lang="pt-BR" sz="1800" dirty="0"/>
          </a:p>
        </p:txBody>
      </p:sp>
      <p:sp>
        <p:nvSpPr>
          <p:cNvPr id="31" name="Text 31"/>
          <p:cNvSpPr txBox="1"/>
          <p:nvPr/>
        </p:nvSpPr>
        <p:spPr>
          <a:xfrm>
            <a:off x="6438748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pico ≥ 90% ou “MemoryError”</a:t>
            </a:r>
            <a:endParaRPr lang="pt-BR" sz="1200" dirty="0"/>
          </a:p>
        </p:txBody>
      </p:sp>
      <p:cxnSp>
        <p:nvCxnSpPr>
          <p:cNvPr id="32" name="Arrow 32"/>
          <p:cNvCxnSpPr/>
          <p:nvPr/>
        </p:nvCxnSpPr>
        <p:spPr>
          <a:xfrm>
            <a:off x="8798585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3" name="Shape 33"/>
          <p:cNvSpPr/>
          <p:nvPr/>
        </p:nvSpPr>
        <p:spPr>
          <a:xfrm>
            <a:off x="9246641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9338081" y="2560320"/>
            <a:ext cx="22135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MLE</a:t>
            </a:r>
            <a:endParaRPr lang="pt-BR" sz="1800" dirty="0"/>
          </a:p>
        </p:txBody>
      </p:sp>
      <p:sp>
        <p:nvSpPr>
          <p:cNvPr id="35" name="Text 35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Não há sinal limpo de estouro: o judge deduz.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saída pode ser comparada de quatro jeitos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55168" y="2377440"/>
            <a:ext cx="2514600" cy="16459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46608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exata</a:t>
            </a:r>
            <a:endParaRPr lang="pt-BR" sz="2400" dirty="0"/>
          </a:p>
        </p:txBody>
      </p:sp>
      <p:sp>
        <p:nvSpPr>
          <p:cNvPr id="23" name="Text 23"/>
          <p:cNvSpPr txBox="1"/>
          <p:nvPr/>
        </p:nvSpPr>
        <p:spPr>
          <a:xfrm>
            <a:off x="746608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bg2"/>
                </a:solidFill>
              </a:rPr>
              <a:t>“3 4” ≠ “3  4”</a:t>
            </a:r>
            <a:endParaRPr lang="pt-BR" sz="1400" dirty="0"/>
          </a:p>
        </p:txBody>
      </p:sp>
      <p:sp>
        <p:nvSpPr>
          <p:cNvPr id="24" name="Shape 24"/>
          <p:cNvSpPr/>
          <p:nvPr/>
        </p:nvSpPr>
        <p:spPr>
          <a:xfrm>
            <a:off x="3444088" y="2377440"/>
            <a:ext cx="2514600" cy="16459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3535528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tokens</a:t>
            </a:r>
            <a:endParaRPr lang="pt-BR" sz="2400" dirty="0"/>
          </a:p>
        </p:txBody>
      </p:sp>
      <p:sp>
        <p:nvSpPr>
          <p:cNvPr id="26" name="Text 26"/>
          <p:cNvSpPr txBox="1"/>
          <p:nvPr/>
        </p:nvSpPr>
        <p:spPr>
          <a:xfrm>
            <a:off x="3535528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bg2"/>
                </a:solidFill>
              </a:rPr>
              <a:t>espaços não importam</a:t>
            </a:r>
            <a:endParaRPr lang="pt-BR" sz="1400" dirty="0"/>
          </a:p>
        </p:txBody>
      </p:sp>
      <p:sp>
        <p:nvSpPr>
          <p:cNvPr id="27" name="Shape 27"/>
          <p:cNvSpPr/>
          <p:nvPr/>
        </p:nvSpPr>
        <p:spPr>
          <a:xfrm>
            <a:off x="6233008" y="2377440"/>
            <a:ext cx="2514600" cy="16459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6324448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float (ε)</a:t>
            </a:r>
            <a:endParaRPr lang="pt-BR" sz="2400" dirty="0"/>
          </a:p>
        </p:txBody>
      </p:sp>
      <p:sp>
        <p:nvSpPr>
          <p:cNvPr id="29" name="Text 29"/>
          <p:cNvSpPr txBox="1"/>
          <p:nvPr/>
        </p:nvSpPr>
        <p:spPr>
          <a:xfrm>
            <a:off x="6324448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bg2"/>
                </a:solidFill>
              </a:rPr>
              <a:t>3,1416 ≈ 3,14159</a:t>
            </a:r>
            <a:endParaRPr lang="pt-BR" sz="1400" dirty="0"/>
          </a:p>
        </p:txBody>
      </p:sp>
      <p:sp>
        <p:nvSpPr>
          <p:cNvPr id="30" name="Shape 30"/>
          <p:cNvSpPr/>
          <p:nvPr/>
        </p:nvSpPr>
        <p:spPr>
          <a:xfrm>
            <a:off x="9021928" y="2377440"/>
            <a:ext cx="2514600" cy="16459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9113368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bg1"/>
                </a:solidFill>
              </a:rPr>
              <a:t>corretor</a:t>
            </a:r>
            <a:endParaRPr lang="pt-BR" sz="2400" dirty="0"/>
          </a:p>
        </p:txBody>
      </p:sp>
      <p:sp>
        <p:nvSpPr>
          <p:cNvPr id="32" name="Text 32"/>
          <p:cNvSpPr txBox="1"/>
          <p:nvPr/>
        </p:nvSpPr>
        <p:spPr>
          <a:xfrm>
            <a:off x="9113368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400" dirty="0">
                <a:solidFill>
                  <a:schemeClr val="bg2"/>
                </a:solidFill>
              </a:rPr>
              <a:t>programa do professor</a:t>
            </a:r>
            <a:endParaRPr lang="pt-BR" sz="1400" dirty="0"/>
          </a:p>
        </p:txBody>
      </p:sp>
      <p:sp>
        <p:nvSpPr>
          <p:cNvPr id="33" name="Text 33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Problema novo começa em “tokens”.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há várias respostas certas, um corretor decide</a:t>
            </a:r>
            <a:endParaRPr lang="en-US" sz="3000" dirty="0"/>
          </a:p>
        </p:txBody>
      </p:sp>
      <p:sp>
        <p:nvSpPr>
          <p:cNvPr id="21" name="frame-v4-compare-checker.png"/>
          <p:cNvSpPr/>
          <p:nvPr/>
        </p:nvSpPr>
        <p:spPr>
          <a:xfrm>
            <a:off x="2846992" y="1746504"/>
            <a:ext cx="6497711" cy="405079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compare-checker.png" descr="v4-compare-check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3568" y="1783080"/>
            <a:ext cx="6424559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Problema: imprima qualquer divisor de N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corretor recebe três arquivos e responde pelo código de saída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731520" y="1828800"/>
            <a:ext cx="2377440" cy="7315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82296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5"/>
                </a:solidFill>
              </a:rPr>
              <a:t>input.txt</a:t>
            </a:r>
            <a:endParaRPr lang="pt-BR" sz="1600" dirty="0"/>
          </a:p>
        </p:txBody>
      </p:sp>
      <p:cxnSp>
        <p:nvCxnSpPr>
          <p:cNvPr id="23" name="Arrow 23"/>
          <p:cNvCxnSpPr/>
          <p:nvPr/>
        </p:nvCxnSpPr>
        <p:spPr>
          <a:xfrm>
            <a:off x="3154680" y="2194560"/>
            <a:ext cx="1051560" cy="96012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24" name="Shape 24"/>
          <p:cNvSpPr/>
          <p:nvPr/>
        </p:nvSpPr>
        <p:spPr>
          <a:xfrm>
            <a:off x="731520" y="2788920"/>
            <a:ext cx="2377440" cy="7315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82296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5"/>
                </a:solidFill>
              </a:rPr>
              <a:t>output.txt</a:t>
            </a:r>
            <a:endParaRPr lang="pt-BR" sz="1600" dirty="0"/>
          </a:p>
        </p:txBody>
      </p:sp>
      <p:cxnSp>
        <p:nvCxnSpPr>
          <p:cNvPr id="26" name="Arrow 26"/>
          <p:cNvCxnSpPr/>
          <p:nvPr/>
        </p:nvCxnSpPr>
        <p:spPr>
          <a:xfrm>
            <a:off x="3154680" y="3154680"/>
            <a:ext cx="1051560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27" name="Shape 27"/>
          <p:cNvSpPr/>
          <p:nvPr/>
        </p:nvSpPr>
        <p:spPr>
          <a:xfrm>
            <a:off x="731520" y="3749040"/>
            <a:ext cx="2377440" cy="7315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2296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5"/>
                </a:solidFill>
              </a:rPr>
              <a:t>answer.txt</a:t>
            </a:r>
            <a:endParaRPr lang="pt-BR" sz="1600" dirty="0"/>
          </a:p>
        </p:txBody>
      </p:sp>
      <p:cxnSp>
        <p:nvCxnSpPr>
          <p:cNvPr id="29" name="Arrow 29"/>
          <p:cNvCxnSpPr/>
          <p:nvPr/>
        </p:nvCxnSpPr>
        <p:spPr>
          <a:xfrm flipV="1">
            <a:off x="3154680" y="3154680"/>
            <a:ext cx="1051560" cy="96012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4297680" y="2606040"/>
            <a:ext cx="2743200" cy="109728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4389120" y="2770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corretor</a:t>
            </a:r>
            <a:endParaRPr lang="pt-BR" sz="2200" dirty="0"/>
          </a:p>
        </p:txBody>
      </p:sp>
      <p:sp>
        <p:nvSpPr>
          <p:cNvPr id="32" name="Text 32"/>
          <p:cNvSpPr txBox="1"/>
          <p:nvPr/>
        </p:nvSpPr>
        <p:spPr>
          <a:xfrm>
            <a:off x="438912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programa do professor</a:t>
            </a:r>
            <a:endParaRPr lang="pt-BR" sz="1200" dirty="0"/>
          </a:p>
        </p:txBody>
      </p:sp>
      <p:cxnSp>
        <p:nvCxnSpPr>
          <p:cNvPr id="33" name="Arrow 33"/>
          <p:cNvCxnSpPr/>
          <p:nvPr/>
        </p:nvCxnSpPr>
        <p:spPr>
          <a:xfrm flipV="1">
            <a:off x="7086600" y="2194560"/>
            <a:ext cx="1143000" cy="96012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34" name="Shape 34"/>
          <p:cNvSpPr/>
          <p:nvPr/>
        </p:nvSpPr>
        <p:spPr>
          <a:xfrm>
            <a:off x="8321040" y="1828800"/>
            <a:ext cx="3108960" cy="7315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8412480" y="1828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22C55E"/>
                </a:solidFill>
              </a:rPr>
              <a:t>exit 0 → Aceito</a:t>
            </a:r>
            <a:endParaRPr lang="pt-BR" sz="1500" dirty="0"/>
          </a:p>
        </p:txBody>
      </p:sp>
      <p:cxnSp>
        <p:nvCxnSpPr>
          <p:cNvPr id="36" name="Arrow 36"/>
          <p:cNvCxnSpPr/>
          <p:nvPr/>
        </p:nvCxnSpPr>
        <p:spPr>
          <a:xfrm>
            <a:off x="7086600" y="3154680"/>
            <a:ext cx="1143000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37" name="Shape 37"/>
          <p:cNvSpPr/>
          <p:nvPr/>
        </p:nvSpPr>
        <p:spPr>
          <a:xfrm>
            <a:off x="8321040" y="2788920"/>
            <a:ext cx="3108960" cy="7315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rgbClr val="F0566A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841248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F0566A"/>
                </a:solidFill>
              </a:rPr>
              <a:t>exit 1 → Resposta errada</a:t>
            </a:r>
            <a:endParaRPr lang="pt-BR" sz="1500" dirty="0"/>
          </a:p>
        </p:txBody>
      </p:sp>
      <p:cxnSp>
        <p:nvCxnSpPr>
          <p:cNvPr id="39" name="Arrow 39"/>
          <p:cNvCxnSpPr/>
          <p:nvPr/>
        </p:nvCxnSpPr>
        <p:spPr>
          <a:xfrm>
            <a:off x="7086600" y="3154680"/>
            <a:ext cx="1143000" cy="96012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40" name="Shape 40"/>
          <p:cNvSpPr/>
          <p:nvPr/>
        </p:nvSpPr>
        <p:spPr>
          <a:xfrm>
            <a:off x="8321040" y="3749040"/>
            <a:ext cx="3108960" cy="7315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rgbClr val="8B96A3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41248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rgbClr val="8B96A3"/>
                </a:solidFill>
              </a:rPr>
              <a:t>outro → Erro do juiz</a:t>
            </a:r>
            <a:endParaRPr lang="pt-BR" sz="1500" dirty="0"/>
          </a:p>
        </p:txBody>
      </p:sp>
      <p:sp>
        <p:nvSpPr>
          <p:cNvPr id="42" name="Text 42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Roda no isolate, como o código do aluno.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 espaços aceita respostas certas que a comparação exata recusava</a:t>
            </a:r>
            <a:endParaRPr lang="en-US" sz="3000" dirty="0"/>
          </a:p>
        </p:txBody>
      </p:sp>
      <p:pic>
        <p:nvPicPr>
          <p:cNvPr id="22" name="img-compare_modes.png" descr="compare_mod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4090" y="1783080"/>
            <a:ext cx="8523514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Saídas certas reescritas de jeitos comuns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Medimos o judge com benchmarks reproduzíveis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31520" y="219456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800" b="1" dirty="0">
                <a:solidFill>
                  <a:schemeClr val="accent1"/>
                </a:solidFill>
              </a:rPr>
              <a:t>Desempenho</a:t>
            </a:r>
            <a:endParaRPr lang="pt-BR" sz="4800" dirty="0"/>
          </a:p>
        </p:txBody>
      </p:sp>
      <p:sp>
        <p:nvSpPr>
          <p:cNvPr id="22" name="Text 22"/>
          <p:cNvSpPr txBox="1"/>
          <p:nvPr/>
        </p:nvSpPr>
        <p:spPr>
          <a:xfrm>
            <a:off x="731520" y="3749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800" dirty="0">
                <a:solidFill>
                  <a:schemeClr val="bg2"/>
                </a:solidFill>
              </a:rPr>
              <a:t>bench/ · dados brutos e scripts no repositório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judge agora julga vários envios ao mesmo tempo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640080" y="2377440"/>
            <a:ext cx="2377440" cy="16459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731520" y="2816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PostgreSQL</a:t>
            </a:r>
            <a:endParaRPr lang="pt-BR" sz="2000" dirty="0"/>
          </a:p>
        </p:txBody>
      </p:sp>
      <p:sp>
        <p:nvSpPr>
          <p:cNvPr id="23" name="Text 23"/>
          <p:cNvSpPr txBox="1"/>
          <p:nvPr/>
        </p:nvSpPr>
        <p:spPr>
          <a:xfrm>
            <a:off x="73152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fila = tabela</a:t>
            </a:r>
            <a:endParaRPr lang="pt-BR" sz="1200" dirty="0"/>
          </a:p>
        </p:txBody>
      </p:sp>
      <p:sp>
        <p:nvSpPr>
          <p:cNvPr id="24" name="Shape 24"/>
          <p:cNvSpPr/>
          <p:nvPr/>
        </p:nvSpPr>
        <p:spPr>
          <a:xfrm>
            <a:off x="3840480" y="2103120"/>
            <a:ext cx="3108960" cy="21945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3931920" y="28163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dispatcher</a:t>
            </a:r>
            <a:endParaRPr lang="pt-BR" sz="2000" dirty="0"/>
          </a:p>
        </p:txBody>
      </p:sp>
      <p:sp>
        <p:nvSpPr>
          <p:cNvPr id="26" name="Text 26"/>
          <p:cNvSpPr txBox="1"/>
          <p:nvPr/>
        </p:nvSpPr>
        <p:spPr>
          <a:xfrm>
            <a:off x="393192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LISTEN/NOTIFY
varredura 60 s
reaper</a:t>
            </a:r>
            <a:endParaRPr lang="pt-BR" sz="1200" dirty="0"/>
          </a:p>
        </p:txBody>
      </p:sp>
      <p:cxnSp>
        <p:nvCxnSpPr>
          <p:cNvPr id="27" name="Arrow 27"/>
          <p:cNvCxnSpPr/>
          <p:nvPr/>
        </p:nvCxnSpPr>
        <p:spPr>
          <a:xfrm>
            <a:off x="3063240" y="3200400"/>
            <a:ext cx="731520" cy="0"/>
          </a:xfrm>
          <a:prstGeom prst="line">
            <a:avLst/>
          </a:prstGeom>
          <a:ln w="19050">
            <a:solidFill>
              <a:schemeClr val="accent5"/>
            </a:solidFill>
            <a:prstDash val="solid"/>
            <a:tailEnd type="triangle" w="med" len="med"/>
          </a:ln>
        </p:spPr>
      </p:cxnSp>
      <p:sp>
        <p:nvSpPr>
          <p:cNvPr id="28" name="Shape 28"/>
          <p:cNvSpPr/>
          <p:nvPr/>
        </p:nvSpPr>
        <p:spPr>
          <a:xfrm>
            <a:off x="7955280" y="1691640"/>
            <a:ext cx="3566160" cy="68580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8046720" y="1691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worker 1 · caixa 0</a:t>
            </a:r>
            <a:endParaRPr lang="pt-BR" sz="1500" dirty="0"/>
          </a:p>
        </p:txBody>
      </p:sp>
      <p:cxnSp>
        <p:nvCxnSpPr>
          <p:cNvPr id="30" name="Arrow 30"/>
          <p:cNvCxnSpPr/>
          <p:nvPr/>
        </p:nvCxnSpPr>
        <p:spPr>
          <a:xfrm flipV="1">
            <a:off x="6995160" y="2029968"/>
            <a:ext cx="914400" cy="1170432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31" name="Shape 31"/>
          <p:cNvSpPr/>
          <p:nvPr/>
        </p:nvSpPr>
        <p:spPr>
          <a:xfrm>
            <a:off x="7955280" y="2560320"/>
            <a:ext cx="3566160" cy="68580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8046720" y="2560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worker 2 · caixa 1</a:t>
            </a:r>
            <a:endParaRPr lang="pt-BR" sz="1500" dirty="0"/>
          </a:p>
        </p:txBody>
      </p:sp>
      <p:cxnSp>
        <p:nvCxnSpPr>
          <p:cNvPr id="33" name="Arrow 33"/>
          <p:cNvCxnSpPr/>
          <p:nvPr/>
        </p:nvCxnSpPr>
        <p:spPr>
          <a:xfrm flipV="1">
            <a:off x="6995160" y="2898648"/>
            <a:ext cx="914400" cy="301752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34" name="Shape 34"/>
          <p:cNvSpPr/>
          <p:nvPr/>
        </p:nvSpPr>
        <p:spPr>
          <a:xfrm>
            <a:off x="7955280" y="3429000"/>
            <a:ext cx="3566160" cy="68580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8046720" y="3429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worker 3 · caixa 2</a:t>
            </a:r>
            <a:endParaRPr lang="pt-BR" sz="1500" dirty="0"/>
          </a:p>
        </p:txBody>
      </p:sp>
      <p:cxnSp>
        <p:nvCxnSpPr>
          <p:cNvPr id="36" name="Arrow 36"/>
          <p:cNvCxnSpPr/>
          <p:nvPr/>
        </p:nvCxnSpPr>
        <p:spPr>
          <a:xfrm>
            <a:off x="6995160" y="3200400"/>
            <a:ext cx="914400" cy="566928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37" name="Shape 37"/>
          <p:cNvSpPr/>
          <p:nvPr/>
        </p:nvSpPr>
        <p:spPr>
          <a:xfrm>
            <a:off x="7955280" y="4297680"/>
            <a:ext cx="3566160" cy="68580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8046720" y="4297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worker 4 · caixa 3</a:t>
            </a:r>
            <a:endParaRPr lang="pt-BR" sz="1500" dirty="0"/>
          </a:p>
        </p:txBody>
      </p:sp>
      <p:cxnSp>
        <p:nvCxnSpPr>
          <p:cNvPr id="39" name="Arrow 39"/>
          <p:cNvCxnSpPr/>
          <p:nvPr/>
        </p:nvCxnSpPr>
        <p:spPr>
          <a:xfrm>
            <a:off x="6995160" y="3200400"/>
            <a:ext cx="914400" cy="1435608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40" name="Text 40"/>
          <p:cNvSpPr txBox="1"/>
          <p:nvPr/>
        </p:nvSpPr>
        <p:spPr>
          <a:xfrm>
            <a:off x="7955280" y="5257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UPDATE SKIP LOCKED</a:t>
            </a:r>
            <a:endParaRPr lang="pt-BR" sz="1200" dirty="0"/>
          </a:p>
        </p:txBody>
      </p:sp>
      <p:sp>
        <p:nvSpPr>
          <p:cNvPr id="41" name="Text 41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N = JUDGE_CONCURRENCY (padrão: nº de CPUs, máx. 4)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workers julgam 2,8× mais rápido; 8 workers, 3,8×</a:t>
            </a:r>
            <a:endParaRPr lang="en-US" sz="3000" dirty="0"/>
          </a:p>
        </p:txBody>
      </p:sp>
      <p:pic>
        <p:nvPicPr>
          <p:cNvPr id="22" name="img-concurrency_throughput.png" descr="concurrency_throughpu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Rajada de envios nas 6 linguagens, 5 testes cada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8 workers, metade da turma espera menos de 18 s, não 66 s</a:t>
            </a:r>
            <a:endParaRPr lang="en-US" sz="3000" dirty="0"/>
          </a:p>
        </p:txBody>
      </p:sp>
      <p:pic>
        <p:nvPicPr>
          <p:cNvPr id="22" name="img-concurrency_latency.png" descr="concurrency_latenc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Rajada de 100 envios: espera até o veredito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 CPU, mais workers não ajudam, e a produção roda assim</a:t>
            </a:r>
            <a:endParaRPr lang="en-US" sz="3000" dirty="0"/>
          </a:p>
        </p:txBody>
      </p:sp>
      <p:pic>
        <p:nvPicPr>
          <p:cNvPr id="22" name="img-concurrency_1cpu.png" descr="concurrency_1cp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Mesma rajada de 40, com o contêiner preso a 1 CPU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fila, o veredito sai em menos de 0,4 s, exceto Java e Portugol</a:t>
            </a:r>
            <a:endParaRPr lang="en-US" sz="3000" dirty="0"/>
          </a:p>
        </p:txBody>
      </p:sp>
      <p:pic>
        <p:nvPicPr>
          <p:cNvPr id="22" name="img-e2e_stages.png" descr="e2e_stag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4090" y="1783080"/>
            <a:ext cx="8523514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Um envio por vez, judge ocioso, 5 casos de teste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Compilar custa mais que rodar, exceto no Portugol</a:t>
            </a:r>
            <a:endParaRPr lang="en-US" sz="3000" dirty="0"/>
          </a:p>
        </p:txBody>
      </p:sp>
      <p:pic>
        <p:nvPicPr>
          <p:cNvPr id="22" name="img-lang_time.png" descr="lang_tim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Mediana de 6 execuções no isolate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e Portugol usam dezenas de vezes mais memória</a:t>
            </a:r>
            <a:endParaRPr lang="en-US" sz="3000" dirty="0"/>
          </a:p>
        </p:txBody>
      </p:sp>
      <p:pic>
        <p:nvPicPr>
          <p:cNvPr id="22" name="img-lang_memory.png" descr="lang_memo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Pico de memória no laço de 10⁷ passos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isolate custa cerca de 5 ms por execução</a:t>
            </a:r>
            <a:endParaRPr lang="en-US" sz="3000" dirty="0"/>
          </a:p>
        </p:txBody>
      </p:sp>
      <p:pic>
        <p:nvPicPr>
          <p:cNvPr id="22" name="img-sandbox_overhead.png" descr="sandbox_overhea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Mesmo programa, com e sem caixa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judge acertou 63 de 72 vereditos; os erros têm causa conhecida</a:t>
            </a:r>
            <a:endParaRPr lang="en-US" sz="3000" dirty="0"/>
          </a:p>
        </p:txBody>
      </p:sp>
      <p:pic>
        <p:nvPicPr>
          <p:cNvPr id="22" name="img-verdict_confusion.png" descr="verdict_confus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1664" y="1783080"/>
            <a:ext cx="8168368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2 programas por veredito × 6 linguagens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testes no judge, 112 no site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2438248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200" b="1" dirty="0">
                <a:solidFill>
                  <a:schemeClr val="accent1"/>
                </a:solidFill>
              </a:rPr>
              <a:t>51</a:t>
            </a:r>
            <a:endParaRPr lang="pt-BR" sz="7200" dirty="0"/>
          </a:p>
        </p:txBody>
      </p:sp>
      <p:sp>
        <p:nvSpPr>
          <p:cNvPr id="22" name="Text 22"/>
          <p:cNvSpPr txBox="1"/>
          <p:nvPr/>
        </p:nvSpPr>
        <p:spPr>
          <a:xfrm>
            <a:off x="2438248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testes do judge</a:t>
            </a:r>
            <a:endParaRPr lang="pt-BR" sz="2000" dirty="0"/>
          </a:p>
        </p:txBody>
      </p:sp>
      <p:sp>
        <p:nvSpPr>
          <p:cNvPr id="23" name="Text 23"/>
          <p:cNvSpPr txBox="1"/>
          <p:nvPr/>
        </p:nvSpPr>
        <p:spPr>
          <a:xfrm>
            <a:off x="6461608" y="20116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200" b="1" dirty="0">
                <a:solidFill>
                  <a:schemeClr val="accent5"/>
                </a:solidFill>
              </a:rPr>
              <a:t>112</a:t>
            </a:r>
            <a:endParaRPr lang="pt-BR" sz="7200" dirty="0"/>
          </a:p>
        </p:txBody>
      </p:sp>
      <p:sp>
        <p:nvSpPr>
          <p:cNvPr id="24" name="Text 24"/>
          <p:cNvSpPr txBox="1"/>
          <p:nvPr/>
        </p:nvSpPr>
        <p:spPr>
          <a:xfrm>
            <a:off x="6461608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testes do site</a:t>
            </a:r>
            <a:endParaRPr lang="pt-B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push roda três jobs no GitHub Actions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4480560" y="1737360"/>
            <a:ext cx="3200400" cy="8229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457200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push / pull request</a:t>
            </a:r>
            <a:endParaRPr lang="pt-BR" sz="1800" dirty="0"/>
          </a:p>
        </p:txBody>
      </p:sp>
      <p:cxnSp>
        <p:nvCxnSpPr>
          <p:cNvPr id="23" name="Arrow 23"/>
          <p:cNvCxnSpPr/>
          <p:nvPr/>
        </p:nvCxnSpPr>
        <p:spPr>
          <a:xfrm flipH="1">
            <a:off x="2468880" y="2606040"/>
            <a:ext cx="3611880" cy="64008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24" name="Shape 24"/>
          <p:cNvSpPr/>
          <p:nvPr/>
        </p:nvSpPr>
        <p:spPr>
          <a:xfrm>
            <a:off x="1097280" y="3291840"/>
            <a:ext cx="2743200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1188720" y="3547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web</a:t>
            </a:r>
            <a:endParaRPr lang="pt-BR" sz="2200" dirty="0"/>
          </a:p>
        </p:txBody>
      </p:sp>
      <p:sp>
        <p:nvSpPr>
          <p:cNvPr id="26" name="Text 26"/>
          <p:cNvSpPr txBox="1"/>
          <p:nvPr/>
        </p:nvSpPr>
        <p:spPr>
          <a:xfrm>
            <a:off x="118872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tipos · lint · testes</a:t>
            </a:r>
            <a:endParaRPr lang="pt-BR" sz="1200" dirty="0"/>
          </a:p>
        </p:txBody>
      </p:sp>
      <p:cxnSp>
        <p:nvCxnSpPr>
          <p:cNvPr id="27" name="Arrow 27"/>
          <p:cNvCxnSpPr/>
          <p:nvPr/>
        </p:nvCxnSpPr>
        <p:spPr>
          <a:xfrm flipH="1">
            <a:off x="5943600" y="2606040"/>
            <a:ext cx="137160" cy="64008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28" name="Shape 28"/>
          <p:cNvSpPr/>
          <p:nvPr/>
        </p:nvSpPr>
        <p:spPr>
          <a:xfrm>
            <a:off x="4572000" y="3291840"/>
            <a:ext cx="2743200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4663440" y="3547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judge</a:t>
            </a:r>
            <a:endParaRPr lang="pt-BR" sz="2200" dirty="0"/>
          </a:p>
        </p:txBody>
      </p:sp>
      <p:sp>
        <p:nvSpPr>
          <p:cNvPr id="30" name="Text 30"/>
          <p:cNvSpPr txBox="1"/>
          <p:nvPr/>
        </p:nvSpPr>
        <p:spPr>
          <a:xfrm>
            <a:off x="466344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fmt · clippy · testes</a:t>
            </a:r>
            <a:endParaRPr lang="pt-BR" sz="1200" dirty="0"/>
          </a:p>
        </p:txBody>
      </p:sp>
      <p:cxnSp>
        <p:nvCxnSpPr>
          <p:cNvPr id="31" name="Arrow 31"/>
          <p:cNvCxnSpPr/>
          <p:nvPr/>
        </p:nvCxnSpPr>
        <p:spPr>
          <a:xfrm>
            <a:off x="6080760" y="2606040"/>
            <a:ext cx="3337560" cy="64008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32" name="Shape 32"/>
          <p:cNvSpPr/>
          <p:nvPr/>
        </p:nvSpPr>
        <p:spPr>
          <a:xfrm>
            <a:off x="8046720" y="3291840"/>
            <a:ext cx="2743200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Text 33"/>
          <p:cNvSpPr txBox="1"/>
          <p:nvPr/>
        </p:nvSpPr>
        <p:spPr>
          <a:xfrm>
            <a:off x="8138160" y="3547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enum-sync</a:t>
            </a:r>
            <a:endParaRPr lang="pt-BR" sz="2200" dirty="0"/>
          </a:p>
        </p:txBody>
      </p:sp>
      <p:sp>
        <p:nvSpPr>
          <p:cNvPr id="34" name="Text 34"/>
          <p:cNvSpPr txBox="1"/>
          <p:nvPr/>
        </p:nvSpPr>
        <p:spPr>
          <a:xfrm>
            <a:off x="813816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Rust ⇄ Drizzle</a:t>
            </a:r>
            <a:endParaRPr lang="pt-BR" sz="1200" dirty="0"/>
          </a:p>
        </p:txBody>
      </p:sp>
      <p:sp>
        <p:nvSpPr>
          <p:cNvPr id="35" name="Text 35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Os três rodam em paralelo.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 leva cerca de 31 s por push</a:t>
            </a:r>
            <a:endParaRPr lang="en-US" sz="3000" dirty="0"/>
          </a:p>
        </p:txBody>
      </p:sp>
      <p:pic>
        <p:nvPicPr>
          <p:cNvPr id="22" name="img-ci_jobs.png" descr="ci_job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448" y="1783080"/>
            <a:ext cx="995680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DESEMPENHO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script garante que Rust e TypeScript concordam nos enums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822960" y="2377440"/>
            <a:ext cx="3474720" cy="146304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914400" y="2724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judge/src/models.rs</a:t>
            </a:r>
            <a:endParaRPr lang="pt-BR" sz="16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enum SubmissionStatus</a:t>
            </a:r>
            <a:endParaRPr lang="pt-BR" sz="1200" dirty="0"/>
          </a:p>
        </p:txBody>
      </p:sp>
      <p:sp>
        <p:nvSpPr>
          <p:cNvPr id="24" name="Shape 24"/>
          <p:cNvSpPr/>
          <p:nvPr/>
        </p:nvSpPr>
        <p:spPr>
          <a:xfrm>
            <a:off x="7863840" y="2377440"/>
            <a:ext cx="3474720" cy="146304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7955280" y="2724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bg1"/>
                </a:solidFill>
              </a:rPr>
              <a:t>web/drizzle/schemas</a:t>
            </a:r>
            <a:endParaRPr lang="pt-BR" sz="1600" dirty="0"/>
          </a:p>
        </p:txBody>
      </p:sp>
      <p:sp>
        <p:nvSpPr>
          <p:cNvPr id="26" name="Text 26"/>
          <p:cNvSpPr txBox="1"/>
          <p:nvPr/>
        </p:nvSpPr>
        <p:spPr>
          <a:xfrm>
            <a:off x="795528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pgEnum submission_status</a:t>
            </a:r>
            <a:endParaRPr lang="pt-BR" sz="1200" dirty="0"/>
          </a:p>
        </p:txBody>
      </p:sp>
      <p:sp>
        <p:nvSpPr>
          <p:cNvPr id="27" name="Shape 27"/>
          <p:cNvSpPr/>
          <p:nvPr/>
        </p:nvSpPr>
        <p:spPr>
          <a:xfrm>
            <a:off x="4709160" y="2514600"/>
            <a:ext cx="2743200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4800600" y="2724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500" b="1" dirty="0">
                <a:solidFill>
                  <a:schemeClr val="bg1"/>
                </a:solidFill>
              </a:rPr>
              <a:t>check-enum-sync.ts</a:t>
            </a:r>
            <a:endParaRPr lang="pt-BR" sz="1500" dirty="0"/>
          </a:p>
        </p:txBody>
      </p:sp>
      <p:sp>
        <p:nvSpPr>
          <p:cNvPr id="29" name="Text 29"/>
          <p:cNvSpPr txBox="1"/>
          <p:nvPr/>
        </p:nvSpPr>
        <p:spPr>
          <a:xfrm>
            <a:off x="480060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falha se divergirem</a:t>
            </a:r>
            <a:endParaRPr lang="pt-BR" sz="1200" dirty="0"/>
          </a:p>
        </p:txBody>
      </p:sp>
      <p:cxnSp>
        <p:nvCxnSpPr>
          <p:cNvPr id="30" name="Arrow 30"/>
          <p:cNvCxnSpPr/>
          <p:nvPr/>
        </p:nvCxnSpPr>
        <p:spPr>
          <a:xfrm>
            <a:off x="4343400" y="3108960"/>
            <a:ext cx="320040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cxnSp>
        <p:nvCxnSpPr>
          <p:cNvPr id="31" name="Arrow 31"/>
          <p:cNvCxnSpPr/>
          <p:nvPr/>
        </p:nvCxnSpPr>
        <p:spPr>
          <a:xfrm flipH="1">
            <a:off x="7498080" y="3108960"/>
            <a:ext cx="320040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32" name="Text 32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Os dois serviços dividem o banco, não o código.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cria problemas, torneios e aulas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31520" y="219456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800" b="1" dirty="0">
                <a:solidFill>
                  <a:schemeClr val="accent1"/>
                </a:solidFill>
              </a:rPr>
              <a:t>O professor</a:t>
            </a:r>
            <a:endParaRPr lang="pt-BR" sz="4800" dirty="0"/>
          </a:p>
        </p:txBody>
      </p:sp>
      <p:sp>
        <p:nvSpPr>
          <p:cNvPr id="22" name="Text 22"/>
          <p:cNvSpPr txBox="1"/>
          <p:nvPr/>
        </p:nvSpPr>
        <p:spPr>
          <a:xfrm>
            <a:off x="731520" y="3749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800" dirty="0">
                <a:solidFill>
                  <a:schemeClr val="bg2"/>
                </a:solidFill>
              </a:rPr>
              <a:t>problemas · torneios · aulas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problema é publicado sem uma solução que passa</a:t>
            </a:r>
            <a:endParaRPr lang="en-US" sz="3000" dirty="0"/>
          </a:p>
        </p:txBody>
      </p:sp>
      <p:sp>
        <p:nvSpPr>
          <p:cNvPr id="21" name="frame-validacao-aprovada.png"/>
          <p:cNvSpPr/>
          <p:nvPr/>
        </p:nvSpPr>
        <p:spPr>
          <a:xfrm>
            <a:off x="1120276" y="1746504"/>
            <a:ext cx="9951143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alidacao-aprovada.png" descr="validacao-aprova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6852" y="1783080"/>
            <a:ext cx="9877991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escreveu soluções que passaram em 18 de 20 problemas</a:t>
            </a:r>
            <a:endParaRPr lang="en-US" sz="3000" dirty="0"/>
          </a:p>
        </p:txBody>
      </p:sp>
      <p:pic>
        <p:nvPicPr>
          <p:cNvPr id="22" name="img-ai_reference.png" descr="ai_referen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4548" y="1783080"/>
            <a:ext cx="81026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Soluções de referência geradas pela IA, julgadas pelo judge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sugere a narrativa e as tags do problema</a:t>
            </a:r>
            <a:endParaRPr lang="en-US" sz="3000" dirty="0"/>
          </a:p>
        </p:txBody>
      </p:sp>
      <p:sp>
        <p:nvSpPr>
          <p:cNvPr id="21" name="frame-ia-narrativa-tags.png"/>
          <p:cNvSpPr/>
          <p:nvPr/>
        </p:nvSpPr>
        <p:spPr>
          <a:xfrm>
            <a:off x="1781011" y="1746504"/>
            <a:ext cx="8629673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ia-narrativa-tags.png" descr="ia-narrativa-ta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17587" y="1783080"/>
            <a:ext cx="8556521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aponta casos de borda que faltam nos testes</a:t>
            </a:r>
            <a:endParaRPr lang="en-US" sz="3000" dirty="0"/>
          </a:p>
        </p:txBody>
      </p:sp>
      <p:sp>
        <p:nvSpPr>
          <p:cNvPr id="21" name="frame-ia-revisao-casos-borda.png"/>
          <p:cNvSpPr/>
          <p:nvPr/>
        </p:nvSpPr>
        <p:spPr>
          <a:xfrm>
            <a:off x="1818830" y="1746504"/>
            <a:ext cx="8554035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ia-revisao-casos-borda.png" descr="ia-revisao-casos-bor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5406" y="1783080"/>
            <a:ext cx="8480883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vê o problema como o aluno vai ver</a:t>
            </a:r>
            <a:endParaRPr lang="en-US" sz="3000" dirty="0"/>
          </a:p>
        </p:txBody>
      </p:sp>
      <p:sp>
        <p:nvSpPr>
          <p:cNvPr id="21" name="frame-previsualizacao.png"/>
          <p:cNvSpPr/>
          <p:nvPr/>
        </p:nvSpPr>
        <p:spPr>
          <a:xfrm>
            <a:off x="1596946" y="1746504"/>
            <a:ext cx="8997802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previsualizacao.png" descr="previsualizaca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3522" y="1783080"/>
            <a:ext cx="892465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ajuda da IA leva de 13 a 20 s</a:t>
            </a:r>
            <a:endParaRPr lang="en-US" sz="3000" dirty="0"/>
          </a:p>
        </p:txBody>
      </p:sp>
      <p:pic>
        <p:nvPicPr>
          <p:cNvPr id="22" name="img-ai_latency.png" descr="ai_latenc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10 chamadas por recurso (20 na solução de referência)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de modelos salvou mais da metade das chamadas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463040" y="2377440"/>
            <a:ext cx="2743200" cy="16459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554480" y="28163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23</a:t>
            </a:r>
            <a:endParaRPr lang="pt-BR" sz="4400" dirty="0"/>
          </a:p>
        </p:txBody>
      </p:sp>
      <p:sp>
        <p:nvSpPr>
          <p:cNvPr id="23" name="Text 23"/>
          <p:cNvSpPr txBox="1"/>
          <p:nvPr/>
        </p:nvSpPr>
        <p:spPr>
          <a:xfrm>
            <a:off x="155448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Gemini Flash</a:t>
            </a:r>
            <a:endParaRPr lang="pt-BR" sz="1200" dirty="0"/>
          </a:p>
        </p:txBody>
      </p:sp>
      <p:cxnSp>
        <p:nvCxnSpPr>
          <p:cNvPr id="24" name="Arrow 24"/>
          <p:cNvCxnSpPr/>
          <p:nvPr/>
        </p:nvCxnSpPr>
        <p:spPr>
          <a:xfrm>
            <a:off x="4261104" y="3200400"/>
            <a:ext cx="393192" cy="0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25" name="Text 25"/>
          <p:cNvSpPr txBox="1"/>
          <p:nvPr/>
        </p:nvSpPr>
        <p:spPr>
          <a:xfrm>
            <a:off x="4023360" y="28712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falhou</a:t>
            </a:r>
            <a:endParaRPr lang="pt-BR" sz="1000" dirty="0"/>
          </a:p>
        </p:txBody>
      </p:sp>
      <p:sp>
        <p:nvSpPr>
          <p:cNvPr id="26" name="Shape 26"/>
          <p:cNvSpPr/>
          <p:nvPr/>
        </p:nvSpPr>
        <p:spPr>
          <a:xfrm>
            <a:off x="4709160" y="2377440"/>
            <a:ext cx="2743200" cy="16459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4800600" y="28163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30</a:t>
            </a:r>
            <a:endParaRPr lang="pt-BR" sz="4400" dirty="0"/>
          </a:p>
        </p:txBody>
      </p:sp>
      <p:sp>
        <p:nvSpPr>
          <p:cNvPr id="28" name="Text 28"/>
          <p:cNvSpPr txBox="1"/>
          <p:nvPr/>
        </p:nvSpPr>
        <p:spPr>
          <a:xfrm>
            <a:off x="480060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Flash-Lite</a:t>
            </a:r>
            <a:endParaRPr lang="pt-BR" sz="1200" dirty="0"/>
          </a:p>
        </p:txBody>
      </p:sp>
      <p:cxnSp>
        <p:nvCxnSpPr>
          <p:cNvPr id="29" name="Arrow 29"/>
          <p:cNvCxnSpPr/>
          <p:nvPr/>
        </p:nvCxnSpPr>
        <p:spPr>
          <a:xfrm>
            <a:off x="7507224" y="3200400"/>
            <a:ext cx="393192" cy="0"/>
          </a:xfrm>
          <a:prstGeom prst="line">
            <a:avLst/>
          </a:prstGeom>
          <a:ln w="19050">
            <a:solidFill>
              <a:schemeClr val="accent4"/>
            </a:solidFill>
            <a:prstDash val="solid"/>
            <a:tailEnd type="triangle" w="med" len="med"/>
          </a:ln>
        </p:spPr>
      </p:cxnSp>
      <p:sp>
        <p:nvSpPr>
          <p:cNvPr id="30" name="Text 30"/>
          <p:cNvSpPr txBox="1"/>
          <p:nvPr/>
        </p:nvSpPr>
        <p:spPr>
          <a:xfrm>
            <a:off x="7269480" y="28712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falhou</a:t>
            </a:r>
            <a:endParaRPr lang="pt-BR" sz="1000" dirty="0"/>
          </a:p>
        </p:txBody>
      </p:sp>
      <p:sp>
        <p:nvSpPr>
          <p:cNvPr id="31" name="Shape 31"/>
          <p:cNvSpPr/>
          <p:nvPr/>
        </p:nvSpPr>
        <p:spPr>
          <a:xfrm>
            <a:off x="7955280" y="2377440"/>
            <a:ext cx="2743200" cy="16459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2" name="Text 32"/>
          <p:cNvSpPr txBox="1"/>
          <p:nvPr/>
        </p:nvSpPr>
        <p:spPr>
          <a:xfrm>
            <a:off x="8046720" y="28163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7</a:t>
            </a:r>
            <a:endParaRPr lang="pt-BR" sz="4400" dirty="0"/>
          </a:p>
        </p:txBody>
      </p:sp>
      <p:sp>
        <p:nvSpPr>
          <p:cNvPr id="33" name="Text 33"/>
          <p:cNvSpPr txBox="1"/>
          <p:nvPr/>
        </p:nvSpPr>
        <p:spPr>
          <a:xfrm>
            <a:off x="804672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Claude Haiku</a:t>
            </a:r>
            <a:endParaRPr lang="pt-BR" sz="1200" dirty="0"/>
          </a:p>
        </p:txBody>
      </p:sp>
      <p:sp>
        <p:nvSpPr>
          <p:cNvPr id="34" name="Text 34"/>
          <p:cNvSpPr txBox="1"/>
          <p:nvPr/>
        </p:nvSpPr>
        <p:spPr>
          <a:xfrm>
            <a:off x="548640" y="4480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60 chamadas · 0 sem resposta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de problemas filtra por código, tema e dificuldade</a:t>
            </a:r>
            <a:endParaRPr lang="en-US" sz="3000" dirty="0"/>
          </a:p>
        </p:txBody>
      </p:sp>
      <p:sp>
        <p:nvSpPr>
          <p:cNvPr id="21" name="frame-lista-problemas-filtros.png"/>
          <p:cNvSpPr/>
          <p:nvPr/>
        </p:nvSpPr>
        <p:spPr>
          <a:xfrm>
            <a:off x="1174217" y="1746504"/>
            <a:ext cx="9843262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lista-problemas-filtros.png" descr="lista-problemas-fil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0793" y="1783080"/>
            <a:ext cx="977011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Vários problemas entram de uma vez por JSON</a:t>
            </a:r>
            <a:endParaRPr lang="en-US" sz="3000" dirty="0"/>
          </a:p>
        </p:txBody>
      </p:sp>
      <p:sp>
        <p:nvSpPr>
          <p:cNvPr id="21" name="frame-v4-problem-import.png"/>
          <p:cNvSpPr/>
          <p:nvPr/>
        </p:nvSpPr>
        <p:spPr>
          <a:xfrm>
            <a:off x="2076552" y="1746504"/>
            <a:ext cx="8038592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problem-import.png" descr="v4-problem-impo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13128" y="1783080"/>
            <a:ext cx="796544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torneio se configura em uma tela</a:t>
            </a:r>
            <a:endParaRPr lang="en-US" sz="3000" dirty="0"/>
          </a:p>
        </p:txBody>
      </p:sp>
      <p:sp>
        <p:nvSpPr>
          <p:cNvPr id="21" name="frame-v4-contest-settings.png"/>
          <p:cNvSpPr/>
          <p:nvPr/>
        </p:nvSpPr>
        <p:spPr>
          <a:xfrm>
            <a:off x="2221783" y="1746504"/>
            <a:ext cx="7748129" cy="405079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contest-settings.png" descr="v4-contest-settin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8359" y="1783080"/>
            <a:ext cx="7674977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Nome, datas, privado e nível de IA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entram no torneio pelo código</a:t>
            </a:r>
            <a:endParaRPr lang="en-US" sz="3000" dirty="0"/>
          </a:p>
        </p:txBody>
      </p:sp>
      <p:sp>
        <p:nvSpPr>
          <p:cNvPr id="21" name="frame-torneio-busca-codigo.png"/>
          <p:cNvSpPr/>
          <p:nvPr/>
        </p:nvSpPr>
        <p:spPr>
          <a:xfrm>
            <a:off x="1103501" y="1746504"/>
            <a:ext cx="9984694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torneio-busca-codigo.png" descr="torneio-busca-codi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0077" y="1783080"/>
            <a:ext cx="9911542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torneio privado, o professor aprova quem entra</a:t>
            </a:r>
            <a:endParaRPr lang="en-US" sz="3000" dirty="0"/>
          </a:p>
        </p:txBody>
      </p:sp>
      <p:sp>
        <p:nvSpPr>
          <p:cNvPr id="21" name="frame-v4-contest-join-requests.png"/>
          <p:cNvSpPr/>
          <p:nvPr/>
        </p:nvSpPr>
        <p:spPr>
          <a:xfrm>
            <a:off x="512064" y="2599982"/>
            <a:ext cx="11167567" cy="2846756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contest-join-requests.png" descr="v4-contest-join-reques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636558"/>
            <a:ext cx="11094415" cy="27736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decide quanto a IA ajuda no torneio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48640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0080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desligada</a:t>
            </a:r>
            <a:endParaRPr lang="pt-BR" sz="2000" dirty="0"/>
          </a:p>
        </p:txBody>
      </p:sp>
      <p:sp>
        <p:nvSpPr>
          <p:cNvPr id="23" name="Text 23"/>
          <p:cNvSpPr txBox="1"/>
          <p:nvPr/>
        </p:nvSpPr>
        <p:spPr>
          <a:xfrm>
            <a:off x="640080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sem IA</a:t>
            </a:r>
            <a:endParaRPr lang="pt-BR" sz="1200" dirty="0"/>
          </a:p>
        </p:txBody>
      </p:sp>
      <p:cxnSp>
        <p:nvCxnSpPr>
          <p:cNvPr id="24" name="Arrow 24"/>
          <p:cNvCxnSpPr/>
          <p:nvPr/>
        </p:nvCxnSpPr>
        <p:spPr>
          <a:xfrm>
            <a:off x="2999918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5" name="Shape 25"/>
          <p:cNvSpPr/>
          <p:nvPr/>
        </p:nvSpPr>
        <p:spPr>
          <a:xfrm>
            <a:off x="3447974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3539414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conceito</a:t>
            </a:r>
            <a:endParaRPr lang="pt-BR" sz="2000" dirty="0"/>
          </a:p>
        </p:txBody>
      </p:sp>
      <p:sp>
        <p:nvSpPr>
          <p:cNvPr id="27" name="Text 27"/>
          <p:cNvSpPr txBox="1"/>
          <p:nvPr/>
        </p:nvSpPr>
        <p:spPr>
          <a:xfrm>
            <a:off x="3539414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nomeia a área</a:t>
            </a:r>
            <a:endParaRPr lang="pt-BR" sz="1200" dirty="0"/>
          </a:p>
        </p:txBody>
      </p:sp>
      <p:cxnSp>
        <p:nvCxnSpPr>
          <p:cNvPr id="28" name="Arrow 28"/>
          <p:cNvCxnSpPr/>
          <p:nvPr/>
        </p:nvCxnSpPr>
        <p:spPr>
          <a:xfrm>
            <a:off x="5899252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9" name="Shape 29"/>
          <p:cNvSpPr/>
          <p:nvPr/>
        </p:nvSpPr>
        <p:spPr>
          <a:xfrm>
            <a:off x="6347308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6438748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dica</a:t>
            </a:r>
            <a:endParaRPr lang="pt-BR" sz="2000" dirty="0"/>
          </a:p>
        </p:txBody>
      </p:sp>
      <p:sp>
        <p:nvSpPr>
          <p:cNvPr id="31" name="Text 31"/>
          <p:cNvSpPr txBox="1"/>
          <p:nvPr/>
        </p:nvSpPr>
        <p:spPr>
          <a:xfrm>
            <a:off x="6438748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explica o erro</a:t>
            </a:r>
            <a:endParaRPr lang="pt-BR" sz="1200" dirty="0"/>
          </a:p>
        </p:txBody>
      </p:sp>
      <p:cxnSp>
        <p:nvCxnSpPr>
          <p:cNvPr id="32" name="Arrow 32"/>
          <p:cNvCxnSpPr/>
          <p:nvPr/>
        </p:nvCxnSpPr>
        <p:spPr>
          <a:xfrm>
            <a:off x="8798585" y="320040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3" name="Shape 33"/>
          <p:cNvSpPr/>
          <p:nvPr/>
        </p:nvSpPr>
        <p:spPr>
          <a:xfrm>
            <a:off x="9246641" y="2560320"/>
            <a:ext cx="2396414" cy="128016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9338081" y="2816352"/>
            <a:ext cx="22135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bg1"/>
                </a:solidFill>
              </a:rPr>
              <a:t>precisa</a:t>
            </a:r>
            <a:endParaRPr lang="pt-BR" sz="2000" dirty="0"/>
          </a:p>
        </p:txBody>
      </p:sp>
      <p:sp>
        <p:nvSpPr>
          <p:cNvPr id="35" name="Text 35"/>
          <p:cNvSpPr txBox="1"/>
          <p:nvPr/>
        </p:nvSpPr>
        <p:spPr>
          <a:xfrm>
            <a:off x="9338081" y="3246120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aponta a linha</a:t>
            </a:r>
            <a:endParaRPr lang="pt-BR" sz="1200" dirty="0"/>
          </a:p>
        </p:txBody>
      </p:sp>
      <p:sp>
        <p:nvSpPr>
          <p:cNvPr id="36" name="Text 36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O aluno libera um nível por vez.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Placar no estilo das maratonas de programação</a:t>
            </a:r>
            <a:endParaRPr lang="en-US" sz="3000" dirty="0"/>
          </a:p>
        </p:txBody>
      </p:sp>
      <p:sp>
        <p:nvSpPr>
          <p:cNvPr id="21" name="frame-v4-standings.png"/>
          <p:cNvSpPr/>
          <p:nvPr/>
        </p:nvSpPr>
        <p:spPr>
          <a:xfrm>
            <a:off x="512064" y="2316051"/>
            <a:ext cx="11167567" cy="341461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standings.png" descr="v4-standin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352627"/>
            <a:ext cx="11094415" cy="33414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célula conta tentativas, minuto e quem resolveu primeiro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828800" y="210312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828800" y="21031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000" b="1" dirty="0">
                <a:solidFill>
                  <a:srgbClr val="FFFFFF"/>
                </a:solidFill>
              </a:rPr>
              <a:t>2</a:t>
            </a:r>
            <a:endParaRPr lang="pt-BR" sz="4000" dirty="0"/>
          </a:p>
          <a:p>
            <a:pPr algn="ctr" indent="0" marL="0">
              <a:buNone/>
            </a:pPr>
            <a:r>
              <a:rPr lang="pt-BR" sz="2000" b="1" dirty="0">
                <a:solidFill>
                  <a:srgbClr val="FFFFFF"/>
                </a:solidFill>
              </a:rPr>
              <a:t>22'</a:t>
            </a:r>
            <a:endParaRPr lang="pt-BR" sz="4000" dirty="0"/>
          </a:p>
        </p:txBody>
      </p:sp>
      <p:sp>
        <p:nvSpPr>
          <p:cNvPr id="23" name="Text 23"/>
          <p:cNvSpPr txBox="1"/>
          <p:nvPr/>
        </p:nvSpPr>
        <p:spPr>
          <a:xfrm>
            <a:off x="36118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3000" dirty="0">
                <a:solidFill>
                  <a:srgbClr val="F5A524"/>
                </a:solidFill>
              </a:rPr>
              <a:t>★</a:t>
            </a:r>
            <a:endParaRPr lang="pt-BR" sz="3000" dirty="0"/>
          </a:p>
        </p:txBody>
      </p:sp>
      <p:sp>
        <p:nvSpPr>
          <p:cNvPr id="24" name="Text 24"/>
          <p:cNvSpPr txBox="1"/>
          <p:nvPr/>
        </p:nvSpPr>
        <p:spPr>
          <a:xfrm>
            <a:off x="448056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2</a:t>
            </a:r>
            <a:r>
              <a:rPr lang="pt-BR" sz="2200" dirty="0">
                <a:solidFill>
                  <a:schemeClr val="bg1"/>
                </a:solidFill>
              </a:rPr>
              <a:t xml:space="preserve"> tentativas</a:t>
            </a:r>
            <a:endParaRPr lang="pt-BR" sz="2200" dirty="0"/>
          </a:p>
          <a:p>
            <a:pPr indent="0" marL="0">
              <a:buNone/>
            </a:pPr>
            <a:r>
              <a:rPr lang="pt-BR" sz="2200" b="1" dirty="0">
                <a:solidFill>
                  <a:schemeClr val="accent1"/>
                </a:solidFill>
              </a:rPr>
              <a:t>22'</a:t>
            </a:r>
            <a:r>
              <a:rPr lang="pt-BR" sz="2200" dirty="0">
                <a:solidFill>
                  <a:schemeClr val="bg1"/>
                </a:solidFill>
              </a:rPr>
              <a:t xml:space="preserve"> minuto do acerto</a:t>
            </a:r>
            <a:endParaRPr lang="pt-BR" sz="2200" dirty="0"/>
          </a:p>
          <a:p>
            <a:pPr indent="0" marL="0">
              <a:buNone/>
            </a:pPr>
            <a:r>
              <a:rPr lang="pt-BR" sz="2200" b="1" dirty="0">
                <a:solidFill>
                  <a:srgbClr val="F5A524"/>
                </a:solidFill>
              </a:rPr>
              <a:t>★</a:t>
            </a:r>
            <a:r>
              <a:rPr lang="pt-BR" sz="2200" dirty="0">
                <a:solidFill>
                  <a:schemeClr val="bg1"/>
                </a:solidFill>
              </a:rPr>
              <a:t xml:space="preserve"> primeiro a resolver</a:t>
            </a:r>
            <a:endParaRPr lang="pt-B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O PROFESSOR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Placar de 1000 alunos em 0,12 s; boletim em 0,27 s</a:t>
            </a:r>
            <a:endParaRPr lang="en-US" sz="3000" dirty="0"/>
          </a:p>
        </p:txBody>
      </p:sp>
      <p:pic>
        <p:nvPicPr>
          <p:cNvPr id="22" name="img-web_compute.png" descr="web_comp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Cálculo puro, sem banco, dados sintéticos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resolve, envia e entende o erro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31520" y="219456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800" b="1" dirty="0">
                <a:solidFill>
                  <a:schemeClr val="accent1"/>
                </a:solidFill>
              </a:rPr>
              <a:t>O aluno</a:t>
            </a:r>
            <a:endParaRPr lang="pt-BR" sz="4800" dirty="0"/>
          </a:p>
        </p:txBody>
      </p:sp>
      <p:sp>
        <p:nvSpPr>
          <p:cNvPr id="22" name="Text 22"/>
          <p:cNvSpPr txBox="1"/>
          <p:nvPr/>
        </p:nvSpPr>
        <p:spPr>
          <a:xfrm>
            <a:off x="731520" y="3749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800" dirty="0">
                <a:solidFill>
                  <a:schemeClr val="bg2"/>
                </a:solidFill>
              </a:rPr>
              <a:t>resolver · entender · voltar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inicial mostra o que falta fazer</a:t>
            </a:r>
            <a:endParaRPr lang="en-US" sz="3000" dirty="0"/>
          </a:p>
        </p:txBody>
      </p:sp>
      <p:sp>
        <p:nvSpPr>
          <p:cNvPr id="21" name="frame-v4-home.png"/>
          <p:cNvSpPr/>
          <p:nvPr/>
        </p:nvSpPr>
        <p:spPr>
          <a:xfrm>
            <a:off x="1158659" y="1746504"/>
            <a:ext cx="9874377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home.png" descr="v4-hom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5235" y="1783080"/>
            <a:ext cx="9801225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editor salva sozinho no navegador</a:t>
            </a:r>
            <a:endParaRPr lang="en-US" sz="3000" dirty="0"/>
          </a:p>
        </p:txBody>
      </p:sp>
      <p:sp>
        <p:nvSpPr>
          <p:cNvPr id="21" name="frame-editor-autosave.png"/>
          <p:cNvSpPr/>
          <p:nvPr/>
        </p:nvSpPr>
        <p:spPr>
          <a:xfrm>
            <a:off x="2685091" y="1746504"/>
            <a:ext cx="6821514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editor-autosave.png" descr="editor-autosa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1667" y="1783080"/>
            <a:ext cx="6748362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envio guarda o código e pode pedir explicação</a:t>
            </a:r>
            <a:endParaRPr lang="en-US" sz="3000" dirty="0"/>
          </a:p>
        </p:txBody>
      </p:sp>
      <p:sp>
        <p:nvSpPr>
          <p:cNvPr id="21" name="frame-submissoes-explicar.png"/>
          <p:cNvSpPr/>
          <p:nvPr/>
        </p:nvSpPr>
        <p:spPr>
          <a:xfrm>
            <a:off x="1178487" y="1746504"/>
            <a:ext cx="9834721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submissoes-explicar.png" descr="submissoes-explic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5063" y="1783080"/>
            <a:ext cx="9761569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 que falhou mostra entrada, saída e esperado</a:t>
            </a:r>
            <a:endParaRPr lang="en-US" sz="3000" dirty="0"/>
          </a:p>
        </p:txBody>
      </p:sp>
      <p:sp>
        <p:nvSpPr>
          <p:cNvPr id="21" name="frame-torneio-editor.png"/>
          <p:cNvSpPr/>
          <p:nvPr/>
        </p:nvSpPr>
        <p:spPr>
          <a:xfrm>
            <a:off x="2196267" y="1746504"/>
            <a:ext cx="7799162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torneio-editor.png" descr="torneio-edi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2843" y="1783080"/>
            <a:ext cx="772601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K abre uma busca que leva a qualquer lugar</a:t>
            </a:r>
            <a:endParaRPr lang="en-US" sz="3000" dirty="0"/>
          </a:p>
        </p:txBody>
      </p:sp>
      <p:sp>
        <p:nvSpPr>
          <p:cNvPr id="21" name="frame-v4-command-palette.png"/>
          <p:cNvSpPr/>
          <p:nvPr/>
        </p:nvSpPr>
        <p:spPr>
          <a:xfrm>
            <a:off x="2698852" y="1746504"/>
            <a:ext cx="6793992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command-palette.png" descr="v4-command-palet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5428" y="1783080"/>
            <a:ext cx="672084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atalho aparece no próprio menu</a:t>
            </a:r>
            <a:endParaRPr lang="en-US" sz="3000" dirty="0"/>
          </a:p>
        </p:txBody>
      </p:sp>
      <p:sp>
        <p:nvSpPr>
          <p:cNvPr id="21" name="frame-v4-command-palette-hint.png"/>
          <p:cNvSpPr/>
          <p:nvPr/>
        </p:nvSpPr>
        <p:spPr>
          <a:xfrm>
            <a:off x="512064" y="2137715"/>
            <a:ext cx="11167567" cy="377129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command-palette-hint.png" descr="v4-command-palette-h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174291"/>
            <a:ext cx="11094415" cy="36981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avisam o veredito e as aprovações</a:t>
            </a:r>
            <a:endParaRPr lang="en-US" sz="3000" dirty="0"/>
          </a:p>
        </p:txBody>
      </p:sp>
      <p:sp>
        <p:nvSpPr>
          <p:cNvPr id="21" name="frame-v4-notifications.png"/>
          <p:cNvSpPr/>
          <p:nvPr/>
        </p:nvSpPr>
        <p:spPr>
          <a:xfrm>
            <a:off x="3411668" y="1746504"/>
            <a:ext cx="5368359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notifications.png" descr="v4-notificati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8244" y="1783080"/>
            <a:ext cx="5295207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perfil mostra os torneios e problemas de cada um</a:t>
            </a:r>
            <a:endParaRPr lang="en-US" sz="3000" dirty="0"/>
          </a:p>
        </p:txBody>
      </p:sp>
      <p:sp>
        <p:nvSpPr>
          <p:cNvPr id="21" name="frame-v4-profile.png"/>
          <p:cNvSpPr/>
          <p:nvPr/>
        </p:nvSpPr>
        <p:spPr>
          <a:xfrm>
            <a:off x="2009535" y="1746504"/>
            <a:ext cx="8172626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profile.png" descr="v4-profi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6111" y="1783080"/>
            <a:ext cx="8099474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temas, ou um tema próprio</a:t>
            </a:r>
            <a:endParaRPr lang="en-US" sz="3000" dirty="0"/>
          </a:p>
        </p:txBody>
      </p:sp>
      <p:sp>
        <p:nvSpPr>
          <p:cNvPr id="21" name="frame-v4-settings-theme.png"/>
          <p:cNvSpPr/>
          <p:nvPr/>
        </p:nvSpPr>
        <p:spPr>
          <a:xfrm>
            <a:off x="512064" y="1746566"/>
            <a:ext cx="11167567" cy="4553589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settings-theme.png" descr="v4-settings-them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783142"/>
            <a:ext cx="11094415" cy="44804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 ALUNO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 página de erro fala a língua do programador</a:t>
            </a:r>
            <a:endParaRPr lang="en-US" sz="3000" dirty="0"/>
          </a:p>
        </p:txBody>
      </p:sp>
      <p:sp>
        <p:nvSpPr>
          <p:cNvPr id="21" name="frame-v4-404.png"/>
          <p:cNvSpPr/>
          <p:nvPr/>
        </p:nvSpPr>
        <p:spPr>
          <a:xfrm>
            <a:off x="3570072" y="1746504"/>
            <a:ext cx="5051552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404.png" descr="v4-4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6648" y="1783080"/>
            <a:ext cx="497840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turma tem aulas com prazo e revisão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31520" y="219456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800" b="1" dirty="0">
                <a:solidFill>
                  <a:schemeClr val="accent1"/>
                </a:solidFill>
              </a:rPr>
              <a:t>Aulas e turma</a:t>
            </a:r>
            <a:endParaRPr lang="pt-BR" sz="4800" dirty="0"/>
          </a:p>
        </p:txBody>
      </p:sp>
      <p:sp>
        <p:nvSpPr>
          <p:cNvPr id="22" name="Text 22"/>
          <p:cNvSpPr txBox="1"/>
          <p:nvPr/>
        </p:nvSpPr>
        <p:spPr>
          <a:xfrm>
            <a:off x="731520" y="3749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800" dirty="0">
                <a:solidFill>
                  <a:schemeClr val="bg2"/>
                </a:solidFill>
              </a:rPr>
              <a:t>listas de exercícios do professor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entra na turma com um código de seis letras</a:t>
            </a:r>
            <a:endParaRPr lang="en-US" sz="3000" dirty="0"/>
          </a:p>
        </p:txBody>
      </p:sp>
      <p:sp>
        <p:nvSpPr>
          <p:cNvPr id="21" name="frame-turma-codigo.png"/>
          <p:cNvSpPr/>
          <p:nvPr/>
        </p:nvSpPr>
        <p:spPr>
          <a:xfrm>
            <a:off x="512064" y="3268699"/>
            <a:ext cx="11167567" cy="150932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turma-codigo.png" descr="turma-codi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305275"/>
            <a:ext cx="11094415" cy="14361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aulas da turma têm prazo</a:t>
            </a:r>
            <a:endParaRPr lang="en-US" sz="3000" dirty="0"/>
          </a:p>
        </p:txBody>
      </p:sp>
      <p:sp>
        <p:nvSpPr>
          <p:cNvPr id="21" name="frame-v4-class-lessons.png"/>
          <p:cNvSpPr/>
          <p:nvPr/>
        </p:nvSpPr>
        <p:spPr>
          <a:xfrm>
            <a:off x="512064" y="2071427"/>
            <a:ext cx="11167567" cy="3903865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class-lessons.png" descr="v4-class-less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108003"/>
            <a:ext cx="11094415" cy="38307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Blocos para quem nunca programou</a:t>
            </a:r>
            <a:endParaRPr lang="en-US" sz="3000" dirty="0"/>
          </a:p>
        </p:txBody>
      </p:sp>
      <p:sp>
        <p:nvSpPr>
          <p:cNvPr id="21" name="frame-formato-blocos.png"/>
          <p:cNvSpPr/>
          <p:nvPr/>
        </p:nvSpPr>
        <p:spPr>
          <a:xfrm>
            <a:off x="4263718" y="1746504"/>
            <a:ext cx="3664259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formato-blocos.png" descr="formato-bloc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0294" y="1783080"/>
            <a:ext cx="3591107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Parsons: ordenar as linhas certas</a:t>
            </a:r>
            <a:endParaRPr lang="en-US" sz="3000" dirty="0"/>
          </a:p>
        </p:txBody>
      </p:sp>
      <p:sp>
        <p:nvSpPr>
          <p:cNvPr id="21" name="frame-formato-parsons.png"/>
          <p:cNvSpPr/>
          <p:nvPr/>
        </p:nvSpPr>
        <p:spPr>
          <a:xfrm>
            <a:off x="870286" y="1746504"/>
            <a:ext cx="10451123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formato-parsons.png" descr="formato-pars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862" y="1783080"/>
            <a:ext cx="10377971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exige como resolver, não só o resultado</a:t>
            </a:r>
            <a:endParaRPr lang="en-US" sz="3000" dirty="0"/>
          </a:p>
        </p:txBody>
      </p:sp>
      <p:sp>
        <p:nvSpPr>
          <p:cNvPr id="21" name="frame-solution-constraints.png"/>
          <p:cNvSpPr/>
          <p:nvPr/>
        </p:nvSpPr>
        <p:spPr>
          <a:xfrm>
            <a:off x="4077933" y="1746504"/>
            <a:ext cx="4035829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solution-constraints.png" descr="solution-constrain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509" y="1783080"/>
            <a:ext cx="3962677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acertam código real e erram texto em strings e comentários</a:t>
            </a:r>
            <a:endParaRPr lang="en-US" sz="3000" dirty="0"/>
          </a:p>
        </p:txBody>
      </p:sp>
      <p:pic>
        <p:nvPicPr>
          <p:cNvPr id="22" name="img-constraints_accuracy.png" descr="constraints_accurac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30 amostras rotuladas à mão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revisa e comenta cada exercício</a:t>
            </a:r>
            <a:endParaRPr lang="en-US" sz="3000" dirty="0"/>
          </a:p>
        </p:txBody>
      </p:sp>
      <p:sp>
        <p:nvSpPr>
          <p:cNvPr id="21" name="frame-revisao-professor.png"/>
          <p:cNvSpPr/>
          <p:nvPr/>
        </p:nvSpPr>
        <p:spPr>
          <a:xfrm>
            <a:off x="2777735" y="1746504"/>
            <a:ext cx="6636226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revisao-professor.png" descr="revisao-profess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4311" y="1783080"/>
            <a:ext cx="6563074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da turma inteira numa tabela</a:t>
            </a:r>
            <a:endParaRPr lang="en-US" sz="3000" dirty="0"/>
          </a:p>
        </p:txBody>
      </p:sp>
      <p:sp>
        <p:nvSpPr>
          <p:cNvPr id="21" name="frame-v4-gradebook.png"/>
          <p:cNvSpPr/>
          <p:nvPr/>
        </p:nvSpPr>
        <p:spPr>
          <a:xfrm>
            <a:off x="782168" y="1746504"/>
            <a:ext cx="10627360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gradebook.png" descr="v4-gradeboo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744" y="1783080"/>
            <a:ext cx="10554208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AULAS E TURMA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CSV abre certo no Excel e não executa fórmulas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=HYPERLINK("http://…")</a:t>
            </a:r>
            <a:r>
              <a:rPr lang="pt-BR" sz="2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→   </a:t>
            </a:r>
            <a:r>
              <a:rPr lang="pt-BR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'=HYPERLINK("http://…")</a:t>
            </a:r>
            <a:endParaRPr lang="pt-BR" sz="2400" dirty="0"/>
          </a:p>
        </p:txBody>
      </p:sp>
      <p:sp>
        <p:nvSpPr>
          <p:cNvPr id="22" name="Shape 22"/>
          <p:cNvSpPr/>
          <p:nvPr/>
        </p:nvSpPr>
        <p:spPr>
          <a:xfrm>
            <a:off x="2355952" y="3566160"/>
            <a:ext cx="1408176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2355952" y="356616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 4180</a:t>
            </a:r>
            <a:endParaRPr lang="pt-BR" sz="1600" dirty="0"/>
          </a:p>
        </p:txBody>
      </p:sp>
      <p:sp>
        <p:nvSpPr>
          <p:cNvPr id="24" name="Shape 24"/>
          <p:cNvSpPr/>
          <p:nvPr/>
        </p:nvSpPr>
        <p:spPr>
          <a:xfrm>
            <a:off x="4084168" y="3566160"/>
            <a:ext cx="2359152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4084168" y="356616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BOM para o Excel</a:t>
            </a:r>
            <a:endParaRPr lang="pt-BR" sz="1600" dirty="0"/>
          </a:p>
        </p:txBody>
      </p:sp>
      <p:sp>
        <p:nvSpPr>
          <p:cNvPr id="26" name="Shape 26"/>
          <p:cNvSpPr/>
          <p:nvPr/>
        </p:nvSpPr>
        <p:spPr>
          <a:xfrm>
            <a:off x="6763360" y="3566160"/>
            <a:ext cx="3072384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6763360" y="3566160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fórmulas neutralizadas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professor agora vê quem copiou de quem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31520" y="219456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4800" b="1" dirty="0">
                <a:solidFill>
                  <a:schemeClr val="accent1"/>
                </a:solidFill>
              </a:rPr>
              <a:t>Plágio</a:t>
            </a:r>
            <a:endParaRPr lang="pt-BR" sz="4800" dirty="0"/>
          </a:p>
        </p:txBody>
      </p:sp>
      <p:sp>
        <p:nvSpPr>
          <p:cNvPr id="22" name="Text 22"/>
          <p:cNvSpPr txBox="1"/>
          <p:nvPr/>
        </p:nvSpPr>
        <p:spPr>
          <a:xfrm>
            <a:off x="731520" y="3749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800" dirty="0">
                <a:solidFill>
                  <a:schemeClr val="bg2"/>
                </a:solidFill>
              </a:rPr>
              <a:t>similaridade de código, estilo MOSS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vira impressões digitais antes da comparação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48640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640080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código</a:t>
            </a:r>
            <a:endParaRPr lang="pt-BR" sz="1800" dirty="0"/>
          </a:p>
        </p:txBody>
      </p:sp>
      <p:sp>
        <p:nvSpPr>
          <p:cNvPr id="23" name="Text 23"/>
          <p:cNvSpPr txBox="1"/>
          <p:nvPr/>
        </p:nvSpPr>
        <p:spPr>
          <a:xfrm>
            <a:off x="640080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do aluno</a:t>
            </a:r>
            <a:endParaRPr lang="pt-BR" sz="1200" dirty="0"/>
          </a:p>
        </p:txBody>
      </p:sp>
      <p:cxnSp>
        <p:nvCxnSpPr>
          <p:cNvPr id="24" name="Arrow 24"/>
          <p:cNvCxnSpPr/>
          <p:nvPr/>
        </p:nvCxnSpPr>
        <p:spPr>
          <a:xfrm>
            <a:off x="2493203" y="2606040"/>
            <a:ext cx="30175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5" name="Shape 25"/>
          <p:cNvSpPr/>
          <p:nvPr/>
        </p:nvSpPr>
        <p:spPr>
          <a:xfrm>
            <a:off x="2849819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2941259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tokens</a:t>
            </a:r>
            <a:endParaRPr lang="pt-BR" sz="1800" dirty="0"/>
          </a:p>
        </p:txBody>
      </p:sp>
      <p:sp>
        <p:nvSpPr>
          <p:cNvPr id="27" name="Text 27"/>
          <p:cNvSpPr txBox="1"/>
          <p:nvPr/>
        </p:nvSpPr>
        <p:spPr>
          <a:xfrm>
            <a:off x="2941259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nomes → V</a:t>
            </a:r>
            <a:endParaRPr lang="pt-BR" sz="1200" dirty="0"/>
          </a:p>
        </p:txBody>
      </p:sp>
      <p:cxnSp>
        <p:nvCxnSpPr>
          <p:cNvPr id="28" name="Arrow 28"/>
          <p:cNvCxnSpPr/>
          <p:nvPr/>
        </p:nvCxnSpPr>
        <p:spPr>
          <a:xfrm>
            <a:off x="4794382" y="2606040"/>
            <a:ext cx="30175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9" name="Shape 29"/>
          <p:cNvSpPr/>
          <p:nvPr/>
        </p:nvSpPr>
        <p:spPr>
          <a:xfrm>
            <a:off x="5150998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5242438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k-gramas</a:t>
            </a:r>
            <a:endParaRPr lang="pt-BR" sz="1800" dirty="0"/>
          </a:p>
        </p:txBody>
      </p:sp>
      <p:sp>
        <p:nvSpPr>
          <p:cNvPr id="31" name="Text 31"/>
          <p:cNvSpPr txBox="1"/>
          <p:nvPr/>
        </p:nvSpPr>
        <p:spPr>
          <a:xfrm>
            <a:off x="5242438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k = 5</a:t>
            </a:r>
            <a:endParaRPr lang="pt-BR" sz="1200" dirty="0"/>
          </a:p>
        </p:txBody>
      </p:sp>
      <p:cxnSp>
        <p:nvCxnSpPr>
          <p:cNvPr id="32" name="Arrow 32"/>
          <p:cNvCxnSpPr/>
          <p:nvPr/>
        </p:nvCxnSpPr>
        <p:spPr>
          <a:xfrm>
            <a:off x="7095561" y="2606040"/>
            <a:ext cx="30175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3" name="Shape 33"/>
          <p:cNvSpPr/>
          <p:nvPr/>
        </p:nvSpPr>
        <p:spPr>
          <a:xfrm>
            <a:off x="7452177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7543617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winnowing</a:t>
            </a:r>
            <a:endParaRPr lang="pt-BR" sz="1800" dirty="0"/>
          </a:p>
        </p:txBody>
      </p:sp>
      <p:sp>
        <p:nvSpPr>
          <p:cNvPr id="35" name="Text 35"/>
          <p:cNvSpPr txBox="1"/>
          <p:nvPr/>
        </p:nvSpPr>
        <p:spPr>
          <a:xfrm>
            <a:off x="7543617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janela w = 4</a:t>
            </a:r>
            <a:endParaRPr lang="pt-BR" sz="1200" dirty="0"/>
          </a:p>
        </p:txBody>
      </p:sp>
      <p:cxnSp>
        <p:nvCxnSpPr>
          <p:cNvPr id="36" name="Arrow 36"/>
          <p:cNvCxnSpPr/>
          <p:nvPr/>
        </p:nvCxnSpPr>
        <p:spPr>
          <a:xfrm>
            <a:off x="9396740" y="2606040"/>
            <a:ext cx="30175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7" name="Shape 37"/>
          <p:cNvSpPr/>
          <p:nvPr/>
        </p:nvSpPr>
        <p:spPr>
          <a:xfrm>
            <a:off x="9753356" y="2011680"/>
            <a:ext cx="1889699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9844796" y="22219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impressões</a:t>
            </a:r>
            <a:endParaRPr lang="pt-BR" sz="1800" dirty="0"/>
          </a:p>
        </p:txBody>
      </p:sp>
      <p:sp>
        <p:nvSpPr>
          <p:cNvPr id="39" name="Text 39"/>
          <p:cNvSpPr txBox="1"/>
          <p:nvPr/>
        </p:nvSpPr>
        <p:spPr>
          <a:xfrm>
            <a:off x="9844796" y="2651760"/>
            <a:ext cx="1706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hashes</a:t>
            </a:r>
            <a:endParaRPr lang="pt-BR" sz="1200" dirty="0"/>
          </a:p>
        </p:txBody>
      </p:sp>
      <p:sp>
        <p:nvSpPr>
          <p:cNvPr id="40" name="Shape 40"/>
          <p:cNvSpPr/>
          <p:nvPr/>
        </p:nvSpPr>
        <p:spPr>
          <a:xfrm>
            <a:off x="2011680" y="3840480"/>
            <a:ext cx="2377440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2103120" y="4050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pares</a:t>
            </a:r>
            <a:endParaRPr lang="pt-BR" sz="1800" dirty="0"/>
          </a:p>
        </p:txBody>
      </p:sp>
      <p:sp>
        <p:nvSpPr>
          <p:cNvPr id="42" name="Text 42"/>
          <p:cNvSpPr txBox="1"/>
          <p:nvPr/>
        </p:nvSpPr>
        <p:spPr>
          <a:xfrm>
            <a:off x="210312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mesma linguagem</a:t>
            </a:r>
            <a:endParaRPr lang="pt-BR" sz="1200" dirty="0"/>
          </a:p>
        </p:txBody>
      </p:sp>
      <p:cxnSp>
        <p:nvCxnSpPr>
          <p:cNvPr id="43" name="Arrow 43"/>
          <p:cNvCxnSpPr/>
          <p:nvPr/>
        </p:nvCxnSpPr>
        <p:spPr>
          <a:xfrm>
            <a:off x="4443984" y="443484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44" name="Shape 44"/>
          <p:cNvSpPr/>
          <p:nvPr/>
        </p:nvSpPr>
        <p:spPr>
          <a:xfrm>
            <a:off x="4892040" y="3840480"/>
            <a:ext cx="2377440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Text 45"/>
          <p:cNvSpPr txBox="1"/>
          <p:nvPr/>
        </p:nvSpPr>
        <p:spPr>
          <a:xfrm>
            <a:off x="4983480" y="4050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greedy tiling</a:t>
            </a:r>
            <a:endParaRPr lang="pt-BR" sz="1800" dirty="0"/>
          </a:p>
        </p:txBody>
      </p:sp>
      <p:sp>
        <p:nvSpPr>
          <p:cNvPr id="46" name="Text 46"/>
          <p:cNvSpPr txBox="1"/>
          <p:nvPr/>
        </p:nvSpPr>
        <p:spPr>
          <a:xfrm>
            <a:off x="498348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trechos iguais</a:t>
            </a:r>
            <a:endParaRPr lang="pt-BR" sz="1200" dirty="0"/>
          </a:p>
        </p:txBody>
      </p:sp>
      <p:cxnSp>
        <p:nvCxnSpPr>
          <p:cNvPr id="47" name="Arrow 47"/>
          <p:cNvCxnSpPr/>
          <p:nvPr/>
        </p:nvCxnSpPr>
        <p:spPr>
          <a:xfrm>
            <a:off x="7324344" y="4434840"/>
            <a:ext cx="393192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48" name="Shape 48"/>
          <p:cNvSpPr/>
          <p:nvPr/>
        </p:nvSpPr>
        <p:spPr>
          <a:xfrm>
            <a:off x="7772400" y="3840480"/>
            <a:ext cx="2377440" cy="1188720"/>
          </a:xfrm>
          <a:prstGeom prst="roundRect">
            <a:avLst>
              <a:gd name="adj" fmla="val 2083"/>
            </a:avLst>
          </a:prstGeom>
          <a:solidFill>
            <a:srgbClr val="151B2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Text 49"/>
          <p:cNvSpPr txBox="1"/>
          <p:nvPr/>
        </p:nvSpPr>
        <p:spPr>
          <a:xfrm>
            <a:off x="7863840" y="40507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bg1"/>
                </a:solidFill>
              </a:rPr>
              <a:t>similaridade</a:t>
            </a:r>
            <a:endParaRPr lang="pt-BR" sz="1800" dirty="0"/>
          </a:p>
        </p:txBody>
      </p:sp>
      <p:sp>
        <p:nvSpPr>
          <p:cNvPr id="50" name="Text 50"/>
          <p:cNvSpPr txBox="1"/>
          <p:nvPr/>
        </p:nvSpPr>
        <p:spPr>
          <a:xfrm>
            <a:off x="7863840" y="4480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chemeClr val="bg2"/>
                </a:solidFill>
              </a:rPr>
              <a:t>0 a 100%</a:t>
            </a:r>
            <a:endParaRPr lang="pt-BR" sz="1200" dirty="0"/>
          </a:p>
        </p:txBody>
      </p:sp>
      <p:sp>
        <p:nvSpPr>
          <p:cNvPr id="51" name="Text 51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Estilo MOSS (Schleimer et al., 2003)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Renomear variáveis não engana a comparação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 total += v[i];</a:t>
            </a:r>
            <a:endParaRPr lang="pt-BR" sz="2400" dirty="0"/>
          </a:p>
        </p:txBody>
      </p:sp>
      <p:cxnSp>
        <p:nvCxnSpPr>
          <p:cNvPr id="22" name="Arrow 22"/>
          <p:cNvCxnSpPr/>
          <p:nvPr/>
        </p:nvCxnSpPr>
        <p:spPr>
          <a:xfrm>
            <a:off x="6080760" y="2834640"/>
            <a:ext cx="0" cy="54864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3" name="Text 2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 int V = N ; V &lt; V ; V ++ ) V += V [ V ] ;</a:t>
            </a:r>
            <a:endParaRPr lang="pt-BR" sz="2400" dirty="0"/>
          </a:p>
        </p:txBody>
      </p:sp>
      <p:sp>
        <p:nvSpPr>
          <p:cNvPr id="24" name="Text 24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Renomear e reformatar não muda o que é comparado.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lista os pares mais parecidos</a:t>
            </a:r>
            <a:endParaRPr lang="en-US" sz="3000" dirty="0"/>
          </a:p>
        </p:txBody>
      </p:sp>
      <p:sp>
        <p:nvSpPr>
          <p:cNvPr id="21" name="frame-v4-similarity-pairs.png"/>
          <p:cNvSpPr/>
          <p:nvPr/>
        </p:nvSpPr>
        <p:spPr>
          <a:xfrm>
            <a:off x="512064" y="1998162"/>
            <a:ext cx="11167567" cy="4050395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similarity-pairs.png" descr="v4-similarity-pai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034738"/>
            <a:ext cx="11094415" cy="39772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Lado a lado, os trechos iguais aparecem destacados</a:t>
            </a:r>
            <a:endParaRPr lang="en-US" sz="3000" dirty="0"/>
          </a:p>
        </p:txBody>
      </p:sp>
      <p:sp>
        <p:nvSpPr>
          <p:cNvPr id="21" name="frame-v4-similarity-side-by-side.png"/>
          <p:cNvSpPr/>
          <p:nvPr/>
        </p:nvSpPr>
        <p:spPr>
          <a:xfrm>
            <a:off x="512064" y="2102827"/>
            <a:ext cx="11167567" cy="384106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similarity-side-by-side.png" descr="v4-similarity-side-by-si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139403"/>
            <a:ext cx="11094415" cy="37679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comparação também funciona dentro das aulas</a:t>
            </a:r>
            <a:endParaRPr lang="en-US" sz="3000" dirty="0"/>
          </a:p>
        </p:txBody>
      </p:sp>
      <p:sp>
        <p:nvSpPr>
          <p:cNvPr id="21" name="frame-v4-similarity-exercise.png"/>
          <p:cNvSpPr/>
          <p:nvPr/>
        </p:nvSpPr>
        <p:spPr>
          <a:xfrm>
            <a:off x="782168" y="1746504"/>
            <a:ext cx="10627360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similarity-exercise.png" descr="v4-similarity-exerci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744" y="1783080"/>
            <a:ext cx="10554208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Cópias ofuscadas ficam acima de 0,52; soluções independentes, abaixo</a:t>
            </a:r>
            <a:endParaRPr lang="en-US" sz="3000" dirty="0"/>
          </a:p>
        </p:txBody>
      </p:sp>
      <p:pic>
        <p:nvPicPr>
          <p:cNvPr id="22" name="img-plagiarism_levels.png" descr="plagiarism_level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8148" y="1783080"/>
            <a:ext cx="89154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36 soluções originais, 6 ofuscações cada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limiar de 0,52, 98% de precisão e 99,5% de revocação</a:t>
            </a:r>
            <a:endParaRPr lang="en-US" sz="3000" dirty="0"/>
          </a:p>
        </p:txBody>
      </p:sp>
      <p:pic>
        <p:nvPicPr>
          <p:cNvPr id="22" name="img-plagiarism_roc.png" descr="plagiarism_ro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4548" y="1783080"/>
            <a:ext cx="81026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216 cópias contra 198 pares independentes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alunos comparados em menos de meio segundo</a:t>
            </a:r>
            <a:endParaRPr lang="en-US" sz="3000" dirty="0"/>
          </a:p>
        </p:txBody>
      </p:sp>
      <p:pic>
        <p:nvPicPr>
          <p:cNvPr id="22" name="img-plagiarism_perf.png" descr="plagiarism_per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248" y="1783080"/>
            <a:ext cx="8839200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Um exercício, uma linguagem, todos os pares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PLÁGIO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Plágio entre linguagens e código de IA passam despercebidos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394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6000" b="1" dirty="0">
                <a:solidFill>
                  <a:srgbClr val="0B0F14"/>
                </a:solidFill>
              </a:rPr>
              <a:t>!</a:t>
            </a:r>
            <a:endParaRPr lang="pt-BR" sz="6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1"/>
                </a:solidFill>
              </a:rPr>
              <a:t>Só compara a mesma linguagem; não detecta código gerado por IA.</a:t>
            </a:r>
            <a:endParaRPr lang="pt-B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teste informal já mudou o sistema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391760" y="1783080"/>
            <a:ext cx="1408176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391760" y="17830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INFORMAL</a:t>
            </a:r>
            <a:endParaRPr lang="pt-BR" sz="1600" dirty="0"/>
          </a:p>
        </p:txBody>
      </p:sp>
      <p:sp>
        <p:nvSpPr>
          <p:cNvPr id="23" name="Text 23"/>
          <p:cNvSpPr txBox="1"/>
          <p:nvPr/>
        </p:nvSpPr>
        <p:spPr>
          <a:xfrm>
            <a:off x="731520" y="256032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3600" b="1" dirty="0">
                <a:solidFill>
                  <a:schemeClr val="bg1"/>
                </a:solidFill>
              </a:rPr>
              <a:t>5 colegas · Discord · sem roteiro</a:t>
            </a:r>
            <a:endParaRPr lang="pt-B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incomodou virou mudança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371600" y="1920240"/>
            <a:ext cx="9418320" cy="91440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64592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código oculto</a:t>
            </a:r>
            <a:endParaRPr lang="pt-BR" sz="2000" dirty="0"/>
          </a:p>
        </p:txBody>
      </p:sp>
      <p:cxnSp>
        <p:nvCxnSpPr>
          <p:cNvPr id="23" name="Arrow 23"/>
          <p:cNvCxnSpPr/>
          <p:nvPr/>
        </p:nvCxnSpPr>
        <p:spPr>
          <a:xfrm>
            <a:off x="5943600" y="2377440"/>
            <a:ext cx="73152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4" name="Text 24"/>
          <p:cNvSpPr txBox="1"/>
          <p:nvPr/>
        </p:nvSpPr>
        <p:spPr>
          <a:xfrm>
            <a:off x="6858000" y="1920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chemeClr val="accent1"/>
                </a:solidFill>
              </a:rPr>
              <a:t>código visível</a:t>
            </a:r>
            <a:endParaRPr lang="pt-BR" sz="2000" dirty="0"/>
          </a:p>
        </p:txBody>
      </p:sp>
      <p:sp>
        <p:nvSpPr>
          <p:cNvPr id="25" name="Shape 25"/>
          <p:cNvSpPr/>
          <p:nvPr/>
        </p:nvSpPr>
        <p:spPr>
          <a:xfrm>
            <a:off x="1371600" y="3063240"/>
            <a:ext cx="9418320" cy="91440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1645920" y="3063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medalhas</a:t>
            </a:r>
            <a:endParaRPr lang="pt-BR" sz="2000" dirty="0"/>
          </a:p>
        </p:txBody>
      </p:sp>
      <p:cxnSp>
        <p:nvCxnSpPr>
          <p:cNvPr id="27" name="Arrow 27"/>
          <p:cNvCxnSpPr/>
          <p:nvPr/>
        </p:nvCxnSpPr>
        <p:spPr>
          <a:xfrm>
            <a:off x="5943600" y="3520440"/>
            <a:ext cx="73152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28" name="Text 28"/>
          <p:cNvSpPr txBox="1"/>
          <p:nvPr/>
        </p:nvSpPr>
        <p:spPr>
          <a:xfrm>
            <a:off x="685800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chemeClr val="accent1"/>
                </a:solidFill>
              </a:rPr>
              <a:t>placar ICPC</a:t>
            </a:r>
            <a:endParaRPr lang="pt-BR" sz="2000" dirty="0"/>
          </a:p>
        </p:txBody>
      </p:sp>
      <p:sp>
        <p:nvSpPr>
          <p:cNvPr id="29" name="Shape 29"/>
          <p:cNvSpPr/>
          <p:nvPr/>
        </p:nvSpPr>
        <p:spPr>
          <a:xfrm>
            <a:off x="1371600" y="4206240"/>
            <a:ext cx="9418320" cy="914400"/>
          </a:xfrm>
          <a:prstGeom prst="roundRect">
            <a:avLst>
              <a:gd name="adj" fmla="val 208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1645920" y="4206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dirty="0">
                <a:solidFill>
                  <a:schemeClr val="bg2"/>
                </a:solidFill>
              </a:rPr>
              <a:t>JSON opaco</a:t>
            </a:r>
            <a:endParaRPr lang="pt-BR" sz="2000" dirty="0"/>
          </a:p>
        </p:txBody>
      </p:sp>
      <p:cxnSp>
        <p:nvCxnSpPr>
          <p:cNvPr id="31" name="Arrow 31"/>
          <p:cNvCxnSpPr/>
          <p:nvPr/>
        </p:nvCxnSpPr>
        <p:spPr>
          <a:xfrm>
            <a:off x="5943600" y="4663440"/>
            <a:ext cx="73152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tailEnd type="triangle" w="med" len="med"/>
          </a:ln>
        </p:spPr>
      </p:cxnSp>
      <p:sp>
        <p:nvSpPr>
          <p:cNvPr id="32" name="Text 32"/>
          <p:cNvSpPr txBox="1"/>
          <p:nvPr/>
        </p:nvSpPr>
        <p:spPr>
          <a:xfrm>
            <a:off x="6858000" y="4206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chemeClr val="accent1"/>
                </a:solidFill>
              </a:rPr>
              <a:t>erro com campo</a:t>
            </a:r>
            <a:endParaRPr lang="pt-B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Gostaram do visual e do nome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838173" y="2926080"/>
            <a:ext cx="461772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838173" y="2926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tema escuro, estilo terminal</a:t>
            </a:r>
            <a:endParaRPr lang="pt-BR" sz="2000" dirty="0"/>
          </a:p>
        </p:txBody>
      </p:sp>
      <p:sp>
        <p:nvSpPr>
          <p:cNvPr id="23" name="Shape 23"/>
          <p:cNvSpPr/>
          <p:nvPr/>
        </p:nvSpPr>
        <p:spPr>
          <a:xfrm>
            <a:off x="6775933" y="2926080"/>
            <a:ext cx="3577590" cy="6858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775933" y="2926080"/>
            <a:ext cx="3577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nome: “Why” = “Uai”</a:t>
            </a:r>
            <a:endParaRPr lang="pt-B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pesquisa aparece dentro do sistema, no fim da atividade</a:t>
            </a:r>
            <a:endParaRPr lang="en-US" sz="3000" dirty="0"/>
          </a:p>
        </p:txBody>
      </p:sp>
      <p:sp>
        <p:nvSpPr>
          <p:cNvPr id="21" name="frame-v4-survey-banner.png"/>
          <p:cNvSpPr/>
          <p:nvPr/>
        </p:nvSpPr>
        <p:spPr>
          <a:xfrm>
            <a:off x="512064" y="3432063"/>
            <a:ext cx="11167567" cy="118259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survey-banner.png" descr="v4-survey-bann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468639"/>
            <a:ext cx="11094415" cy="11094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questionários, com termo de consentimento</a:t>
            </a:r>
            <a:endParaRPr lang="en-US" sz="3000" dirty="0"/>
          </a:p>
        </p:txBody>
      </p:sp>
      <p:sp>
        <p:nvSpPr>
          <p:cNvPr id="21" name="frame-v4-survey-tcle.png"/>
          <p:cNvSpPr/>
          <p:nvPr/>
        </p:nvSpPr>
        <p:spPr>
          <a:xfrm>
            <a:off x="3014789" y="1746504"/>
            <a:ext cx="6162118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survey-tcle.png" descr="v4-survey-tc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1365" y="1783080"/>
            <a:ext cx="6088966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usabilidade é medida pelo SUS</a:t>
            </a:r>
            <a:endParaRPr lang="en-US" sz="3000" dirty="0"/>
          </a:p>
        </p:txBody>
      </p:sp>
      <p:sp>
        <p:nvSpPr>
          <p:cNvPr id="21" name="frame-v4-survey-sus.png"/>
          <p:cNvSpPr/>
          <p:nvPr/>
        </p:nvSpPr>
        <p:spPr>
          <a:xfrm>
            <a:off x="2169764" y="1746504"/>
            <a:ext cx="7852167" cy="455371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survey-sus.png" descr="v4-survey-s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6340" y="1783080"/>
            <a:ext cx="7779015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resultados saem prontos, anônimos e em CSV</a:t>
            </a:r>
            <a:endParaRPr lang="en-US" sz="3000" dirty="0"/>
          </a:p>
        </p:txBody>
      </p:sp>
      <p:sp>
        <p:nvSpPr>
          <p:cNvPr id="21" name="frame-v4-survey-results.png"/>
          <p:cNvSpPr/>
          <p:nvPr/>
        </p:nvSpPr>
        <p:spPr>
          <a:xfrm>
            <a:off x="1667294" y="1746504"/>
            <a:ext cx="8857107" cy="405079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6"/>
            </a:solidFill>
          </a:ln>
          <a:effectLst>
            <a:outerShdw blurRad="152400" dist="50800" dir="5400000" algn="bl" rotWithShape="0">
              <a:srgbClr val="000000">
                <a:alpha val="55000"/>
              </a:srgbClr>
            </a:outerShdw>
          </a:effectLst>
        </p:spPr>
      </p:sp>
      <p:pic>
        <p:nvPicPr>
          <p:cNvPr id="22" name="img-v4-survey-results.png" descr="v4-survey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3870" y="1783080"/>
            <a:ext cx="8783955" cy="397764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Ainda sem respostas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AVALIAÇÃO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teste em sala é em 29/10/2026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548640" y="18288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9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29/10/2026</a:t>
            </a:r>
            <a:endParaRPr lang="pt-BR" sz="9600" dirty="0"/>
          </a:p>
        </p:txBody>
      </p:sp>
      <p:sp>
        <p:nvSpPr>
          <p:cNvPr id="22" name="Shape 22"/>
          <p:cNvSpPr/>
          <p:nvPr/>
        </p:nvSpPr>
        <p:spPr>
          <a:xfrm>
            <a:off x="2415388" y="4114800"/>
            <a:ext cx="1289304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2415388" y="411480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</a:t>
            </a:r>
            <a:endParaRPr lang="pt-BR" sz="1600" dirty="0"/>
          </a:p>
        </p:txBody>
      </p:sp>
      <p:sp>
        <p:nvSpPr>
          <p:cNvPr id="24" name="Shape 24"/>
          <p:cNvSpPr/>
          <p:nvPr/>
        </p:nvSpPr>
        <p:spPr>
          <a:xfrm>
            <a:off x="4024732" y="4114800"/>
            <a:ext cx="2715768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4024732" y="411480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de exercícios</a:t>
            </a:r>
            <a:endParaRPr lang="pt-BR" sz="1600" dirty="0"/>
          </a:p>
        </p:txBody>
      </p:sp>
      <p:sp>
        <p:nvSpPr>
          <p:cNvPr id="26" name="Shape 26"/>
          <p:cNvSpPr/>
          <p:nvPr/>
        </p:nvSpPr>
        <p:spPr>
          <a:xfrm>
            <a:off x="7060540" y="4114800"/>
            <a:ext cx="2715768" cy="5029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7060540" y="411480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questionários + SUS</a:t>
            </a:r>
            <a:endParaRPr lang="pt-B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faz bem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211809" y="3108960"/>
            <a:ext cx="2596896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211809" y="3108960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fila externa</a:t>
            </a:r>
            <a:endParaRPr lang="pt-BR" sz="1800" dirty="0"/>
          </a:p>
        </p:txBody>
      </p:sp>
      <p:sp>
        <p:nvSpPr>
          <p:cNvPr id="23" name="Shape 23"/>
          <p:cNvSpPr/>
          <p:nvPr/>
        </p:nvSpPr>
        <p:spPr>
          <a:xfrm>
            <a:off x="4128745" y="3108960"/>
            <a:ext cx="2329434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4128745" y="3108960"/>
            <a:ext cx="23294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 da IOI</a:t>
            </a:r>
            <a:endParaRPr lang="pt-BR" sz="1800" dirty="0"/>
          </a:p>
        </p:txBody>
      </p:sp>
      <p:sp>
        <p:nvSpPr>
          <p:cNvPr id="25" name="Shape 25"/>
          <p:cNvSpPr/>
          <p:nvPr/>
        </p:nvSpPr>
        <p:spPr>
          <a:xfrm>
            <a:off x="6778219" y="3108960"/>
            <a:ext cx="4201668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6778219" y="3108960"/>
            <a:ext cx="4201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sob controle do professor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Limitação: ainda sem avaliação com alunos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394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6000" b="1" dirty="0">
                <a:solidFill>
                  <a:srgbClr val="0B0F14"/>
                </a:solidFill>
              </a:rPr>
              <a:t>!</a:t>
            </a:r>
            <a:endParaRPr lang="pt-BR" sz="6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1"/>
                </a:solidFill>
              </a:rPr>
              <a:t>A pergunta de pesquisa ainda não tem resposta.</a:t>
            </a:r>
            <a:endParaRPr lang="pt-B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Limitação: em produção, o judge tem uma CPU só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394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6000" b="1" dirty="0">
                <a:solidFill>
                  <a:srgbClr val="0B0F14"/>
                </a:solidFill>
              </a:rPr>
              <a:t>!</a:t>
            </a:r>
            <a:endParaRPr lang="pt-BR" sz="6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1"/>
                </a:solidFill>
              </a:rPr>
              <a:t>Na Fly.io, 1 vCPU: concorrência sem ganho.</a:t>
            </a:r>
            <a:endParaRPr lang="pt-B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Limitação: erros do Portugol viram resposta errada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394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6000" b="1" dirty="0">
                <a:solidFill>
                  <a:srgbClr val="0B0F14"/>
                </a:solidFill>
              </a:rPr>
              <a:t>!</a:t>
            </a:r>
            <a:endParaRPr lang="pt-BR" sz="6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1"/>
                </a:solidFill>
              </a:rPr>
              <a:t>O console do Portugol termina com código 0 mesmo com erro.</a:t>
            </a:r>
            <a:endParaRPr lang="pt-B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Limitação: memória excedida é heurística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394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6000" b="1" dirty="0">
                <a:solidFill>
                  <a:srgbClr val="0B0F14"/>
                </a:solidFill>
              </a:rPr>
              <a:t>!</a:t>
            </a:r>
            <a:endParaRPr lang="pt-BR" sz="6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1"/>
                </a:solidFill>
              </a:rPr>
              <a:t>Sem cgroups, não há sinal limpo de falta de memória.</a:t>
            </a:r>
            <a:endParaRPr lang="pt-B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Limitação: restrições leem texto, não a árvore do código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F5A524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53949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6000" b="1" dirty="0">
                <a:solidFill>
                  <a:srgbClr val="0B0F14"/>
                </a:solidFill>
              </a:rPr>
              <a:t>!</a:t>
            </a:r>
            <a:endParaRPr lang="pt-BR" sz="6000" dirty="0"/>
          </a:p>
        </p:txBody>
      </p:sp>
      <p:sp>
        <p:nvSpPr>
          <p:cNvPr id="23" name="Text 23"/>
          <p:cNvSpPr txBox="1"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dirty="0">
                <a:solidFill>
                  <a:schemeClr val="bg1"/>
                </a:solidFill>
              </a:rPr>
              <a:t>Palavras em strings e comentários disparam falso positivo.</a:t>
            </a:r>
            <a:endParaRPr lang="pt-B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depois do teste em sala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1345540" y="3108960"/>
            <a:ext cx="3265551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345540" y="3108960"/>
            <a:ext cx="3265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detectar código de IA</a:t>
            </a:r>
            <a:endParaRPr lang="pt-BR" sz="1800" dirty="0"/>
          </a:p>
        </p:txBody>
      </p:sp>
      <p:sp>
        <p:nvSpPr>
          <p:cNvPr id="23" name="Shape 23"/>
          <p:cNvSpPr/>
          <p:nvPr/>
        </p:nvSpPr>
        <p:spPr>
          <a:xfrm>
            <a:off x="4931131" y="3108960"/>
            <a:ext cx="2998089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4931131" y="3108960"/>
            <a:ext cx="29980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 com cgroups</a:t>
            </a:r>
            <a:endParaRPr lang="pt-BR" sz="1800" dirty="0"/>
          </a:p>
        </p:txBody>
      </p:sp>
      <p:sp>
        <p:nvSpPr>
          <p:cNvPr id="25" name="Shape 25"/>
          <p:cNvSpPr/>
          <p:nvPr/>
        </p:nvSpPr>
        <p:spPr>
          <a:xfrm>
            <a:off x="8249260" y="3108960"/>
            <a:ext cx="2596896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8249260" y="3108960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multi-core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CRONOGRAMA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etapas, em ordem</a:t>
            </a:r>
            <a:endParaRPr lang="en-US" sz="3000" dirty="0"/>
          </a:p>
        </p:txBody>
      </p:sp>
      <p:sp>
        <p:nvSpPr>
          <p:cNvPr id="21" name="Shape 21"/>
          <p:cNvSpPr/>
          <p:nvPr/>
        </p:nvSpPr>
        <p:spPr>
          <a:xfrm>
            <a:off x="2240280" y="2194560"/>
            <a:ext cx="822960" cy="82296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2240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tx1"/>
                </a:solidFill>
              </a:rPr>
              <a:t>1</a:t>
            </a:r>
            <a:endParaRPr lang="pt-BR" sz="2400" dirty="0"/>
          </a:p>
        </p:txBody>
      </p:sp>
      <p:sp>
        <p:nvSpPr>
          <p:cNvPr id="23" name="Text 23"/>
          <p:cNvSpPr txBox="1"/>
          <p:nvPr/>
        </p:nvSpPr>
        <p:spPr>
          <a:xfrm>
            <a:off x="12801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Teste em sala</a:t>
            </a:r>
            <a:endParaRPr lang="pt-BR" sz="2200" dirty="0"/>
          </a:p>
        </p:txBody>
      </p:sp>
      <p:sp>
        <p:nvSpPr>
          <p:cNvPr id="24" name="Text 24"/>
          <p:cNvSpPr txBox="1"/>
          <p:nvPr/>
        </p:nvSpPr>
        <p:spPr>
          <a:xfrm>
            <a:off x="12801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600" dirty="0">
                <a:solidFill>
                  <a:schemeClr val="bg2"/>
                </a:solidFill>
              </a:rPr>
              <a:t>29/10</a:t>
            </a:r>
            <a:endParaRPr lang="pt-BR" sz="1600" dirty="0"/>
          </a:p>
        </p:txBody>
      </p:sp>
      <p:cxnSp>
        <p:nvCxnSpPr>
          <p:cNvPr id="25" name="Arrow 25"/>
          <p:cNvCxnSpPr/>
          <p:nvPr/>
        </p:nvCxnSpPr>
        <p:spPr>
          <a:xfrm>
            <a:off x="3154680" y="2606040"/>
            <a:ext cx="2606040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26" name="Shape 26"/>
          <p:cNvSpPr/>
          <p:nvPr/>
        </p:nvSpPr>
        <p:spPr>
          <a:xfrm>
            <a:off x="5852160" y="2194560"/>
            <a:ext cx="822960" cy="82296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58521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tx1"/>
                </a:solidFill>
              </a:rPr>
              <a:t>2</a:t>
            </a:r>
            <a:endParaRPr lang="pt-BR" sz="2400" dirty="0"/>
          </a:p>
        </p:txBody>
      </p:sp>
      <p:sp>
        <p:nvSpPr>
          <p:cNvPr id="28" name="Text 28"/>
          <p:cNvSpPr txBox="1"/>
          <p:nvPr/>
        </p:nvSpPr>
        <p:spPr>
          <a:xfrm>
            <a:off x="489204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Análise</a:t>
            </a:r>
            <a:endParaRPr lang="pt-BR" sz="2200" dirty="0"/>
          </a:p>
        </p:txBody>
      </p:sp>
      <p:cxnSp>
        <p:nvCxnSpPr>
          <p:cNvPr id="29" name="Arrow 29"/>
          <p:cNvCxnSpPr/>
          <p:nvPr/>
        </p:nvCxnSpPr>
        <p:spPr>
          <a:xfrm>
            <a:off x="6766560" y="2606040"/>
            <a:ext cx="2606040" cy="0"/>
          </a:xfrm>
          <a:prstGeom prst="line">
            <a:avLst/>
          </a:prstGeom>
          <a:ln w="19050">
            <a:solidFill>
              <a:schemeClr val="accent6"/>
            </a:solidFill>
            <a:prstDash val="solid"/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9464040" y="2194560"/>
            <a:ext cx="822960" cy="82296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946404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400" b="1" dirty="0">
                <a:solidFill>
                  <a:schemeClr val="tx1"/>
                </a:solidFill>
              </a:rPr>
              <a:t>3</a:t>
            </a:r>
            <a:endParaRPr lang="pt-BR" sz="2400" dirty="0"/>
          </a:p>
        </p:txBody>
      </p:sp>
      <p:sp>
        <p:nvSpPr>
          <p:cNvPr id="32" name="Text 32"/>
          <p:cNvSpPr txBox="1"/>
          <p:nvPr/>
        </p:nvSpPr>
        <p:spPr>
          <a:xfrm>
            <a:off x="850392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2200" b="1" dirty="0">
                <a:solidFill>
                  <a:schemeClr val="bg1"/>
                </a:solidFill>
              </a:rPr>
              <a:t>Defesa</a:t>
            </a:r>
            <a:endParaRPr lang="pt-B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WHYRUNNER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31520" y="201168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6000" b="1" dirty="0">
                <a:solidFill>
                  <a:schemeClr val="accent1"/>
                </a:solidFill>
              </a:rPr>
              <a:t>Obrigado!</a:t>
            </a:r>
            <a:endParaRPr lang="pt-BR" sz="6000" dirty="0"/>
          </a:p>
        </p:txBody>
      </p:sp>
      <p:sp>
        <p:nvSpPr>
          <p:cNvPr id="22" name="Text 22"/>
          <p:cNvSpPr txBox="1"/>
          <p:nvPr/>
        </p:nvSpPr>
        <p:spPr>
          <a:xfrm>
            <a:off x="731520" y="35661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t-BR" sz="1800" dirty="0">
                <a:solidFill>
                  <a:schemeClr val="bg2"/>
                </a:solidFill>
              </a:rPr>
              <a:t>Perguntas?</a:t>
            </a:r>
            <a:endParaRPr lang="pt-B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9300" y="6419088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yRunner">
  <a:themeElements>
    <a:clrScheme name="WhyRunner">
      <a:dk1>
        <a:srgbClr val="0B0F14"/>
      </a:dk1>
      <a:lt1>
        <a:srgbClr val="E6EDF3"/>
      </a:lt1>
      <a:dk2>
        <a:srgbClr val="151B23"/>
      </a:dk2>
      <a:lt2>
        <a:srgbClr val="8B96A3"/>
      </a:lt2>
      <a:accent1>
        <a:srgbClr val="22C55E"/>
      </a:accent1>
      <a:accent2>
        <a:srgbClr val="F5A524"/>
      </a:accent2>
      <a:accent3>
        <a:srgbClr val="F0566A"/>
      </a:accent3>
      <a:accent4>
        <a:srgbClr val="A78BFA"/>
      </a:accent4>
      <a:accent5>
        <a:srgbClr val="3B82F6"/>
      </a:accent5>
      <a:accent6>
        <a:srgbClr val="2A323D"/>
      </a:accent6>
      <a:hlink>
        <a:srgbClr val="22C55E"/>
      </a:hlink>
      <a:folHlink>
        <a:srgbClr val="A78BFA"/>
      </a:folHlink>
    </a:clrScheme>
    <a:fontScheme name="WhyRun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106</Slides>
  <Notes>106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0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WhyRunner — Apresentação Parcial TCC II</dc:title>
  <dc:subject>PptxGenJS Presentation</dc:subject>
  <dc:creator>Juan Israel dos Anjos</dc:creator>
  <cp:lastModifiedBy>Juan Israel dos Anjos</cp:lastModifiedBy>
  <cp:revision>1</cp:revision>
  <dcterms:created xsi:type="dcterms:W3CDTF">2026-10-15T22:08:06Z</dcterms:created>
  <dcterms:modified xsi:type="dcterms:W3CDTF">2026-10-15T22:08:06Z</dcterms:modified>
</cp:coreProperties>
</file>