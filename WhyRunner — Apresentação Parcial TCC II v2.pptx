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4ab60b7-2759-f0ca-8802-cf2776c57ed1}">
          <p14:sldIdLst>
            <p14:sldId id="256"/>
          </p14:sldIdLst>
        </p14:section>
        <p14:section name="Introdução" id="{eaac551f-4214-2913-b10b-ef1a0af77074}">
          <p14:sldIdLst>
            <p14:sldId id="257"/>
            <p14:sldId id="258"/>
          </p14:sldIdLst>
        </p14:section>
        <p14:section name="Trabalhos relacionados" id="{96d8f200-8e3f-2256-7803-618dec6fa8e6}">
          <p14:sldIdLst>
            <p14:sldId id="259"/>
          </p14:sldIdLst>
        </p14:section>
        <p14:section name="Metodologia" id="{0c10b5ba-a3bc-3664-b2a2-62a1239676ac}">
          <p14:sldIdLst>
            <p14:sldId id="260"/>
            <p14:sldId id="261"/>
            <p14:sldId id="262"/>
          </p14:sldIdLst>
        </p14:section>
        <p14:section name="Resultados" id="{6e54e262-8e6b-4997-f4ac-450b196d192d}">
          <p14:sldIdLst>
            <p14:sldId id="263"/>
            <p14:sldId id="264"/>
            <p14:sldId id="265"/>
          </p14:sldIdLst>
        </p14:section>
        <p14:section name="Discussão e cronograma" id="{20deca9a-0b7f-e2cd-946d-5c2692820231}">
          <p14:sldIdLst>
            <p14:sldId id="266"/>
            <p14:sldId id="267"/>
          </p14:sldIdLst>
        </p14:section>
        <p14:section name="Referências" id="{4ccfc0aa-a1d4-30a0-57c8-cb84e1396ea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 a todos. Meu nome é Juan Israel dos Anjos, sou orientado pela professora Suellen Mapa, e vou apresentar o andamento do meu TCC: o WhyRunner.
É um juiz online, um sistema que corrige código automaticamente, mas pensado para a sala de aula. A tela à direita já resume a ideia: em vez de só dizer que o código errou, a plataforma dá uma dica, e quem decide o quanto essa dica revela é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Juízes online como o BOCA e o Run Codes recebem o código do aluno, executam contra casos de teste e devolvem um veredito: passou ou não passou. À esquerda está o que o aluno vê: "Wrong Answer", e nada mais. Isso funciona em maratona, que é para onde esses sistemas foram feitos.
A minha motivação é pessoal: passei anos competindo e usando esses sistemas como aluno.
O escopo, à direita: o WhyRunner faz torneios, turmas e aulas, execução isolada em seis linguagens, dicas de IA graduadas e restrições de solução. Fica de fora: plágio, avaliar estilo de código, e a IA não substitui a avaliação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o aluno envia o código, recebe "Wrong Answer" e para por aí. Juízes foram feitos para competição, então o feedback é binário de propósito. Em sala de aula, um erro sem explicação não vira aprendizado. E o professor não consegue montar uma atividade nem exigir, por exemplo, que o aluno use Dijkstra e não força bruta.
Daí a pergunta de pesquisa: feedback por IA e atividades curadas pelo professor tornam um juiz online mais útil para o ensino?
O objetivo geral é desenvolver e avaliar esse juiz. Os específicos são os quatro cartões; o quarto, avaliar com usuários, ainda está em andamento.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Analisei quatro sistemas: Ataux, de 2021; o Gamma Online Judge, da UnB, de 2022; o Run Codes; e o BOCA, de 2004, usado na Maratona da SBC.
Nenhum deles dá feedback explicativo: todos corrigem, nenhum ensina. Alguns têm placar em tempo real, mas nenhum deixa o professor montar uma aula ou exigir um algoritmo.
O diferencial do WhyRunner está nas três últimas colunas: dicas por IA, aulas curadas e restrições de solução, ou seja, verificar como o aluno chegou na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metodologia foi iterativa: cada versão corrigiu problemas da anterior. Os requisitos vieram da literatura, de conversas com alunos e da minha experiência, e um primeiro MVP foi testado informalmente num servidor do Discord.
Cada linha mostra uma decisão. A fila passou por BullMQ e SQS e terminou no LISTEN/NOTIFY do próprio PostgreSQL. O backend saiu de uma API NestJS separada para Server Actions do Next.js. O banco saiu do Supabase para PostgreSQL com Drizzle. E o sandbox trocou um container Docker por submissão pelo isolate, o mesmo da Olimpíada Internacional de Informática, porque o Docker exigia rodar privilegiado.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arquitetura: dois serviços que só conversam pelo banco.
Seguindo os números: o aluno submete, seja num problema, num torneio ou numa aula. A Server Action do Next.js grava a submissão como PENDING e dispara um NOTIFY no PostgreSQL. O judge, escrito em Rust, recebe esse aviso e busca os casos de teste. O isolate compila e executa o código; o trecho embaixo é o código real que monta essa chamada, com limite de tempo, memória e processos. Se o problema tem restrições, o código passa por análise estática e depois pela IA. Por fim o veredito é gravado e o aluno é notificado.
A IA, o Gemini 3.5 Flash, com modelos de reserva, é chamada só pelo Next.js, nunca pelo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tem três frentes.
Primeira, técnica, já feita: o judge tem 29 testes automatizados. A maior parte cobre as restrições estruturais; há também testes de correção, de leitura do isolate, de ataques como fork bomb, estouro de tempo e de memória, e um programa rodando em cada linguagem.
Segunda, dos problemas, também feita: antes de publicar, a solução de referência do professor roda no judge contra todos os testes. Se um teste muda, a publicação é bloqueada até rodar de novo.
Terceira, com usuários, planejada: um torneio e uma aula com uma turma real, o questionário SUS, que dá uma nota de usabilidade de 0 a 100, e uma análise descritiva dos dados do próprio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resultado é que o aluno pode submeter em três lugares, cada um com um propósito.
O problema avulso é o treino livre: o banco de problemas, onde o aluno resolve no próprio ritmo. Ali ele recebe o veredito e os casos de exemplo, sem IA.
O torneio é para competir ou avaliar com tempo marcado: placar ao vivo, penalidade por tentativa errada. O professor escolhe os problemas, o período, se é privado e, como vou mostrar no próximo slide, o quanto a IA pode ajudar.
A aula é para aprender em sequência: o professor monta a lista de exercícios, define prazo, e cada resposta tem nota e comentário. Ali a IA dá uma dica explicativa, e o exercício pode ser em código, em blocos ou no formato Parsons, onde o aluno só ordena linhas prontas.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do torneio, a IA é ajustável. Em cima à esquerda está a configuração: o professor escolhe entre Desligada, Conceito, Dica e Precisa. Conceito só aponta a área do erro, por exemplo "laço for mal implementado". Dica explica o erro de lógica sem mostrar código. Precisa aponta a linha exata.
Embaixo, um exemplo real deste torneio, que está no nível Dica: o aluno pediu ajuda e recebeu primeiro o conceito, "uso incorreto dos limites da função range", depois a dica. A IA não reescreveu o código. O aluno libera um nível de cada vez, e o servidor recusa qualquer pedido acima do limite.
E por que isso é diferente de perguntar a outra IA? A IA da plataforma vê o código do aluno e o teste que falhou, então a dica é sobre o erro dele. Ela é instruída a não dar a correção, quem define o nível é o professor, tem limite de uso e, no modo blocos, fala em blocos. Um chatbot externo recebe só o que o aluno colar e normalmente devolve a solução pronta, sem controle nenhum.
Sendo honesto: a plataforma não impede o aluno de abrir outra IA. Por isso o professor tem as restrições de solução e as atividades em sala, que é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aula, o professor acompanha como o aluno resolveu, não só se acertou.
À esquerda, um caso real: o exercício pede para somar de 1 até N com no máximo um laço. O aluno chegou na saída certa, mas usou dois laços aninhados, e o judge marca violação de restrição. Também dá para proibir construções ou exigir um algoritmo, como Dijkstra; nesse caso a checagem é feita por IA.
No meio, a tela de revisão do professor depois do prazo: a nota vem dos testes, e o professor escreve um comentário por exercício. Repare que o segundo exercício foi respondido em blocos, que geram Portugol; o terceiro formato é o Parsons, em que o aluno só ordena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título resume a discussão: o sistema está pronto, falta provar que ensina.
Pontos fortes: não precisa de broker de mensagens, só PostgreSQL; isolamento no nível da IOI sem Docker privilegiado; tipagem de ponta a ponta; e IA sob demanda, com a entrada delimitada para reduzir prompt injection.
Limitações: a principal é que ainda não houve avaliação com alunos, então não posso afirmar impacto no aprendizado. A plataforma não impede consulta a IAs externas. A análise de laços é por texto, não por árvore sintática, e pode dar falso positivo, como um "for" dentro de uma string. E o sistema depende da API de IA e de Linux com cgroups para rodar o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a defesa são seis etapas. Primeiro, atualizar o texto do TCC com as mudanças: isolate, seis linguagens e avaliação. Segundo, preparar a avaliação: problemas, aula e questionário. Terceiro, aplicar com uma turma, um torneio e uma aula. Essa é a etapa crítica, porque sem ela não há resposta para a pergunta de pesquisa. Depois, analisar os dados e escrever os resultados, revisão final com a orientadora, e a defesa.
[Ler os períodos de cada etapa.]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principais referências do trabalho. Obrigado pela atenção;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WhyRunner · TCC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./whyrunner --tcc-ii --parcial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WhyRunner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Juiz online para o ensino de programação, com dicas de IA que o professor controla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Juan Israel dos Anjos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Orientadora: Suellen Mapa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Bacharelado em Sistemas de Informação · IFMG Ouro Branco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TCC II · Apresentação parcial · [data]</a:t>
            </a:r>
            <a:endParaRPr lang="en-US" sz="1500" dirty="0"/>
          </a:p>
        </p:txBody>
      </p:sp>
      <p:sp>
        <p:nvSpPr>
          <p:cNvPr id="6" name="frame-ai-ladder"/>
          <p:cNvSpPr/>
          <p:nvPr/>
        </p:nvSpPr>
        <p:spPr>
          <a:xfrm>
            <a:off x="7050024" y="1243584"/>
            <a:ext cx="4553712" cy="413366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shot-ai-ladder" descr="ai-lad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280160"/>
            <a:ext cx="4480560" cy="40605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5235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Dica da IA em dois níveis, dentro de um torneio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Juízes online corrigem código. Ensinar é outra coisa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Juiz online tradicional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Wrong Answer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teste 3 de 10  ·  sem explicação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BOCA, Run Codes: veredito binário, pensado para competição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Motivação: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anos de maratona de programação usando esses sistemas como aluno.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Escopo do TCC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119786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Torneios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44384" y="2468880"/>
            <a:ext cx="185623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44384" y="246888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Turmas e aulas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372160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88036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Execução isolada · 6 linguagens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262432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29184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Dicas de IA graduadas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70848" y="3291840"/>
            <a:ext cx="262432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329184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Restrições de solução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FAZ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206240"/>
            <a:ext cx="229514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4206240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Detecção de plágio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41664" y="4206240"/>
            <a:ext cx="295351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41664" y="420624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Avaliar estilo de código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617720"/>
            <a:ext cx="41605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46177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Substituir a avaliação do professor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PROBLEMA E OBJETIVOS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recebe "Wrong Answer" e para por aí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Problema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Juízes priorizam justiça e velocidade. O feedback é um veredito binário.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Erro sem explicação não vira aprendizado. E o professor não consegue montar atividades nem exigir uma abordagem.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57784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DE PESQUISA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1945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Feedback por IA e atividades curadas pelo professor tornam um juiz online mais útil para o ensino?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Objetivo geral: desenvolver e avaliar um juiz online voltado ao ensino de programação.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19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Executar código com segurança em várias linguagens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55848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38728" y="4919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38728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Dar dicas por IA sem entregar a solução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3056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919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5936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Deixar o professor montar aulas e exigir algoritmos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0264" y="47548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3144" y="49194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3144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56064" y="486460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Avaliar a usabilidade com alunos e professor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6108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● em andamento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TRABALHOS RELACIONADOS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dos sistemas analisados ensina, só corrige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Sistema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Feedback 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Linguagens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Tempo real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Aulas curadas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Restrições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Ataux (2021)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Limitadas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GOJ – UnB (2022)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Moderadas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Limitado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Run Codes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Muitas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BOCA (2004)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Moderadas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WhyRunner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Diferencial: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dicas por IA, aulas montadas pelo professor e restrições de solução: verificar </a:t>
            </a:r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como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o aluno resolveu, não só se a saída está certa.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METODOLOGIA · ETAPAS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iterativos: cada versão corrigiu a anterior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ADOTADO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Fila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BullMQ → AWS SQS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659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LISTEN/NOTIFY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965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sem polling ocioso nem outro serviço pago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072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API NestJS separada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80720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Next.js Server Actions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8072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tipos e autenticação não ficam duplicados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4845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Banco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648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Supabase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64845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648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+ Drizzle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6484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liberdade para lógica no servidor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89704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4897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Sandbox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4897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Docker por submissão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48970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4897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isolate (usado na IOI)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448970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Docker exigia host privilegiado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5760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4864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Levantamento: literatura + conversas com alunos + experiência própria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5486400"/>
            <a:ext cx="32918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5486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MVP testado informalmente no Discord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METODOLOGIA · 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serviços que só conversam pelo banco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Navegador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71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React · TanStack Query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2514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624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Next.js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Server Actions · better-auth · Zod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971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Drizzle · LISTEN/NOTIFY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Judge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971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Rust · tokio · sqlx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0" y="25146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2301F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26243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isolate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namespaces · cgroups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2971800"/>
            <a:ext cx="7772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297180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03720" y="2971800"/>
            <a:ext cx="7772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81160" y="2971800"/>
            <a:ext cx="7772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8221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Aluno submete em problema, torneio ou aula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38221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8172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Server Action grava PENDING e dispara NOTIFY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8221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3076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Judge recebe e busca os casos de teste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279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isolate compila e executa com limites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297680" y="4279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9768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81728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Checa restrições: análise estática, depois IA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46720" y="4279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430768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Veredito gravado; aluno notificado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926080" y="15087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2608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Gemini 3.5 Flash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fallback: Flash-Lite, Claude Haiku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886200" y="2148840"/>
            <a:ext cx="0" cy="3657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headEnd type="triangle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029200" y="15727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IA chamada só pelo Next.js: dica, solução de referência, revisão de enunciado, checagem de algoritmo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0F141A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49834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Command::new("isolate")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.arg(format!("--time={}", limits.time_secs))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.arg(format!("--mem={}", limits.mem_kb))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.arg(format!("--processes={}", limits.processes))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0" y="4937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judge/src/isolate.rs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Cada execução roda numa caixa sem rede, com limite de tempo, memória e processos.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49808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C++ · Java · Python · Rust · Portugol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METODOLOGIA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trabalho é validado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1296" cy="45262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Validação técnica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11296" cy="45262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10512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8105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Validação dos problemas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11296" cy="452628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810512"/>
            <a:ext cx="130759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0184" y="18105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Avaliação com usuários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51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</a:rPr>
              <a:t>29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testes automatizados no judge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11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Restrições estruturais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831336"/>
            <a:ext cx="25146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4992" y="37673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41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Correção, compilação, tempo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261104"/>
            <a:ext cx="16764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26792" y="419709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471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Leitura do isolate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690872"/>
            <a:ext cx="8382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88592" y="4626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901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Ataques (fork bomb, TLE, memória)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5120640"/>
            <a:ext cx="62865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79042" y="5056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330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Todas as linguagens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5550408"/>
            <a:ext cx="419100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69492" y="5486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27432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Antes de publicar, a solução de referência do professor roda no judge contra todos os casos de teste.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Mudou um teste? Publicação bloqueada até rodar de novo.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30184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Aplicação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torneio + aula com uma turma real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330184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Usabilidade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questionário SUS (nota 0–100)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330184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Uso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análise descritiva de veredictos, tempo de correção e uso das dicas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lugares para submeter, três propósitos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en-US" sz="1500" dirty="0"/>
          </a:p>
        </p:txBody>
      </p:sp>
      <p:sp>
        <p:nvSpPr>
          <p:cNvPr id="5" name="frame-banco"/>
          <p:cNvSpPr/>
          <p:nvPr/>
        </p:nvSpPr>
        <p:spPr>
          <a:xfrm>
            <a:off x="512064" y="1929384"/>
            <a:ext cx="3639312" cy="190195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6" name="shot-banco" descr="ban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566160" cy="1828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Treino livre no banco de problemas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monta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Autor publica; aluno resolve no seu ritmo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 IA: veredito e casos de exemplo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en-US" sz="1500" dirty="0"/>
          </a:p>
        </p:txBody>
      </p:sp>
      <p:sp>
        <p:nvSpPr>
          <p:cNvPr id="11" name="frame-placar"/>
          <p:cNvSpPr/>
          <p:nvPr/>
        </p:nvSpPr>
        <p:spPr>
          <a:xfrm>
            <a:off x="4261104" y="1929384"/>
            <a:ext cx="3639312" cy="126187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2" name="shot-placar" descr="pla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3566160" cy="1188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Competir ou avaliar com tempo marcado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monta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Professor define problemas, período e acesso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IA no nível que o professor escolher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endParaRPr lang="en-US" sz="1500" dirty="0"/>
          </a:p>
        </p:txBody>
      </p:sp>
      <p:sp>
        <p:nvSpPr>
          <p:cNvPr id="17" name="frame-aula"/>
          <p:cNvSpPr/>
          <p:nvPr/>
        </p:nvSpPr>
        <p:spPr>
          <a:xfrm>
            <a:off x="8010144" y="1929384"/>
            <a:ext cx="3639312" cy="135158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8" name="shot-aula" descr="au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65960"/>
            <a:ext cx="3566160" cy="12784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4672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Aprender em sequência, com prazo e nota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04672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monta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Professor monta a aula e comenta cada resposta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04672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Dica livre · código, blocos ou Parsons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RESULTADOS · IA NO TORNEIO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decide quanto a IA ajuda</a:t>
            </a:r>
            <a:endParaRPr lang="en-US" sz="3000" dirty="0"/>
          </a:p>
        </p:txBody>
      </p:sp>
      <p:sp>
        <p:nvSpPr>
          <p:cNvPr id="4" name="frame-ai-config"/>
          <p:cNvSpPr/>
          <p:nvPr/>
        </p:nvSpPr>
        <p:spPr>
          <a:xfrm>
            <a:off x="512064" y="1563624"/>
            <a:ext cx="5650992" cy="111899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5" name="shot-ai-config" descr="ai-conf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577840" cy="10458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55773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Configuração do torneio: Desligada → Conceito → Dica → Precisa</a:t>
            </a:r>
            <a:endParaRPr lang="en-US" sz="1100" dirty="0"/>
          </a:p>
        </p:txBody>
      </p:sp>
      <p:sp>
        <p:nvSpPr>
          <p:cNvPr id="7" name="frame-ai-ladder"/>
          <p:cNvSpPr/>
          <p:nvPr/>
        </p:nvSpPr>
        <p:spPr>
          <a:xfrm>
            <a:off x="512064" y="3209544"/>
            <a:ext cx="3182112" cy="289064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8" name="shot-ai-ladder" descr="ai-lad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3108960" cy="2817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3337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 aluno libera um nível por vez.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 servidor recusa qualquer pedido acima do limite do torneio, e uma mudança do professor vale já no próximo pedido.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DO WHYRUNNER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10412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 EXTERNO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92240" y="1965960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29400" y="19659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Vê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código do aluno + teste que falhou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104120" y="1965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o que o aluno colar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92240" y="2715768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29400" y="271576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Devolve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2715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dica, sem a correção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104120" y="2715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solução pronta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92240" y="3465576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29400" y="346557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Controle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818120" y="34655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professor, por torneio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0104120" y="346557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nenhum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4215384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629400" y="421538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Limite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818120" y="42153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 pedidos / 10 min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0104120" y="4215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ilimitado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92240" y="4965192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29400" y="49651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Formato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818120" y="4965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fala em blocos e linhas no modo visual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10104120" y="49651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sempre código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492240" y="5760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O aluno ainda pode abrir outra IA. Por isso o professor também tem restrições de solução e atividades em sala.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RESULTADOS · AULA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vê como o aluno resolveu, não só se acertou</a:t>
            </a:r>
            <a:endParaRPr lang="en-US" sz="3000" dirty="0"/>
          </a:p>
        </p:txBody>
      </p:sp>
      <p:sp>
        <p:nvSpPr>
          <p:cNvPr id="4" name="frame-violacao"/>
          <p:cNvSpPr/>
          <p:nvPr/>
        </p:nvSpPr>
        <p:spPr>
          <a:xfrm>
            <a:off x="512064" y="1563624"/>
            <a:ext cx="3639312" cy="356798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5" name="shot-violacao" descr="violac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566160" cy="34948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3219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Saída correta, mas viola "no máximo 1 laço"</a:t>
            </a:r>
            <a:endParaRPr lang="en-US" sz="1100" dirty="0"/>
          </a:p>
        </p:txBody>
      </p:sp>
      <p:sp>
        <p:nvSpPr>
          <p:cNvPr id="7" name="frame-review"/>
          <p:cNvSpPr/>
          <p:nvPr/>
        </p:nvSpPr>
        <p:spPr>
          <a:xfrm>
            <a:off x="4398264" y="1563624"/>
            <a:ext cx="4965192" cy="341291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8" name="shot-review" descr="re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4892040" cy="33397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507711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Revisão do professor: nota pelos testes + comentário; resposta em blocos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9601200" y="1645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Restrições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limite de laços aninhados, construções proibidas ou "deve usar Dijkstra" (checado por IA)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601200" y="30175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Formatos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código, blocos (gera Portugol) ou Parsons (ordenar linhas)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0" y="43891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Revisão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após o prazo, nota automática e comentário do professor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está pronto; falta provar que ensina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 FORTES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042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Sem broker de mensagens: só PostgreSQL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644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06324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Isolamento no nível da IOI, sem Docker privilegiado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2245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02336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Tipagem de ponta a ponta (Drizzle + Zod)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846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9834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IA sob demanda, com entrada delimitada contra prompt injection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LIMITAÇÕES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10312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30428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10312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Ainda sem avaliação com alunos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306324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26440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06324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Não impede consulta a IAs externas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402336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22452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02336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Análise de laços por texto, não por AST: falso positivo em strings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4983480"/>
            <a:ext cx="534924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18464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9834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Depende da API de IA (custo e limites) e de Linux com cgroups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CRONOGRAMA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etapas até a defesa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08760" y="3017520"/>
            <a:ext cx="914400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[outubro]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Atualizar o texto: isolate, 6 linguagens, avaliação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[outubro]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Preparar avaliação: problemas, aula e questionário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[mês]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Aplicar com uma turma: torneio + aula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[mês]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Analisar os dados e escrever os resultados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95360" y="2788920"/>
            <a:ext cx="457200" cy="457200"/>
          </a:xfrm>
          <a:prstGeom prst="ellipse">
            <a:avLst/>
          </a:prstGeom>
          <a:solidFill>
            <a:srgbClr val="151B2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[mês]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Revisão final com a orientadora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424160" y="2788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241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[data]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34290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Defesa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Etapa crítica: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aplicar com a turma (3). Sem ela não há resposta para a pergunta de pesquisa; as etapas 4 e 5 dependem dela.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BROOKE, J. SUS: a quick and dirty usability scale. Usability Evaluation in Industry, 1996.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CAMPOS, C. P.; FERREIRA, C. E. BOCA: um sistema de apoio a competições de programação. WEI, 2004.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CARNEIRO, M. F. Sistema web para auxílio no treinamento para maratonas de programação. UTFPR, 2012.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DRIZZLE TEAM. Drizzle ORM: TypeScript ORM for SQL.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GEMINI TEAM, GOOGLE. Gemini: a family of highly capable multimodal models. 2023.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LIMA, G. M. Gamma Online Judge: plataforma para as questões das maratonas UnB de programação. 2022.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MAREŠ, M.; BLACKHAM, B. A new contest sandbox. Olympiads in Informatics, v. 6, 2012.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MATSAKIS, N. D.; KLOCK, F. S. The Rust language. ACM SIGAda Ada Letters,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MERKEL, D. Docker: lightweight Linux containers for consistent development and deployment. Linux Journal,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RUN CODES. Run Codes: plataforma de programação online.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SILVA, J. T. S. et al. Ataux: uma ferramenta para auxiliar o acompanhamento de submissões de questões de programação. 2021.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STONEBRAKER, M.; ROWE, L. A. The design of POSTGRES. ACM SIGMOD, 1986.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VERCEL INC. Next.js: the React framework for the web. 2024.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yRunner">
  <a:themeElements>
    <a:clrScheme name="WhyRunner">
      <a:dk1>
        <a:srgbClr val="0B0F14"/>
      </a:dk1>
      <a:lt1>
        <a:srgbClr val="E6EDF3"/>
      </a:lt1>
      <a:dk2>
        <a:srgbClr val="151B23"/>
      </a:dk2>
      <a:lt2>
        <a:srgbClr val="8B96A3"/>
      </a:lt2>
      <a:accent1>
        <a:srgbClr val="22C55E"/>
      </a:accent1>
      <a:accent2>
        <a:srgbClr val="F5A524"/>
      </a:accent2>
      <a:accent3>
        <a:srgbClr val="F0566A"/>
      </a:accent3>
      <a:accent4>
        <a:srgbClr val="A78BFA"/>
      </a:accent4>
      <a:accent5>
        <a:srgbClr val="3B82F6"/>
      </a:accent5>
      <a:accent6>
        <a:srgbClr val="2A323D"/>
      </a:accent6>
      <a:hlink>
        <a:srgbClr val="22C55E"/>
      </a:hlink>
      <a:folHlink>
        <a:srgbClr val="A78BFA"/>
      </a:folHlink>
    </a:clrScheme>
    <a:fontScheme name="WhyRun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WhyRunner — Apresentação Parcial TCC II</dc:title>
  <dc:subject>PptxGenJS Presentation</dc:subject>
  <dc:creator>Juan Israel dos Anjos</dc:creator>
  <cp:lastModifiedBy>Juan Israel dos Anjos</cp:lastModifiedBy>
  <cp:revision>1</cp:revision>
  <dcterms:created xsi:type="dcterms:W3CDTF">2026-10-15T22:08:06Z</dcterms:created>
  <dcterms:modified xsi:type="dcterms:W3CDTF">2026-10-15T22:08:06Z</dcterms:modified>
</cp:coreProperties>
</file>