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Boa tarde. Sou o Juan e vou apresentar o andamento do meu TCC, o WhyRunner: um juiz online pensado para sala de aula, não só para competição. A apresentação segue o roteiro da disciplina: contexto, problema, trabalhos relacionados, metodologia, resultados até agora, discussão e cronograma. Tempo alvo: 13 a 14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Juízes online são sistemas que pegam o código do aluno, rodam contra casos de teste e dão um veredito. São muito usados em disciplinas de algoritmos e em maratonas, e eu convivi com eles por anos competindo pelo IFMG. O escopo: o que o trabalho entrega está no cartão da direita. Deixo claro o que não faz: plágio fica para trabalho futuro, e a IA não substitui a avaliação do professor, ela só apoia.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problema central: o aluno recebe Wrong Answer ou Time Limit Exceeded e não sabe o porquê. Isso faz sentido numa maratona, mas não numa aula. Do lado do professor, faltam ferramentas para montar atividades e, por exemplo, exigir que o aluno use Dijkstra e não força bruta. [Revise a pergunta de pesquisa com seu orientador; é uma sugestão.] O objetivo 4, avaliação com usuários, ainda está por fazer e aparece no cronograma.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Analisei quatro sistemas. Ataux, da UFS, organiza listas de problemas por turma e foi avaliado com PSSUQ em 71 alunos. O GOJ, da UnB, guarda as questões das maratonas da UnB numa arquitetura na AWS. Run Codes é usado em várias universidades brasileiras. BOCA é o padrão das maratonas regionais da ICPC. Todos dão feedback só por correção. Os três diferenciais do WhyRunner estão na linha destacada: IA, aulas curadas e restrições de solução.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metodologia foi iterativa e incremental. Começou com levantamento de requisitos: literatura, conversas com alunos e minha experiência. O MVP foi mostrado num servidor do Discord para um grupo pequeno, e esse retorno melhorou a interface e as mensagens de erro. A tabela mostra que várias decisões técnicas foram revistas. A mais recente: em setembro troquei os containers Docker pelo isolate, a mesma ferramenta de sandbox usada na Olimpíada Internacional de Informática, porque o Docker exigia acesso privilegiado ao servidor.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arquitetura tem dois serviços. O Next.js cuida da interface, autenticação e de toda a regra de negócio via Server Actions. O judge é um binário em Rust que fica escutando o PostgreSQL. Quando o aluno submete, o Next salva a submissão e dispara um NOTIFY; o judge recebe, busca os casos de teste e executa dentro do isolate, que isola o processo com namespaces e cgroups do Linux. Não há broker de mensagens: o próprio banco faz esse papel. A IA, Gemini 2.5 Flash, é chamada pelo Next em quatro pontos.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critérios de avaliação têm três frentes. Duas já existem: os testes automatizados do judge e a validação pré-publicação, em que a solução de referência do professor precisa passar nos próprios testes antes do problema ir ao ar. A terceira é a avaliação com usuários, ainda não feita: aplicar um contest e uma aula numa turma, coletar SUS ou PSSUQ, que é o mesmo instrumento usado no Ataux, e métricas do próprio sistema. [Confirme com o orientador qual questionário e qual turma.]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Primeiro resultado: o pipeline de correção funciona de ponta a ponta. Destaco duas coisas. Em contest, o judge para no primeiro caso que falha, como numa maratona; em aula, roda todos os casos, e a nota do exercício é a fração de casos certos. E existe um veredito novo, CONSTRAINT_VIOLATION: o código passou em todos os testes, mas não respeitou a restrição do professor. O Portugol entre as linguagens é importante para turmas iniciantes. [Se der, mostre uma demonstração ao vivo aqui ou um print de submissão.]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que está pronto, em quatro blocos. Contests com placar ao vivo. Turmas e aulas: o professor monta uma aula com problemas existentes, define prazo, e depois comenta cada exercício. A IA aparece em quatro lugares, sempre como rascunho editável ou sob pedido do aluno; a dica nunca entrega a solução. E as restrições de solução, que são o diferencial mais forte: o professor pode exigir uma abordagem, e a checagem do algoritmo é feita pela IA só depois que todos os testes passam. [Prints de cada tela ficariam ótimos aqui.]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resultado mensurável que tenho hoje é a validação técnica. São 24 testes automatizados no judge. Os mais importantes para segurança: um programa que tenta criar processos infinitamente é contido em 64 processos; um que consome memória é barrado em 128 MB; um laço infinito sem saída é encerrado pelo tempo. Sou honesto sobre o limite disso: são testes do sistema, não dados de alunos. Os dados com usuários vêm da avaliação planejada.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Discutindo criticamente. Tecnicamente o sistema é sólido: menos peças para operar, isolamento de nível olímpico e tipagem ponta a ponta. Mas a principal limitação é clara: ainda não sei se ele ensina melhor, porque não foi testado com alunos. Outra limitação honesta: a checagem de laços aninhados olha o texto, não a árvore sintática, então uma palavra-chave dentro de um comentário pode gerar falso positivo. E há dependência de uma API paga de 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concluir, seis etapas. A etapa 3, destacada, é a mais crítica: conseguir uma turma real para aplicar um contest e uma aula. Por isso quero alinhar logo com o orientador qual turma e quando. [Preencha os meses conforme a data da defesa.]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Referências do artigo. Faltam duas que agora são citadas na apresentação: o isolate e o questionário SUS. Obrigado, fico à disposição para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/>
          <p:nvPr>
            <p:ph type="title"/>
          </p:nvPr>
        </p:nvSpPr>
        <p:spPr>
          <a:xfrm>
            <a:off x="812800" y="1102360"/>
            <a:ext cx="10566400" cy="447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15000"/>
              </a:lnSpc>
              <a:buNone/>
              <a:defRPr lang="en-US" sz="3200" dirty="0">
                <a:solidFill>
                  <a:srgbClr val="161A2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endParaRPr lang="en-US" sz="3200" dirty="0"/>
          </a:p>
        </p:txBody>
      </p:sp>
      <p:sp>
        <p:nvSpPr>
          <p:cNvPr id="3" name="Text Placeholder 2"/>
          <p:cNvSpPr/>
          <p:nvPr>
            <p:ph idx="101" type="body"/>
          </p:nvPr>
        </p:nvSpPr>
        <p:spPr>
          <a:xfrm>
            <a:off x="812800" y="1854200"/>
            <a:ext cx="10566400" cy="419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40000"/>
              </a:lnSpc>
              <a:buNone/>
              <a:defRPr lang="en-US" sz="1600" dirty="0">
                <a:solidFill>
                  <a:srgbClr val="161A2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/>
          <p:nvPr>
            <p:ph type="title"/>
          </p:nvPr>
        </p:nvSpPr>
        <p:spPr>
          <a:xfrm>
            <a:off x="812800" y="1102360"/>
            <a:ext cx="10566400" cy="447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15000"/>
              </a:lnSpc>
              <a:buNone/>
              <a:defRPr lang="en-US" sz="3200" dirty="0">
                <a:solidFill>
                  <a:srgbClr val="161A2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endParaRPr lang="en-US" sz="3200" dirty="0"/>
          </a:p>
        </p:txBody>
      </p:sp>
      <p:sp>
        <p:nvSpPr>
          <p:cNvPr id="3" name="Text Placeholder 2"/>
          <p:cNvSpPr/>
          <p:nvPr>
            <p:ph idx="101" type="body"/>
          </p:nvPr>
        </p:nvSpPr>
        <p:spPr>
          <a:xfrm>
            <a:off x="812800" y="1854200"/>
            <a:ext cx="10566400" cy="419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40000"/>
              </a:lnSpc>
              <a:buNone/>
              <a:defRPr lang="en-US" sz="1600" dirty="0">
                <a:solidFill>
                  <a:srgbClr val="161A2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7FA8F0"/>
                </a:solidFill>
                <a:latin typeface="JetBrains Mono" pitchFamily="49" charset="0"/>
                <a:ea typeface="JetBrains Mono" pitchFamily="49" charset="-122"/>
                <a:cs typeface="JetBrains Mono" pitchFamily="49" charset="-120"/>
              </a:rPr>
              <a:t>$ ./whyrunner --tcc-ii --parcial</a:t>
            </a:r>
            <a:endParaRPr lang="en-US" sz="14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2348230"/>
            <a:ext cx="10883392" cy="939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7200"/>
              </a:lnSpc>
              <a:buNone/>
            </a:pPr>
            <a:r>
              <a:rPr lang="en-US" sz="7200" b="1" i="0" spc="-100" kern="0" dirty="0">
                <a:solidFill>
                  <a:srgbClr val="F5F3E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WhyRunner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812800" y="3465830"/>
            <a:ext cx="8502650" cy="751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60"/>
              </a:lnSpc>
              <a:buNone/>
            </a:pPr>
            <a:r>
              <a:rPr lang="en-US" sz="2200" dirty="0">
                <a:solidFill>
                  <a:srgbClr val="D6DAE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Juiz online para o ensino de programação, com feedback por IA e execução segura de código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812800" y="5478780"/>
            <a:ext cx="2427859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5F3E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Juan Israel dos Anjos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12800" y="5814060"/>
            <a:ext cx="2427859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A9B3C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Orientadora: Suellen Mapa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917311" y="5532120"/>
            <a:ext cx="5461889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A9B3C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Bacharelado em Sistemas de Informação · IFMG Ouro Branco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91079" y="5814060"/>
            <a:ext cx="4688121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A9B3C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TCC II · Apresentação parcial · [data]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2563C9"/>
                </a:solidFill>
                <a:latin typeface="JetBrains Mono" pitchFamily="49" charset="0"/>
                <a:ea typeface="JetBrains Mono" pitchFamily="49" charset="-122"/>
                <a:cs typeface="JetBrains Mono" pitchFamily="49" charset="-120"/>
              </a:rPr>
              <a:t>01 · Introdução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02360"/>
            <a:ext cx="10883392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61A2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Juízes online corrigem código. Ensinar é outra coisa.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12800" y="1905000"/>
            <a:ext cx="5017108" cy="29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61A2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Contexto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12800" y="2331720"/>
            <a:ext cx="5017108" cy="8540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75"/>
              </a:lnSpc>
              <a:buNone/>
            </a:pPr>
            <a:r>
              <a:rPr lang="en-US" sz="1500" dirty="0">
                <a:solidFill>
                  <a:srgbClr val="4A526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Plataformas como BOCA e Run Codes avaliam o código do aluno automaticamente contra casos de teste e são comuns em disciplinas e maratonas.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12800" y="3312795"/>
            <a:ext cx="5017108" cy="5778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75"/>
              </a:lnSpc>
              <a:buNone/>
            </a:pPr>
            <a:r>
              <a:rPr lang="en-US" sz="1500" dirty="0">
                <a:solidFill>
                  <a:srgbClr val="4A526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Motivação pessoal: anos de maratona de programação e de uso desses sistemas como aluno.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991754" y="1908175"/>
            <a:ext cx="5384271" cy="3930650"/>
          </a:xfrm>
          <a:prstGeom prst="roundRect">
            <a:avLst>
              <a:gd name="adj" fmla="val 2504"/>
            </a:avLst>
          </a:prstGeom>
          <a:solidFill>
            <a:srgbClr val="FFFFFF"/>
          </a:solidFill>
          <a:ln w="6350">
            <a:solidFill>
              <a:srgbClr val="DDD9C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48400" y="2164821"/>
            <a:ext cx="5017108" cy="29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61A2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Escopo do TCC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248400" y="2566141"/>
            <a:ext cx="5017108" cy="772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161A2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Faz:</a:t>
            </a:r>
            <a:r>
              <a:rPr lang="en-US" sz="1400" dirty="0">
                <a:solidFill>
                  <a:srgbClr val="161A2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contests em tempo real · turmas e aulas do professor · execução isolada em 6 linguagens · dicas e autoria com IA · restrições de solução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248400" y="3439901"/>
            <a:ext cx="5017108" cy="52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161A2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Não faz:</a:t>
            </a:r>
            <a:r>
              <a:rPr lang="en-US" sz="1400" dirty="0">
                <a:solidFill>
                  <a:srgbClr val="4A526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detecção de plágio · correção além de entrada/saída · substituir a avaliação do professor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12800" y="6238239"/>
            <a:ext cx="588645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WhyRunner · TCC II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058400" y="6238239"/>
            <a:ext cx="13208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2563C9"/>
                </a:solidFill>
                <a:latin typeface="JetBrains Mono" pitchFamily="49" charset="0"/>
                <a:ea typeface="JetBrains Mono" pitchFamily="49" charset="-122"/>
                <a:cs typeface="JetBrains Mono" pitchFamily="49" charset="-120"/>
              </a:rPr>
              <a:t>02 · Problema e objetivos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02361"/>
            <a:ext cx="10883392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61A2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 aluno recebe "Wrong Answer" e para por aí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12800" y="1854200"/>
            <a:ext cx="501710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61A2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Problema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12800" y="2133600"/>
            <a:ext cx="5017108" cy="52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A526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Juízes foram feitos para competição: priorizam justiça e velocidade, e o feedback se resume a um veredito binário.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12800" y="2809239"/>
            <a:ext cx="501710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61A2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Justificativa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12800" y="3088639"/>
            <a:ext cx="5017108" cy="772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A526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Sem explicação, o erro não vira aprendizado. E o professor não consegue montar atividades nem exigir uma abordagem específica.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12800" y="4013200"/>
            <a:ext cx="4870979" cy="1132840"/>
          </a:xfrm>
          <a:prstGeom prst="roundRect">
            <a:avLst>
              <a:gd name="adj" fmla="val 6726"/>
            </a:avLst>
          </a:prstGeom>
          <a:solidFill>
            <a:srgbClr val="E6EEFB"/>
          </a:solidFill>
          <a:ln/>
        </p:spPr>
      </p:sp>
      <p:sp>
        <p:nvSpPr>
          <p:cNvPr id="9" name="Text 7"/>
          <p:cNvSpPr/>
          <p:nvPr/>
        </p:nvSpPr>
        <p:spPr>
          <a:xfrm>
            <a:off x="990600" y="4191000"/>
            <a:ext cx="465084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D4FA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Pergunta de pesquisa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90600" y="4470400"/>
            <a:ext cx="4650840" cy="52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61A2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Feedback por IA e atividades curadas pelo professor tornam um juiz online mais útil para o ensino?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991754" y="1857375"/>
            <a:ext cx="5384271" cy="3285490"/>
          </a:xfrm>
          <a:prstGeom prst="roundRect">
            <a:avLst>
              <a:gd name="adj" fmla="val 2996"/>
            </a:avLst>
          </a:prstGeom>
          <a:solidFill>
            <a:srgbClr val="FFFFFF"/>
          </a:solidFill>
          <a:ln w="6350">
            <a:solidFill>
              <a:srgbClr val="DDD9C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48400" y="2114021"/>
            <a:ext cx="501710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61A2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Objetivo geral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248400" y="2469621"/>
            <a:ext cx="5017108" cy="52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61A2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Desenvolver e avaliar um juiz online voltado ao ensino de programação.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248400" y="3094461"/>
            <a:ext cx="501710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61A2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Objetivos específicos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319520" y="3450061"/>
            <a:ext cx="4938368" cy="949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82880" indent="-182880">
              <a:lnSpc>
                <a:spcPts val="1820"/>
              </a:lnSpc>
              <a:buSzPct val="100000"/>
              <a:buFontTx/>
              <a:buAutoNum type="arabicPeriod" startAt="1"/>
            </a:pPr>
            <a:r>
              <a:rPr lang="en-US" sz="1300" dirty="0">
                <a:solidFill>
                  <a:srgbClr val="4A526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Executar código com segurança em várias linguagens</a:t>
            </a:r>
            <a:endParaRPr lang="en-US" sz="1300" dirty="0"/>
          </a:p>
          <a:p>
            <a:pPr algn="l" marL="182880" indent="-182880">
              <a:lnSpc>
                <a:spcPts val="1820"/>
              </a:lnSpc>
              <a:buSzPct val="100000"/>
              <a:buFontTx/>
              <a:buAutoNum type="arabicPeriod" startAt="1"/>
            </a:pPr>
            <a:r>
              <a:rPr lang="en-US" sz="1300" dirty="0">
                <a:solidFill>
                  <a:srgbClr val="4A526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Dar dicas por IA sem entregar a solução</a:t>
            </a:r>
            <a:endParaRPr lang="en-US" sz="1300" dirty="0"/>
          </a:p>
          <a:p>
            <a:pPr algn="l" marL="182880" indent="-182880">
              <a:lnSpc>
                <a:spcPts val="1820"/>
              </a:lnSpc>
              <a:buSzPct val="100000"/>
              <a:buFontTx/>
              <a:buAutoNum type="arabicPeriod" startAt="1"/>
            </a:pPr>
            <a:r>
              <a:rPr lang="en-US" sz="1300" dirty="0">
                <a:solidFill>
                  <a:srgbClr val="4A526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Permitir ao professor montar aulas e exigir algoritmos</a:t>
            </a:r>
            <a:endParaRPr lang="en-US" sz="1300" dirty="0"/>
          </a:p>
          <a:p>
            <a:pPr algn="l" marL="182880" indent="-182880">
              <a:lnSpc>
                <a:spcPts val="1820"/>
              </a:lnSpc>
              <a:buSzPct val="100000"/>
              <a:buFontTx/>
              <a:buAutoNum type="arabicPeriod" startAt="1"/>
            </a:pPr>
            <a:r>
              <a:rPr lang="en-US" sz="1300" dirty="0">
                <a:solidFill>
                  <a:srgbClr val="4A526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Avaliar a usabilidade com alunos e professor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12800" y="6238239"/>
            <a:ext cx="588645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WhyRunner · TCC II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0058400" y="6238239"/>
            <a:ext cx="13208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2563C9"/>
                </a:solidFill>
                <a:latin typeface="JetBrains Mono" pitchFamily="49" charset="0"/>
                <a:ea typeface="JetBrains Mono" pitchFamily="49" charset="-122"/>
                <a:cs typeface="JetBrains Mono" pitchFamily="49" charset="-120"/>
              </a:rPr>
              <a:t>03 · Trabalhos relacionados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02361"/>
            <a:ext cx="10883392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61A2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Nenhum dos sistemas analisados ensina, só corrige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854200"/>
            <a:ext cx="10566400" cy="2581592"/>
          </a:xfrm>
          <a:prstGeom prst="roundRect">
            <a:avLst>
              <a:gd name="adj" fmla="val 2952"/>
            </a:avLst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812800" y="1854200"/>
            <a:ext cx="10566400" cy="2581592"/>
          </a:xfrm>
          <a:custGeom>
            <a:avLst/>
            <a:gdLst/>
            <a:ahLst/>
            <a:cxnLst/>
            <a:rect l="l" t="t" r="r" b="b"/>
            <a:pathLst>
              <a:path w="10566400" h="2581592">
                <a:moveTo>
                  <a:pt x="10490200" y="0"/>
                </a:moveTo>
                <a:lnTo>
                  <a:pt x="10490200" y="0"/>
                </a:lnTo>
                <a:arcTo hR="76200" wR="76200" stAng="16200000" swAng="5400000"/>
                <a:lnTo>
                  <a:pt x="10566400" y="2505392"/>
                </a:lnTo>
                <a:arcTo hR="76200" wR="76200" stAng="0" swAng="5400000"/>
                <a:lnTo>
                  <a:pt x="76200" y="2581592"/>
                </a:lnTo>
                <a:arcTo hR="76200" wR="76200" stAng="5400000" swAng="5400000"/>
                <a:lnTo>
                  <a:pt x="0" y="2505392"/>
                </a:lnTo>
                <a:arcTo hR="69850" wR="76200" stAng="10800000" swAng="-5400000"/>
                <a:lnTo>
                  <a:pt x="10490200" y="2575242"/>
                </a:lnTo>
                <a:arcTo hR="69850" wR="69850" stAng="5400000" swAng="-5400000"/>
                <a:lnTo>
                  <a:pt x="10560050" y="76200"/>
                </a:lnTo>
                <a:arcTo hR="76200" wR="69850" stAng="0" swAng="-5400000"/>
                <a:close/>
              </a:path>
            </a:pathLst>
          </a:custGeom>
          <a:solidFill>
            <a:srgbClr val="DDD9CF"/>
          </a:solidFill>
          <a:ln/>
        </p:spPr>
      </p:sp>
      <p:sp>
        <p:nvSpPr>
          <p:cNvPr id="6" name="Shape 4"/>
          <p:cNvSpPr/>
          <p:nvPr/>
        </p:nvSpPr>
        <p:spPr>
          <a:xfrm>
            <a:off x="812800" y="1854200"/>
            <a:ext cx="10566400" cy="2581592"/>
          </a:xfrm>
          <a:custGeom>
            <a:avLst/>
            <a:gdLst/>
            <a:ahLst/>
            <a:cxnLst/>
            <a:rect l="l" t="t" r="r" b="b"/>
            <a:pathLst>
              <a:path w="10566400" h="2581592">
                <a:moveTo>
                  <a:pt x="76200" y="2581592"/>
                </a:moveTo>
                <a:lnTo>
                  <a:pt x="76200" y="2581592"/>
                </a:lnTo>
                <a:arcTo hR="76200" wR="76200" stAng="5400000" swAng="5400000"/>
                <a:lnTo>
                  <a:pt x="0" y="76200"/>
                </a:lnTo>
                <a:arcTo hR="76200" wR="76200" stAng="10800000" swAng="5400000"/>
                <a:lnTo>
                  <a:pt x="10490200" y="0"/>
                </a:lnTo>
                <a:arcTo hR="76200" wR="76200" stAng="16200000" swAng="5400000"/>
                <a:lnTo>
                  <a:pt x="10566400" y="76200"/>
                </a:lnTo>
                <a:arcTo hR="64558" wR="76200" stAng="0" swAng="-5400000"/>
                <a:lnTo>
                  <a:pt x="76200" y="11642"/>
                </a:lnTo>
                <a:arcTo hR="64558" wR="64558" stAng="16200000" swAng="-5400000"/>
                <a:lnTo>
                  <a:pt x="11642" y="2505392"/>
                </a:lnTo>
                <a:arcTo hR="76200" wR="64558" stAng="10800000" swAng="-5400000"/>
                <a:close/>
              </a:path>
            </a:pathLst>
          </a:custGeom>
          <a:solidFill>
            <a:srgbClr val="141413">
              <a:alpha val="22000"/>
            </a:srgbClr>
          </a:solidFill>
          <a:ln/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51442" y="1992842"/>
          <a:ext cx="10294938" cy="2310130"/>
        </p:xfrm>
        <a:graphic>
          <a:graphicData uri="http://schemas.openxmlformats.org/drawingml/2006/table">
            <a:tbl>
              <a:tblPr/>
              <a:tblGrid>
                <a:gridCol w="2264886"/>
                <a:gridCol w="1544241"/>
                <a:gridCol w="1647190"/>
                <a:gridCol w="1544241"/>
                <a:gridCol w="1647190"/>
                <a:gridCol w="1647190"/>
              </a:tblGrid>
              <a:tr h="385022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161A2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Sistema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2230" marR="62230" marT="62230" marB="6223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161A2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Feedback IA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161A2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Linguagens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161A2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Tempo real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161A2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Aulas curadas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161A2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Restrições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EC"/>
                    </a:solidFill>
                  </a:tcPr>
                </a:tc>
              </a:tr>
              <a:tr h="385022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61A2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Ataux (2021)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2230" marR="62230" marT="62230" marB="6223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61A2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Não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61A2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Limitadas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61A2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Não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61A2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Não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61A2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Não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5022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61A2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GOJ – UnB (2022)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2230" marR="62230" marT="62230" marB="6223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61A2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Não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61A2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Moderadas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61A2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Limitado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61A2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Não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61A2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Não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5022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61A2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Run Codes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2230" marR="62230" marT="62230" marB="6223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61A2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Não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61A2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Muitas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61A2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Sim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61A2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Não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61A2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Não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5022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61A2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BOCA (2004)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2230" marR="62230" marT="62230" marB="6223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61A2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Não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61A2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Moderadas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61A2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Sim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61A2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Não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61A2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Não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5022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61A2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WhyRunner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2230" marR="62230" marT="62230" marB="6223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B8BE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E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E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D4FA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Sim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B8BE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E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E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E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D4FA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6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B8BE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E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E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E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D4FA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Sim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B8BE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E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E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E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D4FA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Sim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B8BE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E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E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E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D4FA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Sim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B8BE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E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E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EFB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812800" y="4740593"/>
            <a:ext cx="1088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A526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Diferenciais: dicas por IA, aulas montadas pelo professor e restrições de solução (exigir uma abordagem, não só a saída certa).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812800" y="6238239"/>
            <a:ext cx="588645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WhyRunner · TCC II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0058400" y="6238239"/>
            <a:ext cx="13208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2563C9"/>
                </a:solidFill>
                <a:latin typeface="JetBrains Mono" pitchFamily="49" charset="0"/>
                <a:ea typeface="JetBrains Mono" pitchFamily="49" charset="-122"/>
                <a:cs typeface="JetBrains Mono" pitchFamily="49" charset="-120"/>
              </a:rPr>
              <a:t>04 · Metodologia · etapas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02361"/>
            <a:ext cx="10883392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61A2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Ciclos iterativos: cada versão corrigiu a anterior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828800"/>
            <a:ext cx="10566400" cy="2037821"/>
          </a:xfrm>
          <a:prstGeom prst="roundRect">
            <a:avLst>
              <a:gd name="adj" fmla="val 3739"/>
            </a:avLst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812800" y="1828800"/>
            <a:ext cx="10566400" cy="2037821"/>
          </a:xfrm>
          <a:custGeom>
            <a:avLst/>
            <a:gdLst/>
            <a:ahLst/>
            <a:cxnLst/>
            <a:rect l="l" t="t" r="r" b="b"/>
            <a:pathLst>
              <a:path w="10566400" h="2037821">
                <a:moveTo>
                  <a:pt x="10490200" y="0"/>
                </a:moveTo>
                <a:lnTo>
                  <a:pt x="10490200" y="0"/>
                </a:lnTo>
                <a:arcTo hR="76200" wR="76200" stAng="16200000" swAng="5400000"/>
                <a:lnTo>
                  <a:pt x="10566400" y="1961621"/>
                </a:lnTo>
                <a:arcTo hR="76200" wR="76200" stAng="0" swAng="5400000"/>
                <a:lnTo>
                  <a:pt x="76200" y="2037821"/>
                </a:lnTo>
                <a:arcTo hR="76200" wR="76200" stAng="5400000" swAng="5400000"/>
                <a:lnTo>
                  <a:pt x="0" y="1961621"/>
                </a:lnTo>
                <a:arcTo hR="69850" wR="76200" stAng="10800000" swAng="-5400000"/>
                <a:lnTo>
                  <a:pt x="10490200" y="2031471"/>
                </a:lnTo>
                <a:arcTo hR="69850" wR="69850" stAng="5400000" swAng="-5400000"/>
                <a:lnTo>
                  <a:pt x="10560050" y="76200"/>
                </a:lnTo>
                <a:arcTo hR="76200" wR="69850" stAng="0" swAng="-5400000"/>
                <a:close/>
              </a:path>
            </a:pathLst>
          </a:custGeom>
          <a:solidFill>
            <a:srgbClr val="DDD9CF"/>
          </a:solidFill>
          <a:ln/>
        </p:spPr>
      </p:sp>
      <p:sp>
        <p:nvSpPr>
          <p:cNvPr id="6" name="Shape 4"/>
          <p:cNvSpPr/>
          <p:nvPr/>
        </p:nvSpPr>
        <p:spPr>
          <a:xfrm>
            <a:off x="812800" y="1828800"/>
            <a:ext cx="10566400" cy="2037821"/>
          </a:xfrm>
          <a:custGeom>
            <a:avLst/>
            <a:gdLst/>
            <a:ahLst/>
            <a:cxnLst/>
            <a:rect l="l" t="t" r="r" b="b"/>
            <a:pathLst>
              <a:path w="10566400" h="2037821">
                <a:moveTo>
                  <a:pt x="76200" y="2037821"/>
                </a:moveTo>
                <a:lnTo>
                  <a:pt x="76200" y="2037821"/>
                </a:lnTo>
                <a:arcTo hR="76200" wR="76200" stAng="5400000" swAng="5400000"/>
                <a:lnTo>
                  <a:pt x="0" y="76200"/>
                </a:lnTo>
                <a:arcTo hR="76200" wR="76200" stAng="10800000" swAng="5400000"/>
                <a:lnTo>
                  <a:pt x="10490200" y="0"/>
                </a:lnTo>
                <a:arcTo hR="76200" wR="76200" stAng="16200000" swAng="5400000"/>
                <a:lnTo>
                  <a:pt x="10566400" y="76200"/>
                </a:lnTo>
                <a:arcTo hR="64558" wR="76200" stAng="0" swAng="-5400000"/>
                <a:lnTo>
                  <a:pt x="76200" y="11642"/>
                </a:lnTo>
                <a:arcTo hR="64558" wR="64558" stAng="16200000" swAng="-5400000"/>
                <a:lnTo>
                  <a:pt x="11642" y="1961621"/>
                </a:lnTo>
                <a:arcTo hR="76200" wR="64558" stAng="10800000" swAng="-5400000"/>
                <a:close/>
              </a:path>
            </a:pathLst>
          </a:custGeom>
          <a:solidFill>
            <a:srgbClr val="141413">
              <a:alpha val="22000"/>
            </a:srgbClr>
          </a:solidFill>
          <a:ln/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38742" y="1954742"/>
          <a:ext cx="10320338" cy="1791758"/>
        </p:xfrm>
        <a:graphic>
          <a:graphicData uri="http://schemas.openxmlformats.org/drawingml/2006/table">
            <a:tbl>
              <a:tblPr/>
              <a:tblGrid>
                <a:gridCol w="1651254"/>
                <a:gridCol w="2683288"/>
                <a:gridCol w="2683288"/>
                <a:gridCol w="3302508"/>
              </a:tblGrid>
              <a:tr h="358352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161A2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Parte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7785" marR="57785" marT="57785" marB="57785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161A2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Tentado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161A2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Adotado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161A2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Por quê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EC"/>
                    </a:solidFill>
                  </a:tcPr>
                </a:tc>
              </a:tr>
              <a:tr h="358352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61A2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Fila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7785" marR="57785" marT="57785" marB="57785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61A2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BullMQ, depois AWS SQS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D4FA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PostgreSQL LISTEN/NOTIFY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61A2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Polling ocioso e custo operacional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8352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61A2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Backend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7785" marR="57785" marT="57785" marB="57785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61A2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API NestJS separada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D4FA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Next.js Server Actions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61A2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Tipos e autenticação duplicados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8352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61A2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Banco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7785" marR="57785" marT="57785" marB="57785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61A2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Supabase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D4FA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PostgreSQL + Drizzle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61A2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Restritivo para lógica no servidor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8352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61A2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Sandbox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7785" marR="57785" marT="57785" marB="57785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61A2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Container Docker por submissão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D4FA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isolate (usado na IOI)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61A2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Exigia Docker privilegiado no host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812800" y="4146020"/>
            <a:ext cx="5601441" cy="383540"/>
          </a:xfrm>
          <a:prstGeom prst="roundRect">
            <a:avLst>
              <a:gd name="adj" fmla="val 50000"/>
            </a:avLst>
          </a:prstGeom>
          <a:solidFill>
            <a:srgbClr val="EAE7D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161A2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Levantamento: literatura + conversas com alunos + experiência própria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566641" y="4146020"/>
            <a:ext cx="3250142" cy="383540"/>
          </a:xfrm>
          <a:prstGeom prst="roundRect">
            <a:avLst>
              <a:gd name="adj" fmla="val 50000"/>
            </a:avLst>
          </a:prstGeom>
          <a:solidFill>
            <a:srgbClr val="EAE7D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161A2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MVP testado informalmente no Discord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12800" y="6238239"/>
            <a:ext cx="588645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WhyRunner · TCC II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0058400" y="6238239"/>
            <a:ext cx="13208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2563C9"/>
                </a:solidFill>
                <a:latin typeface="JetBrains Mono" pitchFamily="49" charset="0"/>
                <a:ea typeface="JetBrains Mono" pitchFamily="49" charset="-122"/>
                <a:cs typeface="JetBrains Mono" pitchFamily="49" charset="-120"/>
              </a:rPr>
              <a:t>05 · Metodologia · tecnologias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02361"/>
            <a:ext cx="10883392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61A2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Dois serviços que conversam só pelo banco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975" y="1913995"/>
            <a:ext cx="1698202" cy="1016212"/>
          </a:xfrm>
          <a:prstGeom prst="roundRect">
            <a:avLst>
              <a:gd name="adj" fmla="val 8436"/>
            </a:avLst>
          </a:prstGeom>
          <a:solidFill>
            <a:srgbClr val="FFFFFF"/>
          </a:solidFill>
          <a:ln w="6350">
            <a:solidFill>
              <a:srgbClr val="DDD9C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71021" y="2069043"/>
            <a:ext cx="143891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61A2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Navegador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71021" y="2348443"/>
            <a:ext cx="1438910" cy="452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A526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React · TanStack Query</a:t>
            </a:r>
            <a:endParaRPr lang="en-US" sz="1200" dirty="0"/>
          </a:p>
        </p:txBody>
      </p:sp>
      <p:pic>
        <p:nvPicPr>
          <p:cNvPr id="7" name="Image 0" descr="arrow-right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618952" y="2333200"/>
            <a:ext cx="304800" cy="1778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3031702" y="1911350"/>
            <a:ext cx="1703493" cy="1021503"/>
          </a:xfrm>
          <a:prstGeom prst="roundRect">
            <a:avLst>
              <a:gd name="adj" fmla="val 8081"/>
            </a:avLst>
          </a:prstGeom>
          <a:solidFill>
            <a:srgbClr val="FFFFFF"/>
          </a:solidFill>
          <a:ln w="12700">
            <a:solidFill>
              <a:srgbClr val="2563C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189393" y="2069043"/>
            <a:ext cx="143891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61A2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Next.js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189393" y="2348443"/>
            <a:ext cx="1438910" cy="452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A526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Server Actions · better-auth · Zod</a:t>
            </a:r>
            <a:endParaRPr lang="en-US" sz="1200" dirty="0"/>
          </a:p>
        </p:txBody>
      </p:sp>
      <p:pic>
        <p:nvPicPr>
          <p:cNvPr id="11" name="Image 1" descr="arrow-right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843145" y="2333200"/>
            <a:ext cx="304800" cy="17780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5252720" y="1913995"/>
            <a:ext cx="1698202" cy="1016212"/>
          </a:xfrm>
          <a:prstGeom prst="roundRect">
            <a:avLst>
              <a:gd name="adj" fmla="val 8436"/>
            </a:avLst>
          </a:prstGeom>
          <a:solidFill>
            <a:srgbClr val="FFFFFF"/>
          </a:solidFill>
          <a:ln w="6350">
            <a:solidFill>
              <a:srgbClr val="DDD9C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5407766" y="2069043"/>
            <a:ext cx="143891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61A2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PostgreSQL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5407766" y="2348443"/>
            <a:ext cx="1438910" cy="452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A526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Drizzle · LISTEN/ NOTIFY</a:t>
            </a:r>
            <a:endParaRPr lang="en-US" sz="1200" dirty="0"/>
          </a:p>
        </p:txBody>
      </p:sp>
      <p:pic>
        <p:nvPicPr>
          <p:cNvPr id="15" name="Image 2" descr="arrow-right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055696" y="2333200"/>
            <a:ext cx="304800" cy="177800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7468446" y="2018029"/>
            <a:ext cx="1703493" cy="808143"/>
          </a:xfrm>
          <a:prstGeom prst="roundRect">
            <a:avLst>
              <a:gd name="adj" fmla="val 10215"/>
            </a:avLst>
          </a:prstGeom>
          <a:solidFill>
            <a:srgbClr val="FFFFFF"/>
          </a:solidFill>
          <a:ln w="12700">
            <a:solidFill>
              <a:srgbClr val="2563C9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7626138" y="2175721"/>
            <a:ext cx="143891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61A2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Judge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7626138" y="2455121"/>
            <a:ext cx="143891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A526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Rust · tokio · sqlx</a:t>
            </a:r>
            <a:endParaRPr lang="en-US" sz="1200" dirty="0"/>
          </a:p>
        </p:txBody>
      </p:sp>
      <p:pic>
        <p:nvPicPr>
          <p:cNvPr id="19" name="Image 3" descr="arrow-right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9279890" y="2333200"/>
            <a:ext cx="304800" cy="177800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9686290" y="1916643"/>
            <a:ext cx="1692910" cy="1010920"/>
          </a:xfrm>
          <a:prstGeom prst="roundRect">
            <a:avLst>
              <a:gd name="adj" fmla="val 8794"/>
            </a:avLst>
          </a:prstGeom>
          <a:solidFill>
            <a:srgbClr val="161A22"/>
          </a:solidFill>
          <a:ln/>
        </p:spPr>
      </p:sp>
      <p:sp>
        <p:nvSpPr>
          <p:cNvPr id="21" name="Text 15"/>
          <p:cNvSpPr/>
          <p:nvPr/>
        </p:nvSpPr>
        <p:spPr>
          <a:xfrm>
            <a:off x="9838690" y="2069043"/>
            <a:ext cx="143891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F5F3E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isolate</a:t>
            </a:r>
            <a:endParaRPr lang="en-US" sz="1500" dirty="0"/>
          </a:p>
        </p:txBody>
      </p:sp>
      <p:sp>
        <p:nvSpPr>
          <p:cNvPr id="22" name="Text 16"/>
          <p:cNvSpPr/>
          <p:nvPr/>
        </p:nvSpPr>
        <p:spPr>
          <a:xfrm>
            <a:off x="9838690" y="2348443"/>
            <a:ext cx="1438910" cy="452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A9B3C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namespaces · cgroups</a:t>
            </a:r>
            <a:endParaRPr lang="en-US" sz="1200" dirty="0"/>
          </a:p>
        </p:txBody>
      </p:sp>
      <p:sp>
        <p:nvSpPr>
          <p:cNvPr id="23" name="Shape 17"/>
          <p:cNvSpPr/>
          <p:nvPr/>
        </p:nvSpPr>
        <p:spPr>
          <a:xfrm>
            <a:off x="812800" y="3294804"/>
            <a:ext cx="10566400" cy="853440"/>
          </a:xfrm>
          <a:prstGeom prst="roundRect">
            <a:avLst>
              <a:gd name="adj" fmla="val 10417"/>
            </a:avLst>
          </a:prstGeom>
          <a:solidFill>
            <a:srgbClr val="E6EEFB"/>
          </a:solidFill>
          <a:ln/>
        </p:spPr>
      </p:sp>
      <p:pic>
        <p:nvPicPr>
          <p:cNvPr id="24" name="Image 4" descr="Lightbulb">    </p:cNvPr>
          <p:cNvPicPr>
            <a:picLocks noChangeAspect="1"/>
          </p:cNvPicPr>
          <p:nvPr/>
        </p:nvPicPr>
        <p:blipFill>
          <a:blip r:embed="rId5"/>
          <a:srcRect l="0" r="0" t="-171" b="-171"/>
          <a:stretch/>
        </p:blipFill>
        <p:spPr>
          <a:xfrm>
            <a:off x="1016000" y="3569125"/>
            <a:ext cx="278448" cy="304800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1446848" y="3472604"/>
            <a:ext cx="10021027" cy="52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161A2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Gemini 2.5 Flash</a:t>
            </a:r>
            <a:r>
              <a:rPr lang="en-US" sz="1400" dirty="0">
                <a:solidFill>
                  <a:srgbClr val="161A2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, chamado pelo Next.js: dica ao aluno, solução de referência, revisão de enunciado e checagem de algoritmo exigido.</a:t>
            </a:r>
            <a:endParaRPr lang="en-US" sz="1400" dirty="0"/>
          </a:p>
        </p:txBody>
      </p:sp>
      <p:sp>
        <p:nvSpPr>
          <p:cNvPr id="26" name="Text 19"/>
          <p:cNvSpPr/>
          <p:nvPr/>
        </p:nvSpPr>
        <p:spPr>
          <a:xfrm>
            <a:off x="812800" y="6238239"/>
            <a:ext cx="588645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WhyRunner · TCC II</a:t>
            </a:r>
            <a:endParaRPr lang="en-US" sz="1200" dirty="0"/>
          </a:p>
        </p:txBody>
      </p:sp>
      <p:sp>
        <p:nvSpPr>
          <p:cNvPr id="27" name="Text 20"/>
          <p:cNvSpPr/>
          <p:nvPr/>
        </p:nvSpPr>
        <p:spPr>
          <a:xfrm>
            <a:off x="10058400" y="6238239"/>
            <a:ext cx="13208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2563C9"/>
                </a:solidFill>
                <a:latin typeface="JetBrains Mono" pitchFamily="49" charset="0"/>
                <a:ea typeface="JetBrains Mono" pitchFamily="49" charset="-122"/>
                <a:cs typeface="JetBrains Mono" pitchFamily="49" charset="-120"/>
              </a:rPr>
              <a:t>06 · Metodologia · avaliação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02361"/>
            <a:ext cx="10883392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61A2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Como o trabalho será validado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975" y="1857375"/>
            <a:ext cx="3376401" cy="1919393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6350">
            <a:solidFill>
              <a:srgbClr val="DDD9C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47221" y="2088620"/>
            <a:ext cx="2913909" cy="289560"/>
          </a:xfrm>
          <a:custGeom>
            <a:avLst/>
            <a:gdLst/>
            <a:ahLst/>
            <a:cxnLst/>
            <a:rect l="l" t="t" r="r" b="b"/>
            <a:pathLst>
              <a:path w="2913909" h="289560">
                <a:moveTo>
                  <a:pt x="144780" y="0"/>
                </a:moveTo>
                <a:lnTo>
                  <a:pt x="2769129" y="0"/>
                </a:lnTo>
                <a:arcTo hR="144780" wR="144780" stAng="16200000" swAng="5400000"/>
                <a:lnTo>
                  <a:pt x="2913909" y="144780"/>
                </a:lnTo>
                <a:arcTo hR="144780" wR="144780" stAng="0" swAng="5400000"/>
                <a:lnTo>
                  <a:pt x="144780" y="289560"/>
                </a:lnTo>
                <a:arcTo hR="144780" wR="144780" stAng="5400000" swAng="5400000"/>
                <a:lnTo>
                  <a:pt x="0" y="144780"/>
                </a:lnTo>
                <a:arcTo hR="144780" wR="144780" stAng="10800000" swAng="5400000"/>
                <a:close/>
              </a:path>
            </a:pathLst>
          </a:custGeom>
          <a:solidFill>
            <a:srgbClr val="E6EEFB"/>
          </a:solidFill>
          <a:ln/>
        </p:spPr>
        <p:txBody>
          <a:bodyPr wrap="square" lIns="114300" tIns="38100" rIns="33741" bIns="1270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D4FA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Feito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47221" y="2479780"/>
            <a:ext cx="3001326" cy="28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161A2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Validação técnica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47221" y="2840462"/>
            <a:ext cx="3001326" cy="7188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A526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Testes automatizados do judge: veredictos, tempo limite, memória, fork bomb e cada linguagem.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401926" y="1857375"/>
            <a:ext cx="3376507" cy="1919393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6350">
            <a:solidFill>
              <a:srgbClr val="DDD9C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33171" y="2088620"/>
            <a:ext cx="2914015" cy="289560"/>
          </a:xfrm>
          <a:custGeom>
            <a:avLst/>
            <a:gdLst/>
            <a:ahLst/>
            <a:cxnLst/>
            <a:rect l="l" t="t" r="r" b="b"/>
            <a:pathLst>
              <a:path w="2914015" h="289560">
                <a:moveTo>
                  <a:pt x="144780" y="0"/>
                </a:moveTo>
                <a:lnTo>
                  <a:pt x="2769235" y="0"/>
                </a:lnTo>
                <a:arcTo hR="144780" wR="144780" stAng="16200000" swAng="5400000"/>
                <a:lnTo>
                  <a:pt x="2914015" y="144780"/>
                </a:lnTo>
                <a:arcTo hR="144780" wR="144780" stAng="0" swAng="5400000"/>
                <a:lnTo>
                  <a:pt x="144780" y="289560"/>
                </a:lnTo>
                <a:arcTo hR="144780" wR="144780" stAng="5400000" swAng="5400000"/>
                <a:lnTo>
                  <a:pt x="0" y="144780"/>
                </a:lnTo>
                <a:arcTo hR="144780" wR="144780" stAng="10800000" swAng="5400000"/>
                <a:close/>
              </a:path>
            </a:pathLst>
          </a:custGeom>
          <a:solidFill>
            <a:srgbClr val="E6EEFB"/>
          </a:solidFill>
          <a:ln/>
        </p:spPr>
        <p:txBody>
          <a:bodyPr wrap="square" lIns="114300" tIns="38100" rIns="33738" bIns="1270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D4FA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Feito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633171" y="2479780"/>
            <a:ext cx="3001436" cy="28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161A2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Validação do problema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633171" y="2840462"/>
            <a:ext cx="3001436" cy="7188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A526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solução de referência do professor roda no judge antes de publicar; mudar um teste exige rodar de novo.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991157" y="1860550"/>
            <a:ext cx="3381692" cy="1913043"/>
          </a:xfrm>
          <a:prstGeom prst="roundRect">
            <a:avLst>
              <a:gd name="adj" fmla="val 4979"/>
            </a:avLst>
          </a:prstGeom>
          <a:solidFill>
            <a:srgbClr val="FFFFFF"/>
          </a:solidFill>
          <a:ln w="12700">
            <a:solidFill>
              <a:srgbClr val="A9521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5049" y="2094443"/>
            <a:ext cx="2913909" cy="289560"/>
          </a:xfrm>
          <a:custGeom>
            <a:avLst/>
            <a:gdLst/>
            <a:ahLst/>
            <a:cxnLst/>
            <a:rect l="l" t="t" r="r" b="b"/>
            <a:pathLst>
              <a:path w="2913909" h="289560">
                <a:moveTo>
                  <a:pt x="144780" y="0"/>
                </a:moveTo>
                <a:lnTo>
                  <a:pt x="2769129" y="0"/>
                </a:lnTo>
                <a:arcTo hR="144780" wR="144780" stAng="16200000" swAng="5400000"/>
                <a:lnTo>
                  <a:pt x="2913909" y="144780"/>
                </a:lnTo>
                <a:arcTo hR="144780" wR="144780" stAng="0" swAng="5400000"/>
                <a:lnTo>
                  <a:pt x="144780" y="289560"/>
                </a:lnTo>
                <a:arcTo hR="144780" wR="144780" stAng="5400000" swAng="5400000"/>
                <a:lnTo>
                  <a:pt x="0" y="144780"/>
                </a:lnTo>
                <a:arcTo hR="144780" wR="144780" stAng="10800000" swAng="5400000"/>
                <a:close/>
              </a:path>
            </a:pathLst>
          </a:custGeom>
          <a:solidFill>
            <a:srgbClr val="F7E6D8"/>
          </a:solidFill>
          <a:ln/>
        </p:spPr>
        <p:txBody>
          <a:bodyPr wrap="square" lIns="114300" tIns="38100" rIns="33741" bIns="1270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8A421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Planejado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225049" y="2485600"/>
            <a:ext cx="3001326" cy="28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161A2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Avaliação com usuários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225049" y="2846282"/>
            <a:ext cx="3001326" cy="7188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A526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Contest e aula com uma turma real; questionário SUS ou PSSUQ; tempo de correção, veredictos e uso das dicas.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12800" y="6238239"/>
            <a:ext cx="588645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WhyRunner · TCC II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0058400" y="6238239"/>
            <a:ext cx="13208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61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7FA8F0"/>
                </a:solidFill>
                <a:latin typeface="JetBrains Mono" pitchFamily="49" charset="0"/>
                <a:ea typeface="JetBrains Mono" pitchFamily="49" charset="-122"/>
                <a:cs typeface="JetBrains Mono" pitchFamily="49" charset="-120"/>
              </a:rPr>
              <a:t>07 · Resultados preliminares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02361"/>
            <a:ext cx="10883392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F5F3E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 pipeline de correção está completo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828800"/>
            <a:ext cx="3437467" cy="1036320"/>
          </a:xfrm>
          <a:prstGeom prst="roundRect">
            <a:avLst>
              <a:gd name="adj" fmla="val 8578"/>
            </a:avLst>
          </a:prstGeom>
          <a:solidFill>
            <a:srgbClr val="222833"/>
          </a:solidFill>
          <a:ln/>
        </p:spPr>
      </p:sp>
      <p:sp>
        <p:nvSpPr>
          <p:cNvPr id="5" name="Text 3"/>
          <p:cNvSpPr/>
          <p:nvPr/>
        </p:nvSpPr>
        <p:spPr>
          <a:xfrm>
            <a:off x="990600" y="1981200"/>
            <a:ext cx="3174323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7FA8F0"/>
                </a:solidFill>
                <a:latin typeface="JetBrains Mono" pitchFamily="49" charset="0"/>
                <a:ea typeface="JetBrains Mono" pitchFamily="49" charset="-122"/>
                <a:cs typeface="JetBrains Mono" pitchFamily="49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90600" y="2232661"/>
            <a:ext cx="3174323" cy="505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F5F3E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Aluno submete em contest, problema ou aula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377267" y="1828800"/>
            <a:ext cx="3437467" cy="1036320"/>
          </a:xfrm>
          <a:prstGeom prst="roundRect">
            <a:avLst>
              <a:gd name="adj" fmla="val 8578"/>
            </a:avLst>
          </a:prstGeom>
          <a:solidFill>
            <a:srgbClr val="222833"/>
          </a:solidFill>
          <a:ln/>
        </p:spPr>
      </p:sp>
      <p:sp>
        <p:nvSpPr>
          <p:cNvPr id="8" name="Text 6"/>
          <p:cNvSpPr/>
          <p:nvPr/>
        </p:nvSpPr>
        <p:spPr>
          <a:xfrm>
            <a:off x="4555067" y="1981200"/>
            <a:ext cx="3174323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7FA8F0"/>
                </a:solidFill>
                <a:latin typeface="JetBrains Mono" pitchFamily="49" charset="0"/>
                <a:ea typeface="JetBrains Mono" pitchFamily="49" charset="-122"/>
                <a:cs typeface="JetBrains Mono" pitchFamily="49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55067" y="2232661"/>
            <a:ext cx="3174323" cy="505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F5F3E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Server Action salva como PENDING e dispara NOTIFY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941733" y="1828800"/>
            <a:ext cx="3437467" cy="1036320"/>
          </a:xfrm>
          <a:prstGeom prst="roundRect">
            <a:avLst>
              <a:gd name="adj" fmla="val 8578"/>
            </a:avLst>
          </a:prstGeom>
          <a:solidFill>
            <a:srgbClr val="222833"/>
          </a:solidFill>
          <a:ln/>
        </p:spPr>
      </p:sp>
      <p:sp>
        <p:nvSpPr>
          <p:cNvPr id="11" name="Text 9"/>
          <p:cNvSpPr/>
          <p:nvPr/>
        </p:nvSpPr>
        <p:spPr>
          <a:xfrm>
            <a:off x="8119533" y="1981200"/>
            <a:ext cx="3174323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7FA8F0"/>
                </a:solidFill>
                <a:latin typeface="JetBrains Mono" pitchFamily="49" charset="0"/>
                <a:ea typeface="JetBrains Mono" pitchFamily="49" charset="-122"/>
                <a:cs typeface="JetBrains Mono" pitchFamily="49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119533" y="2232661"/>
            <a:ext cx="3174323" cy="505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F5F3E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Judge recebe e busca os casos de teste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2800" y="2992121"/>
            <a:ext cx="3437467" cy="1036320"/>
          </a:xfrm>
          <a:prstGeom prst="roundRect">
            <a:avLst>
              <a:gd name="adj" fmla="val 8578"/>
            </a:avLst>
          </a:prstGeom>
          <a:solidFill>
            <a:srgbClr val="222833"/>
          </a:solidFill>
          <a:ln/>
        </p:spPr>
      </p:sp>
      <p:sp>
        <p:nvSpPr>
          <p:cNvPr id="14" name="Text 12"/>
          <p:cNvSpPr/>
          <p:nvPr/>
        </p:nvSpPr>
        <p:spPr>
          <a:xfrm>
            <a:off x="990600" y="3144521"/>
            <a:ext cx="3174323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7FA8F0"/>
                </a:solidFill>
                <a:latin typeface="JetBrains Mono" pitchFamily="49" charset="0"/>
                <a:ea typeface="JetBrains Mono" pitchFamily="49" charset="-122"/>
                <a:cs typeface="JetBrains Mono" pitchFamily="49" charset="-120"/>
              </a:rPr>
              <a:t>4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90600" y="3395979"/>
            <a:ext cx="3174323" cy="505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F5F3E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isolate compila e executa com limites de tempo e memória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377267" y="2992121"/>
            <a:ext cx="3437467" cy="1036320"/>
          </a:xfrm>
          <a:prstGeom prst="roundRect">
            <a:avLst>
              <a:gd name="adj" fmla="val 8578"/>
            </a:avLst>
          </a:prstGeom>
          <a:solidFill>
            <a:srgbClr val="222833"/>
          </a:solidFill>
          <a:ln/>
        </p:spPr>
      </p:sp>
      <p:sp>
        <p:nvSpPr>
          <p:cNvPr id="17" name="Text 15"/>
          <p:cNvSpPr/>
          <p:nvPr/>
        </p:nvSpPr>
        <p:spPr>
          <a:xfrm>
            <a:off x="4555067" y="3144521"/>
            <a:ext cx="3174323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7FA8F0"/>
                </a:solidFill>
                <a:latin typeface="JetBrains Mono" pitchFamily="49" charset="0"/>
                <a:ea typeface="JetBrains Mono" pitchFamily="49" charset="-122"/>
                <a:cs typeface="JetBrains Mono" pitchFamily="49" charset="-120"/>
              </a:rPr>
              <a:t>5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555067" y="3395979"/>
            <a:ext cx="3174323" cy="505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F5F3E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Checa restrições: análise estática, depois IA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941733" y="2992121"/>
            <a:ext cx="3437467" cy="1036320"/>
          </a:xfrm>
          <a:prstGeom prst="roundRect">
            <a:avLst>
              <a:gd name="adj" fmla="val 8578"/>
            </a:avLst>
          </a:prstGeom>
          <a:solidFill>
            <a:srgbClr val="222833"/>
          </a:solidFill>
          <a:ln/>
        </p:spPr>
      </p:sp>
      <p:sp>
        <p:nvSpPr>
          <p:cNvPr id="20" name="Text 18"/>
          <p:cNvSpPr/>
          <p:nvPr/>
        </p:nvSpPr>
        <p:spPr>
          <a:xfrm>
            <a:off x="8119533" y="3144521"/>
            <a:ext cx="3174323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7FA8F0"/>
                </a:solidFill>
                <a:latin typeface="JetBrains Mono" pitchFamily="49" charset="0"/>
                <a:ea typeface="JetBrains Mono" pitchFamily="49" charset="-122"/>
                <a:cs typeface="JetBrains Mono" pitchFamily="49" charset="-120"/>
              </a:rPr>
              <a:t>6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119533" y="3395979"/>
            <a:ext cx="3174323" cy="26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F5F3E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Veredito salvo e notificação ao aluno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12800" y="4307842"/>
            <a:ext cx="5284724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A9B3C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Linguagens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12800" y="4597400"/>
            <a:ext cx="52847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F5F3EE"/>
                </a:solidFill>
                <a:latin typeface="JetBrains Mono" pitchFamily="49" charset="0"/>
                <a:ea typeface="JetBrains Mono" pitchFamily="49" charset="-122"/>
                <a:cs typeface="JetBrains Mono" pitchFamily="49" charset="-120"/>
              </a:rPr>
              <a:t>C · C++ · Java · Python · Rust · Portugol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248400" y="4307842"/>
            <a:ext cx="5284724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A9B3C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Veredictos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248400" y="4597400"/>
            <a:ext cx="52847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F5F3EE"/>
                </a:solidFill>
                <a:latin typeface="JetBrains Mono" pitchFamily="49" charset="0"/>
                <a:ea typeface="JetBrains Mono" pitchFamily="49" charset="-122"/>
                <a:cs typeface="JetBrains Mono" pitchFamily="49" charset="-120"/>
              </a:rPr>
              <a:t>PASSED · FAILED · ERROR · CONSTRAINT_VIOLATION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812800" y="6238242"/>
            <a:ext cx="588645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B95A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WhyRunner · TCC II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0058400" y="6238242"/>
            <a:ext cx="13208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B95A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2563C9"/>
                </a:solidFill>
                <a:latin typeface="JetBrains Mono" pitchFamily="49" charset="0"/>
                <a:ea typeface="JetBrains Mono" pitchFamily="49" charset="-122"/>
                <a:cs typeface="JetBrains Mono" pitchFamily="49" charset="-120"/>
              </a:rPr>
              <a:t>08 · Resultados preliminares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02358"/>
            <a:ext cx="10883392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61A2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Funcionalidades entregues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975" y="1831975"/>
            <a:ext cx="5200650" cy="1168612"/>
          </a:xfrm>
          <a:prstGeom prst="roundRect">
            <a:avLst>
              <a:gd name="adj" fmla="val 8422"/>
            </a:avLst>
          </a:prstGeom>
          <a:solidFill>
            <a:srgbClr val="FFFFFF"/>
          </a:solidFill>
          <a:ln w="6350">
            <a:solidFill>
              <a:srgbClr val="DDD9CF"/>
            </a:solidFill>
            <a:prstDash val="solid"/>
          </a:ln>
        </p:spPr>
      </p:sp>
      <p:pic>
        <p:nvPicPr>
          <p:cNvPr id="5" name="Image 0" descr="Star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21821" y="2037823"/>
            <a:ext cx="279400" cy="2794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53621" y="2037823"/>
            <a:ext cx="4487873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61A2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Contests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453621" y="2332459"/>
            <a:ext cx="4487873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A526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Placar em tempo real, inscrição com aprovação, rascunho e publicação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175375" y="1831975"/>
            <a:ext cx="5200650" cy="1168612"/>
          </a:xfrm>
          <a:prstGeom prst="roundRect">
            <a:avLst>
              <a:gd name="adj" fmla="val 8422"/>
            </a:avLst>
          </a:prstGeom>
          <a:solidFill>
            <a:srgbClr val="FFFFFF"/>
          </a:solidFill>
          <a:ln w="6350">
            <a:solidFill>
              <a:srgbClr val="DDD9CF"/>
            </a:solidFill>
            <a:prstDash val="solid"/>
          </a:ln>
        </p:spPr>
      </p:sp>
      <p:pic>
        <p:nvPicPr>
          <p:cNvPr id="9" name="Image 1" descr="GraduationCap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381221" y="2037823"/>
            <a:ext cx="279400" cy="2794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813021" y="2037823"/>
            <a:ext cx="4487873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61A2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Turmas e aulas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6813021" y="2332459"/>
            <a:ext cx="4487873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A526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Entrada por código, prazo, nota por exercício e comentário do professor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815975" y="3159336"/>
            <a:ext cx="5200650" cy="1168612"/>
          </a:xfrm>
          <a:prstGeom prst="roundRect">
            <a:avLst>
              <a:gd name="adj" fmla="val 8422"/>
            </a:avLst>
          </a:prstGeom>
          <a:solidFill>
            <a:srgbClr val="FFFFFF"/>
          </a:solidFill>
          <a:ln w="6350">
            <a:solidFill>
              <a:srgbClr val="DDD9CF"/>
            </a:solidFill>
            <a:prstDash val="solid"/>
          </a:ln>
        </p:spPr>
      </p:sp>
      <p:pic>
        <p:nvPicPr>
          <p:cNvPr id="13" name="Image 2" descr="Lightbulb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1021821" y="3365184"/>
            <a:ext cx="279400" cy="2794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453621" y="3365184"/>
            <a:ext cx="4487873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61A2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IA em quatro pontos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1453621" y="3659820"/>
            <a:ext cx="4487873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A526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Dica ao aluno, solução de referência, revisão do enunciado, narrativa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6175375" y="3159336"/>
            <a:ext cx="5200650" cy="1168612"/>
          </a:xfrm>
          <a:prstGeom prst="roundRect">
            <a:avLst>
              <a:gd name="adj" fmla="val 8422"/>
            </a:avLst>
          </a:prstGeom>
          <a:solidFill>
            <a:srgbClr val="FFFFFF"/>
          </a:solidFill>
          <a:ln w="6350">
            <a:solidFill>
              <a:srgbClr val="DDD9CF"/>
            </a:solidFill>
            <a:prstDash val="solid"/>
          </a:ln>
        </p:spPr>
      </p:sp>
      <p:pic>
        <p:nvPicPr>
          <p:cNvPr id="17" name="Image 3" descr="Lock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381221" y="3365184"/>
            <a:ext cx="279400" cy="27940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813021" y="3365184"/>
            <a:ext cx="4487873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61A2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Restrições de solução</a:t>
            </a:r>
            <a:endParaRPr lang="en-US" sz="1600" dirty="0"/>
          </a:p>
        </p:txBody>
      </p:sp>
      <p:sp>
        <p:nvSpPr>
          <p:cNvPr id="19" name="Text 13"/>
          <p:cNvSpPr/>
          <p:nvPr/>
        </p:nvSpPr>
        <p:spPr>
          <a:xfrm>
            <a:off x="6813021" y="3659820"/>
            <a:ext cx="4487873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A526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Limite de laços aninhados, construções proibidas e "deve usar Dijkstra"</a:t>
            </a:r>
            <a:endParaRPr lang="en-US" sz="1300" dirty="0"/>
          </a:p>
        </p:txBody>
      </p:sp>
      <p:sp>
        <p:nvSpPr>
          <p:cNvPr id="20" name="Text 14"/>
          <p:cNvSpPr/>
          <p:nvPr/>
        </p:nvSpPr>
        <p:spPr>
          <a:xfrm>
            <a:off x="812800" y="4610522"/>
            <a:ext cx="10883392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A526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Também: interface em português e inglês, notificações e temas.</a:t>
            </a:r>
            <a:endParaRPr lang="en-US" sz="1300" dirty="0"/>
          </a:p>
        </p:txBody>
      </p:sp>
      <p:sp>
        <p:nvSpPr>
          <p:cNvPr id="21" name="Text 15"/>
          <p:cNvSpPr/>
          <p:nvPr/>
        </p:nvSpPr>
        <p:spPr>
          <a:xfrm>
            <a:off x="812800" y="6238242"/>
            <a:ext cx="588645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WhyRunner · TCC II</a:t>
            </a:r>
            <a:endParaRPr lang="en-US" sz="1200" dirty="0"/>
          </a:p>
        </p:txBody>
      </p:sp>
      <p:sp>
        <p:nvSpPr>
          <p:cNvPr id="22" name="Text 16"/>
          <p:cNvSpPr/>
          <p:nvPr/>
        </p:nvSpPr>
        <p:spPr>
          <a:xfrm>
            <a:off x="10058400" y="6238242"/>
            <a:ext cx="13208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2563C9"/>
                </a:solidFill>
                <a:latin typeface="JetBrains Mono" pitchFamily="49" charset="0"/>
                <a:ea typeface="JetBrains Mono" pitchFamily="49" charset="-122"/>
                <a:cs typeface="JetBrains Mono" pitchFamily="49" charset="-120"/>
              </a:rPr>
              <a:t>09 · Resultados preliminares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02358"/>
            <a:ext cx="10883392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61A2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 sandbox resiste a código malicioso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12800" y="2089572"/>
            <a:ext cx="2747010" cy="1295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0000"/>
              </a:lnSpc>
              <a:buNone/>
            </a:pPr>
            <a:r>
              <a:rPr lang="en-US" sz="10000" b="1" dirty="0">
                <a:solidFill>
                  <a:srgbClr val="2563C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24</a:t>
            </a:r>
            <a:endParaRPr lang="en-US" sz="10000" dirty="0"/>
          </a:p>
        </p:txBody>
      </p:sp>
      <p:sp>
        <p:nvSpPr>
          <p:cNvPr id="5" name="Text 3"/>
          <p:cNvSpPr/>
          <p:nvPr/>
        </p:nvSpPr>
        <p:spPr>
          <a:xfrm>
            <a:off x="812800" y="3410372"/>
            <a:ext cx="2747010" cy="553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600" dirty="0">
                <a:solidFill>
                  <a:srgbClr val="161A2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testes automatizados no judge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835400" y="1828800"/>
            <a:ext cx="7543800" cy="2370773"/>
          </a:xfrm>
          <a:prstGeom prst="roundRect">
            <a:avLst>
              <a:gd name="adj" fmla="val 3214"/>
            </a:avLst>
          </a:prstGeom>
          <a:solidFill>
            <a:srgbClr val="FFFFFF"/>
          </a:solidFill>
          <a:ln/>
        </p:spPr>
      </p:sp>
      <p:sp>
        <p:nvSpPr>
          <p:cNvPr id="7" name="Shape 5"/>
          <p:cNvSpPr/>
          <p:nvPr/>
        </p:nvSpPr>
        <p:spPr>
          <a:xfrm>
            <a:off x="3835400" y="1828800"/>
            <a:ext cx="7543800" cy="2370773"/>
          </a:xfrm>
          <a:custGeom>
            <a:avLst/>
            <a:gdLst/>
            <a:ahLst/>
            <a:cxnLst/>
            <a:rect l="l" t="t" r="r" b="b"/>
            <a:pathLst>
              <a:path w="7543800" h="2370773">
                <a:moveTo>
                  <a:pt x="7467600" y="0"/>
                </a:moveTo>
                <a:lnTo>
                  <a:pt x="7467600" y="0"/>
                </a:lnTo>
                <a:arcTo hR="76200" wR="76200" stAng="16200000" swAng="5400000"/>
                <a:lnTo>
                  <a:pt x="7543800" y="2294573"/>
                </a:lnTo>
                <a:arcTo hR="76200" wR="76200" stAng="0" swAng="5400000"/>
                <a:lnTo>
                  <a:pt x="76200" y="2370773"/>
                </a:lnTo>
                <a:arcTo hR="76200" wR="76200" stAng="5400000" swAng="5400000"/>
                <a:lnTo>
                  <a:pt x="0" y="2294573"/>
                </a:lnTo>
                <a:arcTo hR="69850" wR="76200" stAng="10800000" swAng="-5400000"/>
                <a:lnTo>
                  <a:pt x="7467600" y="2364423"/>
                </a:lnTo>
                <a:arcTo hR="69850" wR="69850" stAng="5400000" swAng="-5400000"/>
                <a:lnTo>
                  <a:pt x="7537450" y="76200"/>
                </a:lnTo>
                <a:arcTo hR="76200" wR="69850" stAng="0" swAng="-5400000"/>
                <a:close/>
              </a:path>
            </a:pathLst>
          </a:custGeom>
          <a:solidFill>
            <a:srgbClr val="DDD9CF"/>
          </a:solidFill>
          <a:ln/>
        </p:spPr>
      </p:sp>
      <p:sp>
        <p:nvSpPr>
          <p:cNvPr id="8" name="Shape 6"/>
          <p:cNvSpPr/>
          <p:nvPr/>
        </p:nvSpPr>
        <p:spPr>
          <a:xfrm>
            <a:off x="3835400" y="1828800"/>
            <a:ext cx="7543800" cy="2370773"/>
          </a:xfrm>
          <a:custGeom>
            <a:avLst/>
            <a:gdLst/>
            <a:ahLst/>
            <a:cxnLst/>
            <a:rect l="l" t="t" r="r" b="b"/>
            <a:pathLst>
              <a:path w="7543800" h="2370773">
                <a:moveTo>
                  <a:pt x="76200" y="2370773"/>
                </a:moveTo>
                <a:lnTo>
                  <a:pt x="76200" y="2370773"/>
                </a:lnTo>
                <a:arcTo hR="76200" wR="76200" stAng="5400000" swAng="5400000"/>
                <a:lnTo>
                  <a:pt x="0" y="76200"/>
                </a:lnTo>
                <a:arcTo hR="76200" wR="76200" stAng="10800000" swAng="5400000"/>
                <a:lnTo>
                  <a:pt x="7467600" y="0"/>
                </a:lnTo>
                <a:arcTo hR="76200" wR="76200" stAng="16200000" swAng="5400000"/>
                <a:lnTo>
                  <a:pt x="7543800" y="76200"/>
                </a:lnTo>
                <a:arcTo hR="64558" wR="76200" stAng="0" swAng="-5400000"/>
                <a:lnTo>
                  <a:pt x="76200" y="11642"/>
                </a:lnTo>
                <a:arcTo hR="64558" wR="64558" stAng="16200000" swAng="-5400000"/>
                <a:lnTo>
                  <a:pt x="11642" y="2294573"/>
                </a:lnTo>
                <a:arcTo hR="76200" wR="64558" stAng="10800000" swAng="-5400000"/>
                <a:close/>
              </a:path>
            </a:pathLst>
          </a:custGeom>
          <a:solidFill>
            <a:srgbClr val="141413">
              <a:alpha val="22000"/>
            </a:srgbClr>
          </a:solidFill>
          <a:ln/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948642" y="1942042"/>
          <a:ext cx="7323138" cy="2150110"/>
        </p:xfrm>
        <a:graphic>
          <a:graphicData uri="http://schemas.openxmlformats.org/drawingml/2006/table">
            <a:tbl>
              <a:tblPr/>
              <a:tblGrid>
                <a:gridCol w="5126196"/>
                <a:gridCol w="2196941"/>
              </a:tblGrid>
              <a:tr h="358352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161A2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O que é verificado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7785" marR="57785" marT="57785" marB="57785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161A2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Testes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EC"/>
                    </a:solidFill>
                  </a:tcPr>
                </a:tc>
              </a:tr>
              <a:tr h="358352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61A2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Restrições estruturais (laços, construções)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7785" marR="57785" marT="57785" marB="57785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61A2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12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8352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61A2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Sandbox: todas as 6 linguagens, Portugol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7785" marR="57785" marT="57785" marB="57785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61A2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2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8352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61A2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Sandbox: fork bomb, tempo, memória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7785" marR="57785" marT="57785" marB="57785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61A2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3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8352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61A2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Política de correção e erro de compilação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7785" marR="57785" marT="57785" marB="57785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61A2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3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8352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61A2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Leitura dos resultados do isolate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7785" marR="57785" marT="57785" marB="57785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61A2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4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812800" y="4478970"/>
            <a:ext cx="1088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A526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Fork bomb limitada a 64 processos · memória limitada a 128 MB · laço infinito encerrado pelo tempo de parede.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12800" y="6238242"/>
            <a:ext cx="588645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WhyRunner · TCC II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0058400" y="6238242"/>
            <a:ext cx="13208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10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2563C9"/>
                </a:solidFill>
                <a:latin typeface="JetBrains Mono" pitchFamily="49" charset="0"/>
                <a:ea typeface="JetBrains Mono" pitchFamily="49" charset="-122"/>
                <a:cs typeface="JetBrains Mono" pitchFamily="49" charset="-120"/>
              </a:rPr>
              <a:t>10 · Discussão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02358"/>
            <a:ext cx="10883392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61A2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 sistema está pronto; falta provar que ensina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975" y="1857375"/>
            <a:ext cx="5175250" cy="2142384"/>
          </a:xfrm>
          <a:prstGeom prst="roundRect">
            <a:avLst>
              <a:gd name="adj" fmla="val 4594"/>
            </a:avLst>
          </a:prstGeom>
          <a:solidFill>
            <a:srgbClr val="FFFFFF"/>
          </a:solidFill>
          <a:ln w="6350">
            <a:solidFill>
              <a:srgbClr val="DDD9C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72621" y="2114023"/>
            <a:ext cx="4801817" cy="28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1D4FA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Pontos fortes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157584" y="2500102"/>
            <a:ext cx="4709234" cy="12684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69037" indent="-169037">
              <a:lnSpc>
                <a:spcPts val="1958"/>
              </a:lnSpc>
              <a:buSzPct val="100000"/>
              <a:buChar char="•"/>
            </a:pPr>
            <a:r>
              <a:rPr lang="en-US" sz="1350" dirty="0">
                <a:solidFill>
                  <a:srgbClr val="4A526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Sem broker de mensagens: só PostgreSQL</a:t>
            </a:r>
            <a:endParaRPr lang="en-US" sz="1350" dirty="0"/>
          </a:p>
          <a:p>
            <a:pPr algn="l" marL="169037" indent="-169037">
              <a:lnSpc>
                <a:spcPts val="1958"/>
              </a:lnSpc>
              <a:buSzPct val="100000"/>
              <a:buChar char="•"/>
            </a:pPr>
            <a:r>
              <a:rPr lang="en-US" sz="1350" dirty="0">
                <a:solidFill>
                  <a:srgbClr val="4A526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Isolamento no nível da IOI, sem Docker privilegiado</a:t>
            </a:r>
            <a:endParaRPr lang="en-US" sz="1350" dirty="0"/>
          </a:p>
          <a:p>
            <a:pPr algn="l" marL="169037" indent="-169037">
              <a:lnSpc>
                <a:spcPts val="1958"/>
              </a:lnSpc>
              <a:buSzPct val="100000"/>
              <a:buChar char="•"/>
            </a:pPr>
            <a:r>
              <a:rPr lang="en-US" sz="1350" dirty="0">
                <a:solidFill>
                  <a:srgbClr val="4A526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Tipagem de ponta a ponta (Drizzle + Zod)</a:t>
            </a:r>
            <a:endParaRPr lang="en-US" sz="1350" dirty="0"/>
          </a:p>
          <a:p>
            <a:pPr algn="l" marL="169037" indent="-169037">
              <a:lnSpc>
                <a:spcPts val="1958"/>
              </a:lnSpc>
              <a:buSzPct val="100000"/>
              <a:buChar char="•"/>
            </a:pPr>
            <a:r>
              <a:rPr lang="en-US" sz="1350" dirty="0">
                <a:solidFill>
                  <a:srgbClr val="4A526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IA sob demanda, com entrada delimitada contra prompt injection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200775" y="1857375"/>
            <a:ext cx="5175250" cy="2142384"/>
          </a:xfrm>
          <a:prstGeom prst="roundRect">
            <a:avLst>
              <a:gd name="adj" fmla="val 4594"/>
            </a:avLst>
          </a:prstGeom>
          <a:solidFill>
            <a:srgbClr val="FFFFFF"/>
          </a:solidFill>
          <a:ln w="6350">
            <a:solidFill>
              <a:srgbClr val="DDD9C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57421" y="2114023"/>
            <a:ext cx="4801817" cy="28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8A421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Limitações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542384" y="2500102"/>
            <a:ext cx="4709234" cy="12684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69037" indent="-169037">
              <a:lnSpc>
                <a:spcPts val="1958"/>
              </a:lnSpc>
              <a:buSzPct val="100000"/>
              <a:buChar char="•"/>
            </a:pPr>
            <a:r>
              <a:rPr lang="en-US" sz="1350" dirty="0">
                <a:solidFill>
                  <a:srgbClr val="4A526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Ainda sem avaliação com alunos</a:t>
            </a:r>
            <a:endParaRPr lang="en-US" sz="1350" dirty="0"/>
          </a:p>
          <a:p>
            <a:pPr algn="l" marL="169037" indent="-169037">
              <a:lnSpc>
                <a:spcPts val="1958"/>
              </a:lnSpc>
              <a:buSzPct val="100000"/>
              <a:buChar char="•"/>
            </a:pPr>
            <a:r>
              <a:rPr lang="en-US" sz="1350" dirty="0">
                <a:solidFill>
                  <a:srgbClr val="4A526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Análise de laços por texto, não por AST: falso positivo em strings</a:t>
            </a:r>
            <a:endParaRPr lang="en-US" sz="1350" dirty="0"/>
          </a:p>
          <a:p>
            <a:pPr algn="l" marL="169037" indent="-169037">
              <a:lnSpc>
                <a:spcPts val="1958"/>
              </a:lnSpc>
              <a:buSzPct val="100000"/>
              <a:buChar char="•"/>
            </a:pPr>
            <a:r>
              <a:rPr lang="en-US" sz="1350" dirty="0">
                <a:solidFill>
                  <a:srgbClr val="4A526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Depende da API do Gemini (custo e limites)</a:t>
            </a:r>
            <a:endParaRPr lang="en-US" sz="1350" dirty="0"/>
          </a:p>
          <a:p>
            <a:pPr algn="l" marL="169037" indent="-169037">
              <a:lnSpc>
                <a:spcPts val="1958"/>
              </a:lnSpc>
              <a:buSzPct val="100000"/>
              <a:buChar char="•"/>
            </a:pPr>
            <a:r>
              <a:rPr lang="en-US" sz="1350" dirty="0">
                <a:solidFill>
                  <a:srgbClr val="4A526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Implantação exige Linux com cgroups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812800" y="6238242"/>
            <a:ext cx="588645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WhyRunner · TCC II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058400" y="6238242"/>
            <a:ext cx="13208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11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2563C9"/>
                </a:solidFill>
                <a:latin typeface="JetBrains Mono" pitchFamily="49" charset="0"/>
                <a:ea typeface="JetBrains Mono" pitchFamily="49" charset="-122"/>
                <a:cs typeface="JetBrains Mono" pitchFamily="49" charset="-120"/>
              </a:rPr>
              <a:t>11 · Cronograma de conclusão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02358"/>
            <a:ext cx="10883392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61A2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Próximas etapas até a defesa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854200"/>
            <a:ext cx="10566400" cy="2941214"/>
          </a:xfrm>
          <a:prstGeom prst="roundRect">
            <a:avLst>
              <a:gd name="adj" fmla="val 2591"/>
            </a:avLst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812800" y="1854200"/>
            <a:ext cx="10566400" cy="2941214"/>
          </a:xfrm>
          <a:custGeom>
            <a:avLst/>
            <a:gdLst/>
            <a:ahLst/>
            <a:cxnLst/>
            <a:rect l="l" t="t" r="r" b="b"/>
            <a:pathLst>
              <a:path w="10566400" h="2941214">
                <a:moveTo>
                  <a:pt x="10490200" y="0"/>
                </a:moveTo>
                <a:lnTo>
                  <a:pt x="10490200" y="0"/>
                </a:lnTo>
                <a:arcTo hR="76200" wR="76200" stAng="16200000" swAng="5400000"/>
                <a:lnTo>
                  <a:pt x="10566400" y="2865014"/>
                </a:lnTo>
                <a:arcTo hR="76200" wR="76200" stAng="0" swAng="5400000"/>
                <a:lnTo>
                  <a:pt x="76200" y="2941214"/>
                </a:lnTo>
                <a:arcTo hR="76200" wR="76200" stAng="5400000" swAng="5400000"/>
                <a:lnTo>
                  <a:pt x="0" y="2865014"/>
                </a:lnTo>
                <a:arcTo hR="69850" wR="76200" stAng="10800000" swAng="-5400000"/>
                <a:lnTo>
                  <a:pt x="10490200" y="2934864"/>
                </a:lnTo>
                <a:arcTo hR="69850" wR="69850" stAng="5400000" swAng="-5400000"/>
                <a:lnTo>
                  <a:pt x="10560050" y="76200"/>
                </a:lnTo>
                <a:arcTo hR="76200" wR="69850" stAng="0" swAng="-5400000"/>
                <a:close/>
              </a:path>
            </a:pathLst>
          </a:custGeom>
          <a:solidFill>
            <a:srgbClr val="DDD9CF"/>
          </a:solidFill>
          <a:ln/>
        </p:spPr>
      </p:sp>
      <p:sp>
        <p:nvSpPr>
          <p:cNvPr id="6" name="Shape 4"/>
          <p:cNvSpPr/>
          <p:nvPr/>
        </p:nvSpPr>
        <p:spPr>
          <a:xfrm>
            <a:off x="812800" y="1854200"/>
            <a:ext cx="10566400" cy="2941214"/>
          </a:xfrm>
          <a:custGeom>
            <a:avLst/>
            <a:gdLst/>
            <a:ahLst/>
            <a:cxnLst/>
            <a:rect l="l" t="t" r="r" b="b"/>
            <a:pathLst>
              <a:path w="10566400" h="2941214">
                <a:moveTo>
                  <a:pt x="76200" y="2941214"/>
                </a:moveTo>
                <a:lnTo>
                  <a:pt x="76200" y="2941214"/>
                </a:lnTo>
                <a:arcTo hR="76200" wR="76200" stAng="5400000" swAng="5400000"/>
                <a:lnTo>
                  <a:pt x="0" y="76200"/>
                </a:lnTo>
                <a:arcTo hR="76200" wR="76200" stAng="10800000" swAng="5400000"/>
                <a:lnTo>
                  <a:pt x="10490200" y="0"/>
                </a:lnTo>
                <a:arcTo hR="76200" wR="76200" stAng="16200000" swAng="5400000"/>
                <a:lnTo>
                  <a:pt x="10566400" y="76200"/>
                </a:lnTo>
                <a:arcTo hR="64558" wR="76200" stAng="0" swAng="-5400000"/>
                <a:lnTo>
                  <a:pt x="76200" y="11642"/>
                </a:lnTo>
                <a:arcTo hR="64558" wR="64558" stAng="16200000" swAng="-5400000"/>
                <a:lnTo>
                  <a:pt x="11642" y="2865014"/>
                </a:lnTo>
                <a:arcTo hR="76200" wR="64558" stAng="10800000" swAng="-5400000"/>
                <a:close/>
              </a:path>
            </a:pathLst>
          </a:custGeom>
          <a:solidFill>
            <a:srgbClr val="141413">
              <a:alpha val="22000"/>
            </a:srgbClr>
          </a:solidFill>
          <a:ln/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38742" y="1980142"/>
          <a:ext cx="10320338" cy="2695152"/>
        </p:xfrm>
        <a:graphic>
          <a:graphicData uri="http://schemas.openxmlformats.org/drawingml/2006/table">
            <a:tbl>
              <a:tblPr/>
              <a:tblGrid>
                <a:gridCol w="825627"/>
                <a:gridCol w="6398609"/>
                <a:gridCol w="3096101"/>
              </a:tblGrid>
              <a:tr h="385022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161A2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#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2230" marR="62230" marT="62230" marB="6223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161A2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Etapa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161A2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Período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EC"/>
                    </a:solidFill>
                  </a:tcPr>
                </a:tc>
              </a:tr>
              <a:tr h="385022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61A2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1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2230" marR="62230" marT="62230" marB="6223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61A2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Atualizar o texto: isolate, 6 linguagens, avaliação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61A2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[outubro]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5022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61A2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2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2230" marR="62230" marT="62230" marB="6223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61A2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Preparar avaliação: problemas, aula e questionário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61A2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[outubro]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5022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61A2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3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2230" marR="62230" marT="62230" marB="6223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B8BE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E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E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61A2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Aplicar com uma turma: contest + aula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B8BE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E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E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E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61A2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[mês]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B8BE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E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E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EFB"/>
                    </a:solidFill>
                  </a:tcPr>
                </a:tc>
              </a:tr>
              <a:tr h="385022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61A2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4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2230" marR="62230" marT="62230" marB="6223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E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61A2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Analisar os dados e escrever os resultados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E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61A2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[mês]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E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5022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61A2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5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2230" marR="62230" marT="62230" marB="6223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61A2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Revisão final com a orientadora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61A2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[mês]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5022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61A2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6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2230" marR="62230" marT="62230" marB="6223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61A2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Defesa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61A2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[data]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812800" y="6238242"/>
            <a:ext cx="588645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WhyRunner · TCC II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0058400" y="6238242"/>
            <a:ext cx="13208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12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2563C9"/>
                </a:solidFill>
                <a:latin typeface="JetBrains Mono" pitchFamily="49" charset="0"/>
                <a:ea typeface="JetBrains Mono" pitchFamily="49" charset="-122"/>
                <a:cs typeface="JetBrains Mono" pitchFamily="49" charset="-120"/>
              </a:rPr>
              <a:t>Referências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280158"/>
            <a:ext cx="5284724" cy="436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61A2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CAMPOS, C. P.; FERREIRA, C. E. BOCA: um sistema de apoio a competições de programação. WEI, 2004.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12800" y="1805942"/>
            <a:ext cx="5284724" cy="436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61A2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CARNEIRO, M. F. Sistema web para auxílio no treinamento para maratonas de programação. UTFPR, 2012.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12800" y="2331721"/>
            <a:ext cx="5284724" cy="436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61A2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GEMINI TEAM, GOOGLE. Gemini: a family of highly capable multimodal models. 2023.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12800" y="2857500"/>
            <a:ext cx="5284724" cy="436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61A2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LIMA, G. M. Gamma Online Judge: plataforma para as questões das maratonas UnB de programação. 2022.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12800" y="3383279"/>
            <a:ext cx="5284724" cy="436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61A2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MATSAKIS, N. D.; KLOCK, F. S. The Rust language. ACM SIGAda Ada Letters, 2014.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12800" y="3909058"/>
            <a:ext cx="5284724" cy="436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61A2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MERKEL, D. Docker: lightweight Linux containers for consistent development and deployment. Linux Journal, 2014.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248400" y="1280158"/>
            <a:ext cx="5284724" cy="436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61A2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SILVA, J. T. S. et al. Ataux: uma ferramenta para auxiliar o acompanhamento de submissões de questões de programação. 2021.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248400" y="1805942"/>
            <a:ext cx="5284724" cy="436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61A2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STONEBRAKER, M.; ROWE, L. A. The design of POSTGRES. ACM SIGMOD, 1986.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248400" y="2331721"/>
            <a:ext cx="5284724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61A2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DRIZZLE TEAM. Drizzle ORM: TypeScript ORM for SQL. 2024.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248400" y="2651758"/>
            <a:ext cx="5284724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61A2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RUN CODES. Run Codes: plataforma de programação online. 2024.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248400" y="2971800"/>
            <a:ext cx="5284724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61A2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VERCEL INC. Next.js: the React framework for the web. 2024.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248400" y="3291842"/>
            <a:ext cx="5284724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8A421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[Adicionar: isolate (Mareš; Blackham, 2012) e SUS (Brooke, 1996)]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12800" y="6238242"/>
            <a:ext cx="588645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WhyRunner · TCC II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0058400" y="6238242"/>
            <a:ext cx="13208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13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hyRunner — Apresentação Parcial TCC II">
  <a:themeElements>
    <a:clrScheme name="WhyRunner — Apresentação Parcial TCC II">
      <a:dk1>
        <a:srgbClr val="161A22"/>
      </a:dk1>
      <a:lt1>
        <a:srgbClr val="F5F3EE"/>
      </a:lt1>
      <a:dk2>
        <a:srgbClr val="4E5055"/>
      </a:dk2>
      <a:lt2>
        <a:srgbClr val="DFDDDA"/>
      </a:lt2>
      <a:accent1>
        <a:srgbClr val="2563C9"/>
      </a:accent1>
      <a:accent2>
        <a:srgbClr val="7FA8F0"/>
      </a:accent2>
      <a:accent3>
        <a:srgbClr val="1D4FA8"/>
      </a:accent3>
      <a:accent4>
        <a:srgbClr val="8A4214"/>
      </a:accent4>
      <a:accent5>
        <a:srgbClr val="4A5260"/>
      </a:accent5>
      <a:accent6>
        <a:srgbClr val="6B7280"/>
      </a:accent6>
      <a:hlink>
        <a:srgbClr val="0563C1"/>
      </a:hlink>
      <a:folHlink>
        <a:srgbClr val="954F72"/>
      </a:folHlink>
    </a:clrScheme>
    <a:fontScheme name="WhyRunner — Apresentação Parcial TCC II">
      <a:majorFont>
        <a:latin typeface="IBM Plex Sa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BM Plex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WhyRunner — Apresentação Parcial TCC II</dc:title>
  <dc:subject/>
  <dc:creator/>
  <cp:lastModifiedBy/>
  <cp:revision>1</cp:revision>
  <dcterms:created xsi:type="dcterms:W3CDTF">2026-10-05T19:45:20Z</dcterms:created>
  <dcterms:modified xsi:type="dcterms:W3CDTF">2026-10-05T19:45:20Z</dcterms:modified>
</cp:coreProperties>
</file>