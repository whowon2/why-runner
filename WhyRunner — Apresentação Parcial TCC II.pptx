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notesMasterIdLst>
    <p:notesMasterId r:id="rId16"/>
  </p:notesMaster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6214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775776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3503911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56012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544924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9625542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819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435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Boa tarde a todos. Meu nome é Juan Israel dos Anjos, sou orientado pela professora Suellen Mapa, e vou apresentar o andamento do meu TCC: o WhyRunner.</a:t>
            </a:r>
          </a:p>
          <a:p>
            <a:r>
              <a:rPr lang="pt-BR" dirty="0"/>
              <a:t>É um juiz online, ou seja, um sistema que corrige código automaticamente, mas pensado para a sala de aula, e não só para competição. Vou seguir a estrutura da disciplina: introdução, problema, trabalhos relacionados, metodologia, resultados até agora, discussão e cronograma.</a:t>
            </a:r>
          </a:p>
        </p:txBody>
      </p:sp>
      <p:sp>
        <p:nvSpPr>
          <p:cNvPr id="610807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042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42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Primeiro, o contexto. Juízes online como o BOCA e o Run Codes recebem o código do aluno, executam contra casos de teste e devolvem um veredito: passou ou não passou. São muito usados em disciplinas de algoritmos e em maratonas de programação.</a:t>
            </a:r>
          </a:p>
          <a:p>
            <a:r>
              <a:rPr lang="pt-BR" dirty="0"/>
              <a:t>A motivação é pessoal: passei anos competindo em maratonas e usando esses sistemas como aluno, e vi onde eles ajudam e onde deixam a desejar.</a:t>
            </a:r>
          </a:p>
          <a:p>
            <a:r>
              <a:rPr lang="pt-BR" dirty="0"/>
              <a:t>Sobre o escopo: o WhyRunner faz torneios em tempo real, turmas e aulas montadas pelo professor, execução isolada em seis linguagens, dicas e criação de problemas com IA, e restrições de solução. O que fica de fora: detecção de plágio, avaliação de qualquer coisa além de entrada e saída, como estilo de código, e, importante, a IA não substitui a avaliação do professor. Ela só apoia.</a:t>
            </a:r>
          </a:p>
        </p:txBody>
      </p:sp>
      <p:sp>
        <p:nvSpPr>
          <p:cNvPr id="482172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098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310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O problema é este: o aluno envia o código, recebe "Wrong Answer" e para por aí. Juízes online foram feitos para competição, onde importam justiça e velocidade, então o feedback é binário de propósito. Mas em sala de aula, um erro sem explicação não vira aprendizado.</a:t>
            </a:r>
          </a:p>
          <a:p>
            <a:r>
              <a:rPr lang="pt-BR" dirty="0"/>
              <a:t>E tem o lado do professor: essas ferramentas não deixam montar uma atividade nem exigir uma abordagem, por exemplo, que o aluno resolva com Dijkstra e não com força bruta.</a:t>
            </a:r>
          </a:p>
          <a:p>
            <a:r>
              <a:rPr lang="pt-BR" dirty="0"/>
              <a:t>Daí a pergunta de pesquisa: feedback por IA e atividades curadas pelo professor tornam um juiz online mais útil para o ensino?</a:t>
            </a:r>
          </a:p>
          <a:p>
            <a:r>
              <a:rPr lang="pt-BR" dirty="0"/>
              <a:t>O objetivo geral é desenvolver e avaliar um juiz online voltado ao ensino. Os específicos são quatro: executar código com segurança em várias linguagens; dar dicas por IA sem entregar a solução; permitir ao professor montar aulas e exigir algoritmos; e avaliar a usabilidade com alunos e professor. Esse último ainda está por fazer.</a:t>
            </a:r>
          </a:p>
        </p:txBody>
      </p:sp>
      <p:sp>
        <p:nvSpPr>
          <p:cNvPr id="304307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5509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03250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Analisei quatro sistemas: o Ataux, de 2021; o Gamma Online Judge, da UnB, de 2022; o Run Codes; e o BOCA, de 2004, usado na Maratona da SBC.</a:t>
            </a:r>
          </a:p>
          <a:p>
            <a:r>
              <a:rPr lang="pt-BR" dirty="0"/>
              <a:t>A tabela compara cinco critérios: feedback por IA, linguagens, tempo real, aulas curadas e restrições de solução. O ponto principal: nenhum deles dá feedback explicativo. Todos corrigem, nenhum ensina. Alguns têm placar em tempo real, como BOCA e Run Codes, mas nenhum deixa o professor montar uma aula ou exigir um algoritmo.</a:t>
            </a:r>
          </a:p>
          <a:p>
            <a:r>
              <a:rPr lang="pt-BR" dirty="0"/>
              <a:t>O diferencial do WhyRunner está nas três últimas colunas: dicas por IA, aulas montadas pelo professor e restrições de solução, ou seja, verificar não só se a saída está certa, mas como o aluno chegou nela.</a:t>
            </a:r>
          </a:p>
        </p:txBody>
      </p:sp>
      <p:sp>
        <p:nvSpPr>
          <p:cNvPr id="47587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931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7229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A metodologia foi iterativa: cada versão corrigiu problemas da anterior. Os requisitos vieram de três fontes: literatura, conversas com alunos e minha experiência. E um primeiro MVP foi testado informalmente com usuários num servidor do Discord.</a:t>
            </a:r>
          </a:p>
          <a:p>
            <a:r>
              <a:rPr lang="pt-BR" dirty="0"/>
              <a:t>A tabela mostra as principais decisões. Na fila de submissões, passei por BullMQ e AWS SQS e terminei no LISTEN/NOTIFY do próprio PostgreSQL, sem polling ocioso e sem pagar outro serviço. No backend, troquei uma API NestJS separada por Server Actions do Next.js, porque tipos e autenticação estavam duplicados. Saí do Supabase para PostgreSQL com Drizzle, com mais liberdade para lógica no servidor. E no sandbox, troquei um container Docker por submissão pelo isolate, o mesmo usado na Olimpíada Internacional de Informática, porque o Docker exigia rodar privilegiado no servidor.</a:t>
            </a:r>
          </a:p>
        </p:txBody>
      </p:sp>
      <p:sp>
        <p:nvSpPr>
          <p:cNvPr id="556244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7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8544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Esta é a arquitetura: dois serviços que só conversam pelo banco.</a:t>
            </a:r>
          </a:p>
          <a:p>
            <a:r>
              <a:rPr lang="pt-BR" dirty="0"/>
              <a:t>O navegador usa React com TanStack Query. O Next.js recebe as ações por Server Actions, com autenticação pelo better-auth e validação com Zod. Tudo vai para o PostgreSQL, via Drizzle.</a:t>
            </a:r>
          </a:p>
          <a:p>
            <a:r>
              <a:rPr lang="pt-BR" dirty="0"/>
              <a:t>Quando chega uma submissão, o Next.js grava e dispara um NOTIFY. Do outro lado, o judge, escrito em Rust, escuta esse canal, pega a submissão e executa o código dentro do isolate, que usa namespaces e cgroups do Linux para isolar e limitar o processo.</a:t>
            </a:r>
          </a:p>
          <a:p>
            <a:r>
              <a:rPr lang="pt-BR" dirty="0"/>
              <a:t>A IA é o Gemini 2.5 Flash, chamado pelo Next.js em quatro pontos: dica para o aluno, solução de referência, revisão de enunciado e checagem do algoritmo exigido.</a:t>
            </a:r>
          </a:p>
        </p:txBody>
      </p:sp>
      <p:sp>
        <p:nvSpPr>
          <p:cNvPr id="1254356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616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5036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A validação tem três frentes.</a:t>
            </a:r>
          </a:p>
          <a:p>
            <a:r>
              <a:rPr lang="pt-BR" dirty="0"/>
              <a:t>Primeira, validação técnica, já feita: testes automatizados do judge cobrindo vereditos, tempo limite, memória, fork bomb e cada linguagem.</a:t>
            </a:r>
          </a:p>
          <a:p>
            <a:r>
              <a:rPr lang="pt-BR" dirty="0"/>
              <a:t>Segunda, validação dos problemas, também feita: antes de publicar, a solução de referência do professor roda no judge contra todos os casos de teste, e se um teste muda, ela roda de novo. Assim nenhum problema publicado tem caso de teste errado.</a:t>
            </a:r>
          </a:p>
          <a:p>
            <a:r>
              <a:rPr lang="pt-BR" dirty="0"/>
              <a:t>Terceira, avaliação com usuários, planejada: um torneio e uma aula com uma turma real, o questionário SUS, que dá uma nota de usabilidade de 0 a 100, e uma análise descritiva dos dados do próprio sistema: vereditos, tempo de correção e quanto as dicas foram usadas.</a:t>
            </a:r>
          </a:p>
        </p:txBody>
      </p:sp>
      <p:sp>
        <p:nvSpPr>
          <p:cNvPr id="326322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806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688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Agora os resultados. O primeiro: o pipeline de correção está completo, de ponta a ponta.</a:t>
            </a:r>
          </a:p>
          <a:p>
            <a:r>
              <a:rPr lang="pt-BR" dirty="0"/>
              <a:t>Um: o aluno submete, num torneio, num problema avulso ou numa aula. Dois: a Server Action salva a submissão como PENDING e dispara o NOTIFY. Três: o judge recebe e busca os casos de teste. Quatro: o isolate compila e executa com limite de tempo e memória. Cinco: se o problema tem restrições, o código passa por análise estática e depois pela IA. Seis: o veredito é salvo e o aluno é notificado.</a:t>
            </a:r>
          </a:p>
          <a:p>
            <a:r>
              <a:rPr lang="pt-BR" dirty="0"/>
              <a:t>São seis linguagens: C, C++, Java, Python, Rust e Portugol, que é importante para turmas iniciais. E quatro vereditos: aprovado, reprovado, erro e violação de restrição.</a:t>
            </a:r>
          </a:p>
        </p:txBody>
      </p:sp>
      <p:sp>
        <p:nvSpPr>
          <p:cNvPr id="797732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801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69698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Além do pipeline, estas são as funcionalidades entregues.</a:t>
            </a:r>
          </a:p>
          <a:p>
            <a:r>
              <a:rPr lang="pt-BR" dirty="0"/>
              <a:t>Torneios: placar em tempo real, inscrição com aprovação, rascunho e publicação. Turmas e aulas: o aluno entra por código, a aula tem prazo, cada exercício tem nota e o professor pode comentar.</a:t>
            </a:r>
          </a:p>
          <a:p>
            <a:r>
              <a:rPr lang="pt-BR" dirty="0"/>
              <a:t>A IA aparece em quatro pontos: dica ao aluno, solução de referência, revisão do enunciado e narrativa do problema. E as restrições de solução: o professor pode limitar laços aninhados, proibir construções e exigir algo como "deve usar Dijkstra".</a:t>
            </a:r>
          </a:p>
          <a:p>
            <a:r>
              <a:rPr lang="pt-BR" dirty="0"/>
              <a:t>Também tem interface em português e inglês, notificações e temas.</a:t>
            </a:r>
          </a:p>
        </p:txBody>
      </p:sp>
      <p:sp>
        <p:nvSpPr>
          <p:cNvPr id="2051084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610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4243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Um ponto crítico de qualquer juiz online é segurança, porque ele executa código de terceiros. Por isso o judge tem 29 testes automatizados.</a:t>
            </a:r>
          </a:p>
          <a:p>
            <a:r>
              <a:rPr lang="pt-BR" dirty="0"/>
              <a:t>Doze verificam as restrições estruturais. Dois rodam um programa em cada uma das seis linguagens, incluindo Portugol. Três simulam ataques: fork bomb, estouro de tempo e de memória. Oito cobrem a política de correção, erro de compilação e tempo limite. E quatro testam a leitura dos resultados do isolate.</a:t>
            </a:r>
          </a:p>
          <a:p>
            <a:r>
              <a:rPr lang="pt-BR" dirty="0"/>
              <a:t>Na prática: uma fork bomb fica limitada a 64 processos, a memória fica em 128 MB, ou 2 GB no Java por causa da JVM, e um laço infinito é encerrado pelo tempo.</a:t>
            </a:r>
          </a:p>
        </p:txBody>
      </p:sp>
      <p:sp>
        <p:nvSpPr>
          <p:cNvPr id="873838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164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4447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O título resume a discussão: o sistema está pronto, falta provar que ensina.</a:t>
            </a:r>
          </a:p>
          <a:p>
            <a:r>
              <a:rPr lang="pt-BR" dirty="0"/>
              <a:t>Pontos fortes: não precisa de broker de mensagens, só PostgreSQL; isolamento no nível da IOI sem Docker privilegiado; tipagem de ponta a ponta, do banco à interface; e IA sob demanda, com a entrada delimitada para reduzir prompt injection.</a:t>
            </a:r>
          </a:p>
          <a:p>
            <a:r>
              <a:rPr lang="pt-BR" dirty="0"/>
              <a:t>Limitações: a principal é que ainda não houve avaliação com alunos, então ainda não posso afirmar impacto no aprendizado. A análise de laços é por texto, não por árvore sintática, e pode dar falso positivo, por exemplo um "for" dentro de uma string. O sistema depende da API do Gemini, com custo e limites. E a implantação exige Linux com cgroups, o que restringe onde hospedar.</a:t>
            </a:r>
          </a:p>
        </p:txBody>
      </p:sp>
      <p:sp>
        <p:nvSpPr>
          <p:cNvPr id="1425708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824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030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Até a defesa são seis etapas.</a:t>
            </a:r>
          </a:p>
          <a:p>
            <a:r>
              <a:rPr lang="pt-BR" dirty="0"/>
              <a:t>Primeiro, atualizar o texto do TCC com as mudanças: isolate, seis linguagens e avaliação. Segundo, preparar a avaliação: problemas, aula e questionário. Terceiro, x. Quarto, analisar os dados e escrever os resultados. Quinto, revisão final com a orientadora. E por fim, a defesa.</a:t>
            </a:r>
          </a:p>
          <a:p>
            <a:r>
              <a:rPr lang="pt-BR" dirty="0"/>
              <a:t>[Ler os períodos de cada etapa conforme a tabela.]</a:t>
            </a:r>
          </a:p>
        </p:txBody>
      </p:sp>
      <p:sp>
        <p:nvSpPr>
          <p:cNvPr id="1506853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9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6882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pt-BR" dirty="0"/>
              <a:t>Estas são as principais referências do trabalho.</a:t>
            </a:r>
          </a:p>
          <a:p>
            <a:r>
              <a:rPr lang="pt-BR" dirty="0"/>
              <a:t>Obrigado pela atenção. Fico à disposição para perguntas.</a:t>
            </a:r>
          </a:p>
        </p:txBody>
      </p:sp>
      <p:sp>
        <p:nvSpPr>
          <p:cNvPr id="361964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body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187528" name="Title Placeholder 1"/>
          <p:cNvSpPr/>
          <p:nvPr>
            <p:ph type="title"/>
          </p:nvPr>
        </p:nvSpPr>
        <p:spPr bwMode="auto">
          <a:xfrm>
            <a:off x="812800" y="110236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200">
                <a:solidFill>
                  <a:srgbClr val="161A22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200"/>
          </a:p>
        </p:txBody>
      </p:sp>
      <p:sp>
        <p:nvSpPr>
          <p:cNvPr id="210670326" name="Text Placeholder 2"/>
          <p:cNvSpPr/>
          <p:nvPr>
            <p:ph type="body" idx="101"/>
          </p:nvPr>
        </p:nvSpPr>
        <p:spPr bwMode="auto">
          <a:xfrm>
            <a:off x="812800" y="1854200"/>
            <a:ext cx="105664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161A22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22376" name="Title Placeholder 1"/>
          <p:cNvSpPr/>
          <p:nvPr>
            <p:ph type="title"/>
          </p:nvPr>
        </p:nvSpPr>
        <p:spPr bwMode="auto">
          <a:xfrm>
            <a:off x="812800" y="110236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200">
                <a:solidFill>
                  <a:srgbClr val="161A22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200"/>
          </a:p>
        </p:txBody>
      </p:sp>
      <p:sp>
        <p:nvSpPr>
          <p:cNvPr id="159449888" name="Text Placeholder 2"/>
          <p:cNvSpPr/>
          <p:nvPr>
            <p:ph type="body" idx="101"/>
          </p:nvPr>
        </p:nvSpPr>
        <p:spPr bwMode="auto">
          <a:xfrm>
            <a:off x="812800" y="1854200"/>
            <a:ext cx="105664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161A22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61A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903995" name="Text 0"/>
          <p:cNvSpPr/>
          <p:nvPr/>
        </p:nvSpPr>
        <p:spPr bwMode="auto"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pt-BR" sz="1400">
                <a:solidFill>
                  <a:srgbClr val="7FA8F0"/>
                </a:solidFill>
                <a:latin typeface="JetBrains Mono"/>
                <a:ea typeface="JetBrains Mono"/>
                <a:cs typeface="JetBrains Mono"/>
              </a:rPr>
              <a:t>$ ./whyrunner --tcc-ii --parcial</a:t>
            </a:r>
            <a:endParaRPr lang="pt-BR" sz="1400"/>
          </a:p>
        </p:txBody>
      </p:sp>
      <p:sp>
        <p:nvSpPr>
          <p:cNvPr id="1766837883" name="Text 1"/>
          <p:cNvSpPr/>
          <p:nvPr>
            <p:ph type="title"/>
          </p:nvPr>
        </p:nvSpPr>
        <p:spPr bwMode="auto">
          <a:xfrm>
            <a:off x="812800" y="2348230"/>
            <a:ext cx="108833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200"/>
              </a:lnSpc>
              <a:buNone/>
              <a:defRPr/>
            </a:pPr>
            <a:r>
              <a:rPr lang="pt-BR" sz="7200" b="1" i="0" spc="-100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WhyRunner</a:t>
            </a:r>
            <a:endParaRPr lang="pt-BR" sz="7200"/>
          </a:p>
        </p:txBody>
      </p:sp>
      <p:sp>
        <p:nvSpPr>
          <p:cNvPr id="110766502" name="Text 2"/>
          <p:cNvSpPr/>
          <p:nvPr/>
        </p:nvSpPr>
        <p:spPr bwMode="auto">
          <a:xfrm>
            <a:off x="812800" y="3465830"/>
            <a:ext cx="85026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  <a:defRPr/>
            </a:pPr>
            <a:r>
              <a:rPr lang="pt-BR" sz="2200">
                <a:solidFill>
                  <a:srgbClr val="D6DAE2"/>
                </a:solidFill>
                <a:latin typeface="IBM Plex Sans"/>
                <a:ea typeface="IBM Plex Sans"/>
                <a:cs typeface="IBM Plex Sans"/>
              </a:rPr>
              <a:t>Juiz online para o ensino de programação, com feedback por IA e execução segura de código</a:t>
            </a:r>
            <a:endParaRPr lang="pt-BR" sz="2200"/>
          </a:p>
        </p:txBody>
      </p:sp>
      <p:sp>
        <p:nvSpPr>
          <p:cNvPr id="1514790137" name="Text 3"/>
          <p:cNvSpPr/>
          <p:nvPr/>
        </p:nvSpPr>
        <p:spPr bwMode="auto">
          <a:xfrm>
            <a:off x="812800" y="5478780"/>
            <a:ext cx="242785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pt-BR" sz="1600" b="1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Juan Israel dos Anjos</a:t>
            </a:r>
            <a:endParaRPr lang="pt-BR" sz="1600"/>
          </a:p>
        </p:txBody>
      </p:sp>
      <p:sp>
        <p:nvSpPr>
          <p:cNvPr id="612729521" name="Text 4"/>
          <p:cNvSpPr/>
          <p:nvPr/>
        </p:nvSpPr>
        <p:spPr bwMode="auto">
          <a:xfrm>
            <a:off x="812800" y="5814060"/>
            <a:ext cx="242785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pt-BR" sz="1300">
                <a:solidFill>
                  <a:srgbClr val="A9B3C2"/>
                </a:solidFill>
                <a:latin typeface="IBM Plex Sans"/>
                <a:ea typeface="IBM Plex Sans"/>
                <a:cs typeface="IBM Plex Sans"/>
              </a:rPr>
              <a:t>Orientadora: Suellen Mapa</a:t>
            </a:r>
            <a:endParaRPr lang="pt-BR" sz="1300"/>
          </a:p>
        </p:txBody>
      </p:sp>
      <p:sp>
        <p:nvSpPr>
          <p:cNvPr id="88845002" name="Text 5"/>
          <p:cNvSpPr/>
          <p:nvPr/>
        </p:nvSpPr>
        <p:spPr bwMode="auto">
          <a:xfrm>
            <a:off x="5917311" y="5532120"/>
            <a:ext cx="54618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  <a:defRPr/>
            </a:pPr>
            <a:r>
              <a:rPr lang="pt-BR" sz="1300">
                <a:solidFill>
                  <a:srgbClr val="A9B3C2"/>
                </a:solidFill>
                <a:latin typeface="IBM Plex Sans"/>
                <a:ea typeface="IBM Plex Sans"/>
                <a:cs typeface="IBM Plex Sans"/>
              </a:rPr>
              <a:t>Bacharelado em Sistemas de Informação · IFMG Ouro Branco</a:t>
            </a:r>
            <a:endParaRPr lang="pt-BR" sz="1300"/>
          </a:p>
        </p:txBody>
      </p:sp>
      <p:sp>
        <p:nvSpPr>
          <p:cNvPr id="84466474" name="Text 6"/>
          <p:cNvSpPr/>
          <p:nvPr/>
        </p:nvSpPr>
        <p:spPr bwMode="auto">
          <a:xfrm>
            <a:off x="6691078" y="5814060"/>
            <a:ext cx="468812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  <a:defRPr/>
            </a:pPr>
            <a:r>
              <a:rPr lang="pt-BR" sz="1300">
                <a:solidFill>
                  <a:srgbClr val="A9B3C2"/>
                </a:solidFill>
                <a:latin typeface="IBM Plex Sans"/>
                <a:ea typeface="IBM Plex Sans"/>
                <a:cs typeface="IBM Plex Sans"/>
              </a:rPr>
              <a:t>TCC II · Apresentação parcial · [data]</a:t>
            </a:r>
            <a:endParaRPr lang="pt-BR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396387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pt-BR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01 · Introdução</a:t>
            </a:r>
            <a:endParaRPr lang="pt-BR" sz="1200"/>
          </a:p>
        </p:txBody>
      </p:sp>
      <p:sp>
        <p:nvSpPr>
          <p:cNvPr id="597874883" name="Text 1"/>
          <p:cNvSpPr/>
          <p:nvPr>
            <p:ph type="title"/>
          </p:nvPr>
        </p:nvSpPr>
        <p:spPr bwMode="auto"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pt-BR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Juízes online corrigem código. Ensinar é outra coisa.</a:t>
            </a:r>
            <a:endParaRPr lang="pt-BR" sz="3200"/>
          </a:p>
        </p:txBody>
      </p:sp>
      <p:sp>
        <p:nvSpPr>
          <p:cNvPr id="239701581" name="Text 2"/>
          <p:cNvSpPr/>
          <p:nvPr/>
        </p:nvSpPr>
        <p:spPr bwMode="auto">
          <a:xfrm>
            <a:off x="812800" y="1905000"/>
            <a:ext cx="50171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  <a:defRPr/>
            </a:pPr>
            <a:r>
              <a:rPr lang="pt-BR" sz="18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Contexto</a:t>
            </a:r>
            <a:endParaRPr lang="pt-BR" sz="1800"/>
          </a:p>
        </p:txBody>
      </p:sp>
      <p:sp>
        <p:nvSpPr>
          <p:cNvPr id="308227358" name="Text 3"/>
          <p:cNvSpPr/>
          <p:nvPr/>
        </p:nvSpPr>
        <p:spPr bwMode="auto">
          <a:xfrm>
            <a:off x="812800" y="2331720"/>
            <a:ext cx="5017108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  <a:defRPr/>
            </a:pPr>
            <a:r>
              <a:rPr lang="pt-BR" sz="15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Plataformas como BOCA e </a:t>
            </a:r>
            <a:r>
              <a:rPr lang="en-US" sz="15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Run </a:t>
            </a:r>
            <a:r>
              <a:rPr lang="en-US" sz="15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Codes </a:t>
            </a:r>
            <a:r>
              <a:rPr lang="pt-BR" sz="15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avaliam o código do aluno automaticamente contra casos de teste e são comuns em disciplinas e maratonas.</a:t>
            </a:r>
            <a:endParaRPr lang="pt-BR" sz="1500"/>
          </a:p>
        </p:txBody>
      </p:sp>
      <p:sp>
        <p:nvSpPr>
          <p:cNvPr id="78194769" name="Text 4"/>
          <p:cNvSpPr/>
          <p:nvPr/>
        </p:nvSpPr>
        <p:spPr bwMode="auto">
          <a:xfrm>
            <a:off x="812800" y="3312795"/>
            <a:ext cx="5017108" cy="57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  <a:defRPr/>
            </a:pPr>
            <a:r>
              <a:rPr lang="pt-BR" sz="15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Motivação pessoal: anos de maratona de programação e de uso desses sistemas como aluno.</a:t>
            </a:r>
            <a:endParaRPr lang="pt-BR" sz="1500"/>
          </a:p>
        </p:txBody>
      </p:sp>
      <p:sp>
        <p:nvSpPr>
          <p:cNvPr id="1363901544" name="Shape 5"/>
          <p:cNvSpPr/>
          <p:nvPr/>
        </p:nvSpPr>
        <p:spPr bwMode="auto">
          <a:xfrm>
            <a:off x="5991754" y="1908175"/>
            <a:ext cx="5384271" cy="3930650"/>
          </a:xfrm>
          <a:prstGeom prst="roundRect">
            <a:avLst>
              <a:gd name="adj" fmla="val 2504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pt-BR"/>
          </a:p>
        </p:txBody>
      </p:sp>
      <p:sp>
        <p:nvSpPr>
          <p:cNvPr id="1059829843" name="Text 6"/>
          <p:cNvSpPr/>
          <p:nvPr/>
        </p:nvSpPr>
        <p:spPr bwMode="auto">
          <a:xfrm>
            <a:off x="6248400" y="2164821"/>
            <a:ext cx="50171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  <a:defRPr/>
            </a:pPr>
            <a:r>
              <a:rPr lang="pt-BR" sz="18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Escopo do TCC</a:t>
            </a:r>
            <a:endParaRPr lang="pt-BR" sz="1800"/>
          </a:p>
        </p:txBody>
      </p:sp>
      <p:sp>
        <p:nvSpPr>
          <p:cNvPr id="768130550" name="Text 7"/>
          <p:cNvSpPr/>
          <p:nvPr/>
        </p:nvSpPr>
        <p:spPr bwMode="auto">
          <a:xfrm>
            <a:off x="6248400" y="2566141"/>
            <a:ext cx="501710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pt-BR" sz="14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Faz:</a:t>
            </a:r>
            <a:r>
              <a:rPr lang="pt-BR" sz="14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pt-BR" sz="14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torneios </a:t>
            </a:r>
            <a:r>
              <a:rPr lang="pt-BR" sz="14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em tempo real · turmas e aulas do professor · execução isolada em 6 linguagens · dicas e autoria com IA · restrições de solução</a:t>
            </a:r>
            <a:endParaRPr lang="pt-BR" sz="1400"/>
          </a:p>
        </p:txBody>
      </p:sp>
      <p:sp>
        <p:nvSpPr>
          <p:cNvPr id="537787763" name="Text 8"/>
          <p:cNvSpPr/>
          <p:nvPr/>
        </p:nvSpPr>
        <p:spPr bwMode="auto">
          <a:xfrm>
            <a:off x="6248400" y="3439901"/>
            <a:ext cx="50171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pt-BR" sz="14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Não faz:</a:t>
            </a:r>
            <a:r>
              <a:rPr lang="pt-BR" sz="14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 detecção de plágio · correção além de entrada/saída · substituir a avaliação do professor</a:t>
            </a:r>
            <a:endParaRPr lang="pt-BR" sz="1400"/>
          </a:p>
        </p:txBody>
      </p:sp>
      <p:sp>
        <p:nvSpPr>
          <p:cNvPr id="1344746741" name="Text 9"/>
          <p:cNvSpPr/>
          <p:nvPr/>
        </p:nvSpPr>
        <p:spPr bwMode="auto"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pt-BR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pt-BR" sz="1200"/>
          </a:p>
        </p:txBody>
      </p:sp>
      <p:sp>
        <p:nvSpPr>
          <p:cNvPr id="282406693" name="Text 10"/>
          <p:cNvSpPr/>
          <p:nvPr/>
        </p:nvSpPr>
        <p:spPr bwMode="auto"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pt-BR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2</a:t>
            </a:r>
            <a:endParaRPr lang="pt-BR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135179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pt-BR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02 · Problema e objetivos</a:t>
            </a:r>
            <a:endParaRPr lang="pt-BR" sz="1200"/>
          </a:p>
        </p:txBody>
      </p:sp>
      <p:sp>
        <p:nvSpPr>
          <p:cNvPr id="2043126351" name="Text 1"/>
          <p:cNvSpPr/>
          <p:nvPr>
            <p:ph type="title"/>
          </p:nvPr>
        </p:nvSpPr>
        <p:spPr bwMode="auto"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pt-BR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O </a:t>
            </a:r>
            <a:r>
              <a:rPr lang="pt-BR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aluno </a:t>
            </a:r>
            <a:r>
              <a:rPr lang="pt-BR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recebe "</a:t>
            </a: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Wrong </a:t>
            </a: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Answer</a:t>
            </a:r>
            <a:r>
              <a:rPr lang="pt-BR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" e para por aí</a:t>
            </a:r>
            <a:endParaRPr lang="pt-BR" sz="3200"/>
          </a:p>
        </p:txBody>
      </p:sp>
      <p:sp>
        <p:nvSpPr>
          <p:cNvPr id="1209358811" name="Text 2"/>
          <p:cNvSpPr/>
          <p:nvPr/>
        </p:nvSpPr>
        <p:spPr bwMode="auto">
          <a:xfrm>
            <a:off x="812800" y="1854200"/>
            <a:ext cx="50171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pt-BR" sz="15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Problema</a:t>
            </a:r>
            <a:endParaRPr lang="pt-BR" sz="1500"/>
          </a:p>
        </p:txBody>
      </p:sp>
      <p:sp>
        <p:nvSpPr>
          <p:cNvPr id="1115925584" name="Text 3"/>
          <p:cNvSpPr/>
          <p:nvPr/>
        </p:nvSpPr>
        <p:spPr bwMode="auto">
          <a:xfrm>
            <a:off x="812800" y="2133600"/>
            <a:ext cx="50171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pt-BR" sz="14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Juízes </a:t>
            </a:r>
            <a:r>
              <a:rPr lang="pt-BR" sz="14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foram feitos para competição: priorizam justiça e velocidade, e o </a:t>
            </a:r>
            <a:r>
              <a:rPr lang="en-US" sz="14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feedback </a:t>
            </a:r>
            <a:r>
              <a:rPr lang="pt-BR" sz="14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se resume a um veredito binário.</a:t>
            </a:r>
            <a:endParaRPr lang="pt-BR" sz="1400"/>
          </a:p>
        </p:txBody>
      </p:sp>
      <p:sp>
        <p:nvSpPr>
          <p:cNvPr id="1251253273" name="Text 4"/>
          <p:cNvSpPr/>
          <p:nvPr/>
        </p:nvSpPr>
        <p:spPr bwMode="auto">
          <a:xfrm>
            <a:off x="812800" y="2809239"/>
            <a:ext cx="50171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pt-BR" sz="15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Justificativa</a:t>
            </a:r>
            <a:endParaRPr lang="pt-BR" sz="1500"/>
          </a:p>
        </p:txBody>
      </p:sp>
      <p:sp>
        <p:nvSpPr>
          <p:cNvPr id="583624499" name="Text 5"/>
          <p:cNvSpPr/>
          <p:nvPr/>
        </p:nvSpPr>
        <p:spPr bwMode="auto">
          <a:xfrm>
            <a:off x="812800" y="3088639"/>
            <a:ext cx="501710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pt-BR" sz="14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Sem explicação, o erro não vira aprendizado. E o professor não consegue montar atividades nem exigir uma abordagem específica.</a:t>
            </a:r>
            <a:endParaRPr lang="pt-BR" sz="1400"/>
          </a:p>
        </p:txBody>
      </p:sp>
      <p:sp>
        <p:nvSpPr>
          <p:cNvPr id="501741977" name="Shape 6"/>
          <p:cNvSpPr/>
          <p:nvPr/>
        </p:nvSpPr>
        <p:spPr bwMode="auto">
          <a:xfrm>
            <a:off x="812800" y="4013200"/>
            <a:ext cx="4870979" cy="1132840"/>
          </a:xfrm>
          <a:prstGeom prst="roundRect">
            <a:avLst>
              <a:gd name="adj" fmla="val 6726"/>
            </a:avLst>
          </a:prstGeom>
          <a:solidFill>
            <a:srgbClr val="E6EEFB"/>
          </a:solidFill>
          <a:ln/>
        </p:spPr>
        <p:txBody>
          <a:bodyPr anchor="ctr"/>
          <a:p>
            <a:pPr algn="ctr">
              <a:defRPr/>
            </a:pPr>
            <a:endParaRPr lang="pt-BR"/>
          </a:p>
        </p:txBody>
      </p:sp>
      <p:sp>
        <p:nvSpPr>
          <p:cNvPr id="450060452" name="Text 7"/>
          <p:cNvSpPr/>
          <p:nvPr/>
        </p:nvSpPr>
        <p:spPr bwMode="auto">
          <a:xfrm>
            <a:off x="990600" y="4191000"/>
            <a:ext cx="46508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pt-BR" sz="1500" b="1">
                <a:solidFill>
                  <a:srgbClr val="1D4FA8"/>
                </a:solidFill>
                <a:latin typeface="IBM Plex Sans"/>
                <a:ea typeface="IBM Plex Sans"/>
                <a:cs typeface="IBM Plex Sans"/>
              </a:rPr>
              <a:t>Pergunta de pesquisa</a:t>
            </a:r>
            <a:endParaRPr lang="pt-BR" sz="1500"/>
          </a:p>
        </p:txBody>
      </p:sp>
      <p:sp>
        <p:nvSpPr>
          <p:cNvPr id="1763124001" name="Text 8"/>
          <p:cNvSpPr/>
          <p:nvPr/>
        </p:nvSpPr>
        <p:spPr bwMode="auto">
          <a:xfrm>
            <a:off x="990600" y="4470400"/>
            <a:ext cx="465084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Feedback </a:t>
            </a:r>
            <a:r>
              <a:rPr lang="pt-BR" sz="14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por IA e atividades curadas pelo professor tornam um juiz online mais útil para o ensino?</a:t>
            </a:r>
            <a:endParaRPr lang="pt-BR" sz="1400"/>
          </a:p>
        </p:txBody>
      </p:sp>
      <p:sp>
        <p:nvSpPr>
          <p:cNvPr id="1053323622" name="Shape 9"/>
          <p:cNvSpPr/>
          <p:nvPr/>
        </p:nvSpPr>
        <p:spPr bwMode="auto">
          <a:xfrm>
            <a:off x="5991754" y="1857375"/>
            <a:ext cx="5384271" cy="3285490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pt-BR"/>
          </a:p>
        </p:txBody>
      </p:sp>
      <p:sp>
        <p:nvSpPr>
          <p:cNvPr id="624012278" name="Text 10"/>
          <p:cNvSpPr/>
          <p:nvPr/>
        </p:nvSpPr>
        <p:spPr bwMode="auto">
          <a:xfrm>
            <a:off x="6248400" y="2114021"/>
            <a:ext cx="50171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pt-BR" sz="15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Objetivo geral</a:t>
            </a:r>
            <a:endParaRPr lang="pt-BR" sz="1500"/>
          </a:p>
        </p:txBody>
      </p:sp>
      <p:sp>
        <p:nvSpPr>
          <p:cNvPr id="268804633" name="Text 11"/>
          <p:cNvSpPr/>
          <p:nvPr/>
        </p:nvSpPr>
        <p:spPr bwMode="auto">
          <a:xfrm>
            <a:off x="6248400" y="2469621"/>
            <a:ext cx="50171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pt-BR" sz="14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Desenvolver e avaliar um juiz online voltado ao ensino de programação.</a:t>
            </a:r>
            <a:endParaRPr lang="pt-BR" sz="1400"/>
          </a:p>
        </p:txBody>
      </p:sp>
      <p:sp>
        <p:nvSpPr>
          <p:cNvPr id="1661507206" name="Text 12"/>
          <p:cNvSpPr/>
          <p:nvPr/>
        </p:nvSpPr>
        <p:spPr bwMode="auto">
          <a:xfrm>
            <a:off x="6248400" y="3094461"/>
            <a:ext cx="50171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pt-BR" sz="15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Objetivos específicos</a:t>
            </a:r>
            <a:endParaRPr lang="pt-BR" sz="1500"/>
          </a:p>
        </p:txBody>
      </p:sp>
      <p:sp>
        <p:nvSpPr>
          <p:cNvPr id="75132327" name="Text 13"/>
          <p:cNvSpPr/>
          <p:nvPr/>
        </p:nvSpPr>
        <p:spPr bwMode="auto">
          <a:xfrm>
            <a:off x="6319520" y="3450061"/>
            <a:ext cx="4938368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1820"/>
              </a:lnSpc>
              <a:buSzPct val="100000"/>
              <a:buFontTx/>
              <a:buAutoNum type="arabicPeriod" startAt="1"/>
              <a:defRPr/>
            </a:pPr>
            <a:r>
              <a:rPr lang="pt-BR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Executar código com segurança em várias linguagens</a:t>
            </a:r>
            <a:endParaRPr lang="pt-BR" sz="1300"/>
          </a:p>
          <a:p>
            <a:pPr marL="182880" indent="-182880" algn="l">
              <a:lnSpc>
                <a:spcPts val="1820"/>
              </a:lnSpc>
              <a:buSzPct val="100000"/>
              <a:buFontTx/>
              <a:buAutoNum type="arabicPeriod" startAt="1"/>
              <a:defRPr/>
            </a:pPr>
            <a:r>
              <a:rPr lang="pt-BR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Dar dicas por IA sem entregar a solução</a:t>
            </a:r>
            <a:endParaRPr lang="pt-BR" sz="1300"/>
          </a:p>
          <a:p>
            <a:pPr marL="182880" indent="-182880" algn="l">
              <a:lnSpc>
                <a:spcPts val="1820"/>
              </a:lnSpc>
              <a:buSzPct val="100000"/>
              <a:buFontTx/>
              <a:buAutoNum type="arabicPeriod" startAt="1"/>
              <a:defRPr/>
            </a:pPr>
            <a:r>
              <a:rPr lang="pt-BR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Permitir ao professor montar aulas e exigir algoritmos</a:t>
            </a:r>
            <a:endParaRPr lang="pt-BR" sz="1300"/>
          </a:p>
          <a:p>
            <a:pPr marL="182880" indent="-182880" algn="l">
              <a:lnSpc>
                <a:spcPts val="1820"/>
              </a:lnSpc>
              <a:buSzPct val="100000"/>
              <a:buFontTx/>
              <a:buAutoNum type="arabicPeriod" startAt="1"/>
              <a:defRPr/>
            </a:pPr>
            <a:r>
              <a:rPr lang="pt-BR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Avaliar a usabilidade com alunos e professor</a:t>
            </a:r>
            <a:endParaRPr lang="pt-BR" sz="1300"/>
          </a:p>
        </p:txBody>
      </p:sp>
      <p:sp>
        <p:nvSpPr>
          <p:cNvPr id="1626140278" name="Text 14"/>
          <p:cNvSpPr/>
          <p:nvPr/>
        </p:nvSpPr>
        <p:spPr bwMode="auto"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pt-BR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pt-BR" sz="1200"/>
          </a:p>
        </p:txBody>
      </p:sp>
      <p:sp>
        <p:nvSpPr>
          <p:cNvPr id="687693632" name="Text 15"/>
          <p:cNvSpPr/>
          <p:nvPr/>
        </p:nvSpPr>
        <p:spPr bwMode="auto"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pt-BR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3</a:t>
            </a:r>
            <a:endParaRPr lang="pt-BR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124627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03 · Trabalhos relacionados</a:t>
            </a:r>
            <a:endParaRPr lang="en-US" sz="1200"/>
          </a:p>
        </p:txBody>
      </p:sp>
      <p:sp>
        <p:nvSpPr>
          <p:cNvPr id="356747684" name="Text 1"/>
          <p:cNvSpPr/>
          <p:nvPr>
            <p:ph type="title"/>
          </p:nvPr>
        </p:nvSpPr>
        <p:spPr bwMode="auto"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Nenhum dos sistemas analisados ensina, só corrige</a:t>
            </a:r>
            <a:endParaRPr lang="en-US" sz="3200"/>
          </a:p>
        </p:txBody>
      </p:sp>
      <p:sp>
        <p:nvSpPr>
          <p:cNvPr id="987946295" name="Shape 2"/>
          <p:cNvSpPr/>
          <p:nvPr/>
        </p:nvSpPr>
        <p:spPr bwMode="auto">
          <a:xfrm>
            <a:off x="812800" y="1854200"/>
            <a:ext cx="10566400" cy="2581592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/>
        </p:spPr>
      </p:sp>
      <p:sp>
        <p:nvSpPr>
          <p:cNvPr id="1406953478" name="Shape 3"/>
          <p:cNvSpPr/>
          <p:nvPr/>
        </p:nvSpPr>
        <p:spPr bwMode="auto">
          <a:xfrm>
            <a:off x="812800" y="1854200"/>
            <a:ext cx="10566400" cy="2581592"/>
          </a:xfrm>
          <a:custGeom>
            <a:avLst/>
            <a:gdLst/>
            <a:ahLst/>
            <a:cxnLst/>
            <a:rect l="l" t="t" r="r" b="b"/>
            <a:pathLst>
              <a:path w="10566400" h="2581592" fill="norm" stroke="1" extrusionOk="0">
                <a:moveTo>
                  <a:pt x="10490200" y="0"/>
                </a:moveTo>
                <a:lnTo>
                  <a:pt x="10490200" y="0"/>
                </a:lnTo>
                <a:arcTo wR="76200" hR="76200" stAng="16200000" swAng="5400000"/>
                <a:lnTo>
                  <a:pt x="10566400" y="2505392"/>
                </a:lnTo>
                <a:arcTo wR="76200" hR="76200" stAng="0" swAng="5400000"/>
                <a:lnTo>
                  <a:pt x="76200" y="2581592"/>
                </a:lnTo>
                <a:arcTo wR="76200" hR="76200" stAng="5400000" swAng="5400000"/>
                <a:lnTo>
                  <a:pt x="0" y="2505392"/>
                </a:lnTo>
                <a:arcTo wR="76200" hR="69850" stAng="10800000" swAng="-5400000"/>
                <a:lnTo>
                  <a:pt x="10490200" y="2575242"/>
                </a:lnTo>
                <a:arcTo wR="69850" hR="69850" stAng="5400000" swAng="-5400000"/>
                <a:lnTo>
                  <a:pt x="10560050" y="76200"/>
                </a:lnTo>
                <a:arcTo wR="69850" hR="76200" stAng="0" swAng="-5400000"/>
                <a:close/>
              </a:path>
            </a:pathLst>
          </a:custGeom>
          <a:solidFill>
            <a:srgbClr val="DDD9CF"/>
          </a:solidFill>
          <a:ln/>
        </p:spPr>
      </p:sp>
      <p:sp>
        <p:nvSpPr>
          <p:cNvPr id="1152371869" name="Shape 4"/>
          <p:cNvSpPr/>
          <p:nvPr/>
        </p:nvSpPr>
        <p:spPr bwMode="auto">
          <a:xfrm>
            <a:off x="812800" y="1854200"/>
            <a:ext cx="10566400" cy="2581592"/>
          </a:xfrm>
          <a:custGeom>
            <a:avLst/>
            <a:gdLst/>
            <a:ahLst/>
            <a:cxnLst/>
            <a:rect l="l" t="t" r="r" b="b"/>
            <a:pathLst>
              <a:path w="10566400" h="2581592" fill="norm" stroke="1" extrusionOk="0">
                <a:moveTo>
                  <a:pt x="76200" y="2581592"/>
                </a:moveTo>
                <a:lnTo>
                  <a:pt x="76200" y="2581592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4558" stAng="0" swAng="-5400000"/>
                <a:lnTo>
                  <a:pt x="76200" y="11642"/>
                </a:lnTo>
                <a:arcTo wR="64558" hR="64558" stAng="16200000" swAng="-5400000"/>
                <a:lnTo>
                  <a:pt x="11642" y="2505392"/>
                </a:lnTo>
                <a:arcTo wR="64558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212324544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951442" y="1992842"/>
          <a:ext cx="10294938" cy="231013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264886"/>
                <a:gridCol w="1544241"/>
                <a:gridCol w="1647190"/>
                <a:gridCol w="1544241"/>
                <a:gridCol w="1647190"/>
                <a:gridCol w="1647190"/>
              </a:tblGrid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Sistema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Feedback IA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Linguagens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Tempo real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Aulas curadas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Restrições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Ataux (2021)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Limitadas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GOJ – UnB (2022)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Moderadas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Limitado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Run Codes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Muitas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Sim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BOCA (2004)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Moderadas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Sim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WhyRunner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B8BEC8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8BEC8"/>
                      </a:solidFill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D4FA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Sim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8BEC8"/>
                      </a:solidFill>
                    </a:lnL>
                    <a:lnR w="12700" algn="ctr">
                      <a:solidFill>
                        <a:srgbClr val="B8BEC8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8BEC8"/>
                      </a:solidFill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D4FA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8BEC8"/>
                      </a:solidFill>
                    </a:lnL>
                    <a:lnR w="12700" algn="ctr">
                      <a:solidFill>
                        <a:srgbClr val="B8BEC8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8BEC8"/>
                      </a:solidFill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D4FA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Sim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8BEC8"/>
                      </a:solidFill>
                    </a:lnL>
                    <a:lnR w="12700" algn="ctr">
                      <a:solidFill>
                        <a:srgbClr val="B8BEC8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8BEC8"/>
                      </a:solidFill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D4FA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Sim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8BEC8"/>
                      </a:solidFill>
                    </a:lnL>
                    <a:lnR w="12700" algn="ctr">
                      <a:solidFill>
                        <a:srgbClr val="B8BEC8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8BEC8"/>
                      </a:solidFill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D4FA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Sim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8BEC8"/>
                      </a:solidFill>
                    </a:lnL>
                    <a:lnR w="12700" algn="ctr">
                      <a:solidFill>
                        <a:srgbClr val="B8BEC8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8BEC8"/>
                      </a:solidFill>
                    </a:lnB>
                    <a:solidFill>
                      <a:srgbClr val="E6EEFB"/>
                    </a:solidFill>
                  </a:tcPr>
                </a:tc>
              </a:tr>
            </a:tbl>
          </a:graphicData>
        </a:graphic>
      </p:graphicFrame>
      <p:sp>
        <p:nvSpPr>
          <p:cNvPr id="1285964239" name="Text 5"/>
          <p:cNvSpPr/>
          <p:nvPr/>
        </p:nvSpPr>
        <p:spPr bwMode="auto">
          <a:xfrm>
            <a:off x="812800" y="4740593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Diferenciais: dicas por IA, aulas montadas pelo professor e restrições de solução (exigir uma abordagem, não só a saída certa).</a:t>
            </a:r>
            <a:endParaRPr lang="en-US" sz="1400"/>
          </a:p>
        </p:txBody>
      </p:sp>
      <p:sp>
        <p:nvSpPr>
          <p:cNvPr id="336498344" name="Text 6"/>
          <p:cNvSpPr/>
          <p:nvPr/>
        </p:nvSpPr>
        <p:spPr bwMode="auto"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1651966125" name="Text 7"/>
          <p:cNvSpPr/>
          <p:nvPr/>
        </p:nvSpPr>
        <p:spPr bwMode="auto"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197094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04 · Metodologia · etapas</a:t>
            </a:r>
            <a:endParaRPr lang="en-US" sz="1200"/>
          </a:p>
        </p:txBody>
      </p:sp>
      <p:sp>
        <p:nvSpPr>
          <p:cNvPr id="1192800009" name="Text 1"/>
          <p:cNvSpPr/>
          <p:nvPr>
            <p:ph type="title"/>
          </p:nvPr>
        </p:nvSpPr>
        <p:spPr bwMode="auto"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Ciclos iterativos: cada versão corrigiu a anterior</a:t>
            </a:r>
            <a:endParaRPr lang="en-US" sz="3200"/>
          </a:p>
        </p:txBody>
      </p:sp>
      <p:sp>
        <p:nvSpPr>
          <p:cNvPr id="371362669" name="Shape 2"/>
          <p:cNvSpPr/>
          <p:nvPr/>
        </p:nvSpPr>
        <p:spPr bwMode="auto">
          <a:xfrm>
            <a:off x="812800" y="1828800"/>
            <a:ext cx="10566400" cy="2037821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/>
        </p:spPr>
      </p:sp>
      <p:sp>
        <p:nvSpPr>
          <p:cNvPr id="802828716" name="Shape 3"/>
          <p:cNvSpPr/>
          <p:nvPr/>
        </p:nvSpPr>
        <p:spPr bwMode="auto">
          <a:xfrm>
            <a:off x="812800" y="1828800"/>
            <a:ext cx="10566400" cy="2037821"/>
          </a:xfrm>
          <a:custGeom>
            <a:avLst/>
            <a:gdLst/>
            <a:ahLst/>
            <a:cxnLst/>
            <a:rect l="l" t="t" r="r" b="b"/>
            <a:pathLst>
              <a:path w="10566400" h="2037821" fill="norm" stroke="1" extrusionOk="0">
                <a:moveTo>
                  <a:pt x="10490200" y="0"/>
                </a:moveTo>
                <a:lnTo>
                  <a:pt x="10490200" y="0"/>
                </a:lnTo>
                <a:arcTo wR="76200" hR="76200" stAng="16200000" swAng="5400000"/>
                <a:lnTo>
                  <a:pt x="10566400" y="1961621"/>
                </a:lnTo>
                <a:arcTo wR="76200" hR="76200" stAng="0" swAng="5400000"/>
                <a:lnTo>
                  <a:pt x="76200" y="2037821"/>
                </a:lnTo>
                <a:arcTo wR="76200" hR="76200" stAng="5400000" swAng="5400000"/>
                <a:lnTo>
                  <a:pt x="0" y="1961621"/>
                </a:lnTo>
                <a:arcTo wR="76200" hR="69850" stAng="10800000" swAng="-5400000"/>
                <a:lnTo>
                  <a:pt x="10490200" y="2031471"/>
                </a:lnTo>
                <a:arcTo wR="69850" hR="69850" stAng="5400000" swAng="-5400000"/>
                <a:lnTo>
                  <a:pt x="10560050" y="76200"/>
                </a:lnTo>
                <a:arcTo wR="69850" hR="76200" stAng="0" swAng="-5400000"/>
                <a:close/>
              </a:path>
            </a:pathLst>
          </a:custGeom>
          <a:solidFill>
            <a:srgbClr val="DDD9CF"/>
          </a:solidFill>
          <a:ln/>
        </p:spPr>
      </p:sp>
      <p:sp>
        <p:nvSpPr>
          <p:cNvPr id="1668960414" name="Shape 4"/>
          <p:cNvSpPr/>
          <p:nvPr/>
        </p:nvSpPr>
        <p:spPr bwMode="auto">
          <a:xfrm>
            <a:off x="812800" y="1828800"/>
            <a:ext cx="10566400" cy="2037821"/>
          </a:xfrm>
          <a:custGeom>
            <a:avLst/>
            <a:gdLst/>
            <a:ahLst/>
            <a:cxnLst/>
            <a:rect l="l" t="t" r="r" b="b"/>
            <a:pathLst>
              <a:path w="10566400" h="2037821" fill="norm" stroke="1" extrusionOk="0">
                <a:moveTo>
                  <a:pt x="76200" y="2037821"/>
                </a:moveTo>
                <a:lnTo>
                  <a:pt x="76200" y="203782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4558" stAng="0" swAng="-5400000"/>
                <a:lnTo>
                  <a:pt x="76200" y="11642"/>
                </a:lnTo>
                <a:arcTo wR="64558" hR="64558" stAng="16200000" swAng="-5400000"/>
                <a:lnTo>
                  <a:pt x="11642" y="1961621"/>
                </a:lnTo>
                <a:arcTo wR="64558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07660586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938742" y="1954742"/>
          <a:ext cx="10320338" cy="179175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51254"/>
                <a:gridCol w="2683288"/>
                <a:gridCol w="2683288"/>
                <a:gridCol w="3302508"/>
              </a:tblGrid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Parte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Tentado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Adotado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Por quê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Fila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BullMQ, depois AWS SQS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D4FA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PostgreSQL LISTEN/NOTIFY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Polling ocioso e custo operacional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Backend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API NestJS separada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D4FA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Next.js Server Actions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Tipos e autenticação duplicados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Banco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Supabase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D4FA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PostgreSQL + Drizzle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Restritivo para lógica no servidor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Sandbox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Container Docker por submissão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D4FA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isolate (usado na IOI)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Exigia Docker privilegiado no host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04385787" name="Text 5"/>
          <p:cNvSpPr/>
          <p:nvPr/>
        </p:nvSpPr>
        <p:spPr bwMode="auto">
          <a:xfrm>
            <a:off x="812800" y="4146020"/>
            <a:ext cx="5601441" cy="383539"/>
          </a:xfrm>
          <a:prstGeom prst="roundRect">
            <a:avLst>
              <a:gd name="adj" fmla="val 50000"/>
            </a:avLst>
          </a:prstGeom>
          <a:solidFill>
            <a:srgbClr val="EAE7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Levantamento: literatura + conversas com alunos + experiência própria</a:t>
            </a:r>
            <a:endParaRPr lang="en-US" sz="1300"/>
          </a:p>
        </p:txBody>
      </p:sp>
      <p:sp>
        <p:nvSpPr>
          <p:cNvPr id="586453587" name="Text 6"/>
          <p:cNvSpPr/>
          <p:nvPr/>
        </p:nvSpPr>
        <p:spPr bwMode="auto">
          <a:xfrm>
            <a:off x="6566641" y="4146020"/>
            <a:ext cx="3250142" cy="383539"/>
          </a:xfrm>
          <a:prstGeom prst="roundRect">
            <a:avLst>
              <a:gd name="adj" fmla="val 50000"/>
            </a:avLst>
          </a:prstGeom>
          <a:solidFill>
            <a:srgbClr val="EAE7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MVP testado informalmente no Discord</a:t>
            </a:r>
            <a:endParaRPr lang="en-US" sz="1300"/>
          </a:p>
        </p:txBody>
      </p:sp>
      <p:sp>
        <p:nvSpPr>
          <p:cNvPr id="1058337023" name="Text 7"/>
          <p:cNvSpPr/>
          <p:nvPr/>
        </p:nvSpPr>
        <p:spPr bwMode="auto"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328559833" name="Text 8"/>
          <p:cNvSpPr/>
          <p:nvPr/>
        </p:nvSpPr>
        <p:spPr bwMode="auto"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5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504075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05 · Metodologia · tecnologias</a:t>
            </a:r>
            <a:endParaRPr lang="en-US" sz="1200"/>
          </a:p>
        </p:txBody>
      </p:sp>
      <p:sp>
        <p:nvSpPr>
          <p:cNvPr id="464359103" name="Text 1"/>
          <p:cNvSpPr/>
          <p:nvPr>
            <p:ph type="title"/>
          </p:nvPr>
        </p:nvSpPr>
        <p:spPr bwMode="auto"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Dois serviços que conversam só pelo banco</a:t>
            </a:r>
            <a:endParaRPr lang="en-US" sz="3200"/>
          </a:p>
        </p:txBody>
      </p:sp>
      <p:sp>
        <p:nvSpPr>
          <p:cNvPr id="2094161358" name="Shape 2"/>
          <p:cNvSpPr/>
          <p:nvPr/>
        </p:nvSpPr>
        <p:spPr bwMode="auto">
          <a:xfrm>
            <a:off x="815975" y="1913995"/>
            <a:ext cx="1698202" cy="1016212"/>
          </a:xfrm>
          <a:prstGeom prst="roundRect">
            <a:avLst>
              <a:gd name="adj" fmla="val 8436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984244713" name="Text 3"/>
          <p:cNvSpPr/>
          <p:nvPr/>
        </p:nvSpPr>
        <p:spPr bwMode="auto">
          <a:xfrm>
            <a:off x="971021" y="2069043"/>
            <a:ext cx="14389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5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Navegador</a:t>
            </a:r>
            <a:endParaRPr lang="en-US" sz="1500"/>
          </a:p>
        </p:txBody>
      </p:sp>
      <p:sp>
        <p:nvSpPr>
          <p:cNvPr id="1342791200" name="Text 4"/>
          <p:cNvSpPr/>
          <p:nvPr/>
        </p:nvSpPr>
        <p:spPr bwMode="auto">
          <a:xfrm>
            <a:off x="971021" y="2348442"/>
            <a:ext cx="14389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React · TanStack Query</a:t>
            </a:r>
            <a:endParaRPr lang="en-US" sz="1200"/>
          </a:p>
        </p:txBody>
      </p:sp>
      <p:pic>
        <p:nvPicPr>
          <p:cNvPr id="2107154675" name="Image 0" descr="arrow-right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2618952" y="2333200"/>
            <a:ext cx="304800" cy="177800"/>
          </a:xfrm>
          <a:prstGeom prst="rect">
            <a:avLst/>
          </a:prstGeom>
        </p:spPr>
      </p:pic>
      <p:sp>
        <p:nvSpPr>
          <p:cNvPr id="865919240" name="Shape 5"/>
          <p:cNvSpPr/>
          <p:nvPr/>
        </p:nvSpPr>
        <p:spPr bwMode="auto">
          <a:xfrm>
            <a:off x="3031702" y="1911350"/>
            <a:ext cx="1703492" cy="1021503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894851611" name="Text 6"/>
          <p:cNvSpPr/>
          <p:nvPr/>
        </p:nvSpPr>
        <p:spPr bwMode="auto">
          <a:xfrm>
            <a:off x="3189393" y="2069043"/>
            <a:ext cx="14389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5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Next.js</a:t>
            </a:r>
            <a:endParaRPr lang="en-US" sz="1500"/>
          </a:p>
        </p:txBody>
      </p:sp>
      <p:sp>
        <p:nvSpPr>
          <p:cNvPr id="1757971994" name="Text 7"/>
          <p:cNvSpPr/>
          <p:nvPr/>
        </p:nvSpPr>
        <p:spPr bwMode="auto">
          <a:xfrm>
            <a:off x="3189393" y="2348442"/>
            <a:ext cx="14389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Server Actions · better-auth · Zod</a:t>
            </a:r>
            <a:endParaRPr lang="en-US" sz="1200"/>
          </a:p>
        </p:txBody>
      </p:sp>
      <p:pic>
        <p:nvPicPr>
          <p:cNvPr id="220992049" name="Image 1" descr="arrow-right"/>
          <p:cNvPicPr>
            <a:picLocks noChangeAspect="1"/>
          </p:cNvPicPr>
          <p:nvPr/>
        </p:nvPicPr>
        <p:blipFill rotWithShape="1">
          <a:blip r:embed="rId4"/>
          <a:srcRect l="0" t="0" r="0" b="0"/>
          <a:stretch/>
        </p:blipFill>
        <p:spPr bwMode="auto">
          <a:xfrm>
            <a:off x="4843145" y="2333200"/>
            <a:ext cx="304800" cy="177800"/>
          </a:xfrm>
          <a:prstGeom prst="rect">
            <a:avLst/>
          </a:prstGeom>
        </p:spPr>
      </p:pic>
      <p:sp>
        <p:nvSpPr>
          <p:cNvPr id="123269142" name="Shape 8"/>
          <p:cNvSpPr/>
          <p:nvPr/>
        </p:nvSpPr>
        <p:spPr bwMode="auto">
          <a:xfrm>
            <a:off x="5252720" y="1913995"/>
            <a:ext cx="1698202" cy="1016212"/>
          </a:xfrm>
          <a:prstGeom prst="roundRect">
            <a:avLst>
              <a:gd name="adj" fmla="val 8436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638951592" name="Text 9"/>
          <p:cNvSpPr/>
          <p:nvPr/>
        </p:nvSpPr>
        <p:spPr bwMode="auto">
          <a:xfrm>
            <a:off x="5407766" y="2069043"/>
            <a:ext cx="14389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5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PostgreSQL</a:t>
            </a:r>
            <a:endParaRPr lang="en-US" sz="1500"/>
          </a:p>
        </p:txBody>
      </p:sp>
      <p:sp>
        <p:nvSpPr>
          <p:cNvPr id="2069266185" name="Text 10"/>
          <p:cNvSpPr/>
          <p:nvPr/>
        </p:nvSpPr>
        <p:spPr bwMode="auto">
          <a:xfrm>
            <a:off x="5407766" y="2348442"/>
            <a:ext cx="14389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Drizzle · LISTEN/ NOTIFY</a:t>
            </a:r>
            <a:endParaRPr lang="en-US" sz="1200"/>
          </a:p>
        </p:txBody>
      </p:sp>
      <p:pic>
        <p:nvPicPr>
          <p:cNvPr id="1276392439" name="Image 2" descr="arrow-right"/>
          <p:cNvPicPr>
            <a:picLocks noChangeAspect="1"/>
          </p:cNvPicPr>
          <p:nvPr/>
        </p:nvPicPr>
        <p:blipFill rotWithShape="1">
          <a:blip r:embed="rId5"/>
          <a:srcRect l="0" t="0" r="0" b="0"/>
          <a:stretch/>
        </p:blipFill>
        <p:spPr bwMode="auto">
          <a:xfrm>
            <a:off x="7055696" y="2333200"/>
            <a:ext cx="304800" cy="177800"/>
          </a:xfrm>
          <a:prstGeom prst="rect">
            <a:avLst/>
          </a:prstGeom>
        </p:spPr>
      </p:pic>
      <p:sp>
        <p:nvSpPr>
          <p:cNvPr id="1490071859" name="Shape 11"/>
          <p:cNvSpPr/>
          <p:nvPr/>
        </p:nvSpPr>
        <p:spPr bwMode="auto">
          <a:xfrm>
            <a:off x="7468446" y="2018029"/>
            <a:ext cx="1703492" cy="808143"/>
          </a:xfrm>
          <a:prstGeom prst="roundRect">
            <a:avLst>
              <a:gd name="adj" fmla="val 10215"/>
            </a:avLst>
          </a:prstGeom>
          <a:solidFill>
            <a:srgbClr val="FFFFFF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1408945212" name="Text 12"/>
          <p:cNvSpPr/>
          <p:nvPr/>
        </p:nvSpPr>
        <p:spPr bwMode="auto">
          <a:xfrm>
            <a:off x="7626138" y="2175721"/>
            <a:ext cx="14389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5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Judge</a:t>
            </a:r>
            <a:endParaRPr lang="en-US" sz="1500"/>
          </a:p>
        </p:txBody>
      </p:sp>
      <p:sp>
        <p:nvSpPr>
          <p:cNvPr id="716068023" name="Text 13"/>
          <p:cNvSpPr/>
          <p:nvPr/>
        </p:nvSpPr>
        <p:spPr bwMode="auto">
          <a:xfrm>
            <a:off x="7626138" y="2455121"/>
            <a:ext cx="14389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Rust · tokio · sqlx</a:t>
            </a:r>
            <a:endParaRPr lang="en-US" sz="1200"/>
          </a:p>
        </p:txBody>
      </p:sp>
      <p:pic>
        <p:nvPicPr>
          <p:cNvPr id="915198657" name="Image 3" descr="arrow-right"/>
          <p:cNvPicPr>
            <a:picLocks noChangeAspect="1"/>
          </p:cNvPicPr>
          <p:nvPr/>
        </p:nvPicPr>
        <p:blipFill rotWithShape="1">
          <a:blip r:embed="rId6"/>
          <a:srcRect l="0" t="0" r="0" b="0"/>
          <a:stretch/>
        </p:blipFill>
        <p:spPr bwMode="auto">
          <a:xfrm>
            <a:off x="9279890" y="2333200"/>
            <a:ext cx="304800" cy="177800"/>
          </a:xfrm>
          <a:prstGeom prst="rect">
            <a:avLst/>
          </a:prstGeom>
        </p:spPr>
      </p:pic>
      <p:sp>
        <p:nvSpPr>
          <p:cNvPr id="194098352" name="Shape 14"/>
          <p:cNvSpPr/>
          <p:nvPr/>
        </p:nvSpPr>
        <p:spPr bwMode="auto">
          <a:xfrm>
            <a:off x="9686290" y="1916643"/>
            <a:ext cx="1692910" cy="1010920"/>
          </a:xfrm>
          <a:prstGeom prst="roundRect">
            <a:avLst>
              <a:gd name="adj" fmla="val 8794"/>
            </a:avLst>
          </a:prstGeom>
          <a:solidFill>
            <a:srgbClr val="161A22"/>
          </a:solidFill>
          <a:ln/>
        </p:spPr>
      </p:sp>
      <p:sp>
        <p:nvSpPr>
          <p:cNvPr id="1428790484" name="Text 15"/>
          <p:cNvSpPr/>
          <p:nvPr/>
        </p:nvSpPr>
        <p:spPr bwMode="auto">
          <a:xfrm>
            <a:off x="9838690" y="2069043"/>
            <a:ext cx="14389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500" b="1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isolate</a:t>
            </a:r>
            <a:endParaRPr lang="en-US" sz="1500"/>
          </a:p>
        </p:txBody>
      </p:sp>
      <p:sp>
        <p:nvSpPr>
          <p:cNvPr id="1104490225" name="Text 16"/>
          <p:cNvSpPr/>
          <p:nvPr/>
        </p:nvSpPr>
        <p:spPr bwMode="auto">
          <a:xfrm>
            <a:off x="9838690" y="2348442"/>
            <a:ext cx="14389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A9B3C2"/>
                </a:solidFill>
                <a:latin typeface="IBM Plex Sans"/>
                <a:ea typeface="IBM Plex Sans"/>
                <a:cs typeface="IBM Plex Sans"/>
              </a:rPr>
              <a:t>namespaces · cgroups</a:t>
            </a:r>
            <a:endParaRPr lang="en-US" sz="1200"/>
          </a:p>
        </p:txBody>
      </p:sp>
      <p:sp>
        <p:nvSpPr>
          <p:cNvPr id="383134277" name="Shape 17"/>
          <p:cNvSpPr/>
          <p:nvPr/>
        </p:nvSpPr>
        <p:spPr bwMode="auto">
          <a:xfrm>
            <a:off x="812800" y="3294804"/>
            <a:ext cx="10566400" cy="853440"/>
          </a:xfrm>
          <a:prstGeom prst="roundRect">
            <a:avLst>
              <a:gd name="adj" fmla="val 10417"/>
            </a:avLst>
          </a:prstGeom>
          <a:solidFill>
            <a:srgbClr val="E6EEFB"/>
          </a:solidFill>
          <a:ln/>
        </p:spPr>
      </p:sp>
      <p:pic>
        <p:nvPicPr>
          <p:cNvPr id="1905578581" name="Image 4" descr="Lightbulb"/>
          <p:cNvPicPr>
            <a:picLocks noChangeAspect="1"/>
          </p:cNvPicPr>
          <p:nvPr/>
        </p:nvPicPr>
        <p:blipFill rotWithShape="1">
          <a:blip r:embed="rId7"/>
          <a:srcRect l="0" t="-171" r="0" b="-171"/>
          <a:stretch/>
        </p:blipFill>
        <p:spPr bwMode="auto">
          <a:xfrm>
            <a:off x="1016000" y="3569125"/>
            <a:ext cx="278448" cy="304800"/>
          </a:xfrm>
          <a:prstGeom prst="rect">
            <a:avLst/>
          </a:prstGeom>
        </p:spPr>
      </p:pic>
      <p:sp>
        <p:nvSpPr>
          <p:cNvPr id="894616037" name="Text 18"/>
          <p:cNvSpPr/>
          <p:nvPr/>
        </p:nvSpPr>
        <p:spPr bwMode="auto">
          <a:xfrm>
            <a:off x="1446848" y="3472604"/>
            <a:ext cx="1002102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Gemini 2.5 Flash</a:t>
            </a:r>
            <a:r>
              <a:rPr lang="en-US" sz="14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, chamado pelo Next.js: dica ao aluno, solução de referência, revisão de enunciado e checagem de algoritmo exigido.</a:t>
            </a:r>
            <a:endParaRPr lang="en-US" sz="1400"/>
          </a:p>
        </p:txBody>
      </p:sp>
      <p:sp>
        <p:nvSpPr>
          <p:cNvPr id="873045186" name="Text 19"/>
          <p:cNvSpPr/>
          <p:nvPr/>
        </p:nvSpPr>
        <p:spPr bwMode="auto"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2055271485" name="Text 20"/>
          <p:cNvSpPr/>
          <p:nvPr/>
        </p:nvSpPr>
        <p:spPr bwMode="auto"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6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902019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06 · Metodologia · avaliação</a:t>
            </a:r>
            <a:endParaRPr lang="en-US" sz="1200"/>
          </a:p>
        </p:txBody>
      </p:sp>
      <p:sp>
        <p:nvSpPr>
          <p:cNvPr id="669767958" name="Text 1"/>
          <p:cNvSpPr/>
          <p:nvPr>
            <p:ph type="title"/>
          </p:nvPr>
        </p:nvSpPr>
        <p:spPr bwMode="auto"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Como o trabalho será validado</a:t>
            </a:r>
            <a:endParaRPr lang="en-US" sz="3200"/>
          </a:p>
        </p:txBody>
      </p:sp>
      <p:sp>
        <p:nvSpPr>
          <p:cNvPr id="2082174881" name="Shape 2"/>
          <p:cNvSpPr/>
          <p:nvPr/>
        </p:nvSpPr>
        <p:spPr bwMode="auto">
          <a:xfrm>
            <a:off x="815975" y="1857375"/>
            <a:ext cx="3376401" cy="1919393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2099761759" name="Text 3"/>
          <p:cNvSpPr/>
          <p:nvPr/>
        </p:nvSpPr>
        <p:spPr bwMode="auto">
          <a:xfrm>
            <a:off x="1047221" y="2088620"/>
            <a:ext cx="2913909" cy="289560"/>
          </a:xfrm>
          <a:custGeom>
            <a:avLst/>
            <a:gdLst/>
            <a:ahLst/>
            <a:cxnLst/>
            <a:rect l="l" t="t" r="r" b="b"/>
            <a:pathLst>
              <a:path w="2913909" h="289560" fill="norm" stroke="1" extrusionOk="0">
                <a:moveTo>
                  <a:pt x="144780" y="0"/>
                </a:moveTo>
                <a:lnTo>
                  <a:pt x="2769129" y="0"/>
                </a:lnTo>
                <a:arcTo wR="144780" hR="144780" stAng="16200000" swAng="5400000"/>
                <a:lnTo>
                  <a:pt x="2913909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E6EEFB"/>
          </a:solidFill>
          <a:ln/>
        </p:spPr>
        <p:txBody>
          <a:bodyPr wrap="square" lIns="114300" tIns="38100" rIns="33741" bIns="1270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D4FA8"/>
                </a:solidFill>
                <a:latin typeface="IBM Plex Sans"/>
                <a:ea typeface="IBM Plex Sans"/>
                <a:cs typeface="IBM Plex Sans"/>
              </a:rPr>
              <a:t>Feito</a:t>
            </a:r>
            <a:endParaRPr lang="en-US" sz="1200"/>
          </a:p>
        </p:txBody>
      </p:sp>
      <p:sp>
        <p:nvSpPr>
          <p:cNvPr id="1568303919" name="Text 4"/>
          <p:cNvSpPr/>
          <p:nvPr/>
        </p:nvSpPr>
        <p:spPr bwMode="auto">
          <a:xfrm>
            <a:off x="1047221" y="2479780"/>
            <a:ext cx="300132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  <a:defRPr/>
            </a:pPr>
            <a:r>
              <a:rPr lang="en-US" sz="17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Validação técnica</a:t>
            </a:r>
            <a:endParaRPr lang="en-US" sz="1700"/>
          </a:p>
        </p:txBody>
      </p:sp>
      <p:sp>
        <p:nvSpPr>
          <p:cNvPr id="634336153" name="Text 5"/>
          <p:cNvSpPr/>
          <p:nvPr/>
        </p:nvSpPr>
        <p:spPr bwMode="auto">
          <a:xfrm>
            <a:off x="1047221" y="2840462"/>
            <a:ext cx="300132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Testes automatizados do judge: veredictos, tempo limite, memória, fork bomb e cada linguagem.</a:t>
            </a:r>
            <a:endParaRPr lang="en-US" sz="1300"/>
          </a:p>
        </p:txBody>
      </p:sp>
      <p:sp>
        <p:nvSpPr>
          <p:cNvPr id="196660447" name="Shape 6"/>
          <p:cNvSpPr/>
          <p:nvPr/>
        </p:nvSpPr>
        <p:spPr bwMode="auto">
          <a:xfrm>
            <a:off x="4401926" y="1857375"/>
            <a:ext cx="3376507" cy="1919393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1092100516" name="Text 7"/>
          <p:cNvSpPr/>
          <p:nvPr/>
        </p:nvSpPr>
        <p:spPr bwMode="auto">
          <a:xfrm>
            <a:off x="4633171" y="2088620"/>
            <a:ext cx="2914015" cy="289560"/>
          </a:xfrm>
          <a:custGeom>
            <a:avLst/>
            <a:gdLst/>
            <a:ahLst/>
            <a:cxnLst/>
            <a:rect l="l" t="t" r="r" b="b"/>
            <a:pathLst>
              <a:path w="2914015" h="289560" fill="norm" stroke="1" extrusionOk="0">
                <a:moveTo>
                  <a:pt x="144780" y="0"/>
                </a:moveTo>
                <a:lnTo>
                  <a:pt x="2769235" y="0"/>
                </a:lnTo>
                <a:arcTo wR="144780" hR="144780" stAng="16200000" swAng="5400000"/>
                <a:lnTo>
                  <a:pt x="2914015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E6EEFB"/>
          </a:solidFill>
          <a:ln/>
        </p:spPr>
        <p:txBody>
          <a:bodyPr wrap="square" lIns="114300" tIns="38100" rIns="33738" bIns="1270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D4FA8"/>
                </a:solidFill>
                <a:latin typeface="IBM Plex Sans"/>
                <a:ea typeface="IBM Plex Sans"/>
                <a:cs typeface="IBM Plex Sans"/>
              </a:rPr>
              <a:t>Feito</a:t>
            </a:r>
            <a:endParaRPr lang="en-US" sz="1200"/>
          </a:p>
        </p:txBody>
      </p:sp>
      <p:sp>
        <p:nvSpPr>
          <p:cNvPr id="2098111853" name="Text 8"/>
          <p:cNvSpPr/>
          <p:nvPr/>
        </p:nvSpPr>
        <p:spPr bwMode="auto">
          <a:xfrm>
            <a:off x="4633171" y="2479780"/>
            <a:ext cx="300143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  <a:defRPr/>
            </a:pPr>
            <a:r>
              <a:rPr lang="en-US" sz="17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Validação do problema</a:t>
            </a:r>
            <a:endParaRPr lang="en-US" sz="1700"/>
          </a:p>
        </p:txBody>
      </p:sp>
      <p:sp>
        <p:nvSpPr>
          <p:cNvPr id="167720180" name="Text 9"/>
          <p:cNvSpPr/>
          <p:nvPr/>
        </p:nvSpPr>
        <p:spPr bwMode="auto">
          <a:xfrm>
            <a:off x="4633171" y="2840462"/>
            <a:ext cx="300143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A solução de referência do professor roda no judge antes de publicar; mudar um teste exige rodar de novo.</a:t>
            </a:r>
            <a:endParaRPr lang="en-US" sz="1300"/>
          </a:p>
        </p:txBody>
      </p:sp>
      <p:sp>
        <p:nvSpPr>
          <p:cNvPr id="588096690" name="Shape 10"/>
          <p:cNvSpPr/>
          <p:nvPr/>
        </p:nvSpPr>
        <p:spPr bwMode="auto">
          <a:xfrm>
            <a:off x="7991157" y="1860550"/>
            <a:ext cx="3381692" cy="1913043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2700">
            <a:solidFill>
              <a:srgbClr val="A9521A"/>
            </a:solidFill>
            <a:prstDash val="solid"/>
          </a:ln>
        </p:spPr>
      </p:sp>
      <p:sp>
        <p:nvSpPr>
          <p:cNvPr id="536123189" name="Text 11"/>
          <p:cNvSpPr/>
          <p:nvPr/>
        </p:nvSpPr>
        <p:spPr bwMode="auto">
          <a:xfrm>
            <a:off x="8225049" y="2094443"/>
            <a:ext cx="2913909" cy="289560"/>
          </a:xfrm>
          <a:custGeom>
            <a:avLst/>
            <a:gdLst/>
            <a:ahLst/>
            <a:cxnLst/>
            <a:rect l="l" t="t" r="r" b="b"/>
            <a:pathLst>
              <a:path w="2913909" h="289560" fill="norm" stroke="1" extrusionOk="0">
                <a:moveTo>
                  <a:pt x="144780" y="0"/>
                </a:moveTo>
                <a:lnTo>
                  <a:pt x="2769129" y="0"/>
                </a:lnTo>
                <a:arcTo wR="144780" hR="144780" stAng="16200000" swAng="5400000"/>
                <a:lnTo>
                  <a:pt x="2913909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F7E6D8"/>
          </a:solidFill>
          <a:ln/>
        </p:spPr>
        <p:txBody>
          <a:bodyPr wrap="square" lIns="114300" tIns="38100" rIns="33741" bIns="1270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8A4214"/>
                </a:solidFill>
                <a:latin typeface="IBM Plex Sans"/>
                <a:ea typeface="IBM Plex Sans"/>
                <a:cs typeface="IBM Plex Sans"/>
              </a:rPr>
              <a:t>Planejado</a:t>
            </a:r>
            <a:endParaRPr lang="en-US" sz="1200"/>
          </a:p>
        </p:txBody>
      </p:sp>
      <p:sp>
        <p:nvSpPr>
          <p:cNvPr id="1617583936" name="Text 12"/>
          <p:cNvSpPr/>
          <p:nvPr/>
        </p:nvSpPr>
        <p:spPr bwMode="auto">
          <a:xfrm>
            <a:off x="8225049" y="2485600"/>
            <a:ext cx="300132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  <a:defRPr/>
            </a:pPr>
            <a:r>
              <a:rPr lang="en-US" sz="17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Avaliação com usuários</a:t>
            </a:r>
            <a:endParaRPr lang="en-US" sz="1700"/>
          </a:p>
        </p:txBody>
      </p:sp>
      <p:sp>
        <p:nvSpPr>
          <p:cNvPr id="1533382070" name="Text 13"/>
          <p:cNvSpPr/>
          <p:nvPr/>
        </p:nvSpPr>
        <p:spPr bwMode="auto">
          <a:xfrm>
            <a:off x="8225049" y="2846282"/>
            <a:ext cx="3001326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Torneio e aula com uma turma real; questionário SUS (nota 0–100); análise descritiva de veredictos, tempo de correção e uso das dicas.</a:t>
            </a:r>
            <a:endParaRPr lang="en-US" sz="1300"/>
          </a:p>
        </p:txBody>
      </p:sp>
      <p:sp>
        <p:nvSpPr>
          <p:cNvPr id="15956836" name="Text 14"/>
          <p:cNvSpPr/>
          <p:nvPr/>
        </p:nvSpPr>
        <p:spPr bwMode="auto"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2094009089" name="Text 15"/>
          <p:cNvSpPr/>
          <p:nvPr/>
        </p:nvSpPr>
        <p:spPr bwMode="auto"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7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61A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513546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7FA8F0"/>
                </a:solidFill>
                <a:latin typeface="JetBrains Mono"/>
                <a:ea typeface="JetBrains Mono"/>
                <a:cs typeface="JetBrains Mono"/>
              </a:rPr>
              <a:t>07 · Resultados preliminares</a:t>
            </a:r>
            <a:endParaRPr lang="en-US" sz="1200"/>
          </a:p>
        </p:txBody>
      </p:sp>
      <p:sp>
        <p:nvSpPr>
          <p:cNvPr id="362839836" name="Text 1"/>
          <p:cNvSpPr/>
          <p:nvPr>
            <p:ph type="title"/>
          </p:nvPr>
        </p:nvSpPr>
        <p:spPr bwMode="auto"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O pipeline de correção está completo</a:t>
            </a:r>
            <a:endParaRPr lang="en-US" sz="3200"/>
          </a:p>
        </p:txBody>
      </p:sp>
      <p:sp>
        <p:nvSpPr>
          <p:cNvPr id="1793802936" name="Shape 2"/>
          <p:cNvSpPr/>
          <p:nvPr/>
        </p:nvSpPr>
        <p:spPr bwMode="auto">
          <a:xfrm>
            <a:off x="812800" y="1828800"/>
            <a:ext cx="3437467" cy="1036320"/>
          </a:xfrm>
          <a:prstGeom prst="roundRect">
            <a:avLst>
              <a:gd name="adj" fmla="val 8578"/>
            </a:avLst>
          </a:prstGeom>
          <a:solidFill>
            <a:srgbClr val="222833"/>
          </a:solidFill>
          <a:ln/>
        </p:spPr>
      </p:sp>
      <p:sp>
        <p:nvSpPr>
          <p:cNvPr id="815810092" name="Text 3"/>
          <p:cNvSpPr/>
          <p:nvPr/>
        </p:nvSpPr>
        <p:spPr bwMode="auto">
          <a:xfrm>
            <a:off x="990600" y="1981200"/>
            <a:ext cx="31743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7FA8F0"/>
                </a:solidFill>
                <a:latin typeface="JetBrains Mono"/>
                <a:ea typeface="JetBrains Mono"/>
                <a:cs typeface="JetBrains Mono"/>
              </a:rPr>
              <a:t>1</a:t>
            </a:r>
            <a:endParaRPr lang="en-US" sz="1200"/>
          </a:p>
        </p:txBody>
      </p:sp>
      <p:sp>
        <p:nvSpPr>
          <p:cNvPr id="1365202437" name="Text 4"/>
          <p:cNvSpPr/>
          <p:nvPr/>
        </p:nvSpPr>
        <p:spPr bwMode="auto">
          <a:xfrm>
            <a:off x="990600" y="2232661"/>
            <a:ext cx="317432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Aluno submete em torneio, problema ou aula</a:t>
            </a:r>
            <a:endParaRPr lang="en-US" sz="1400"/>
          </a:p>
        </p:txBody>
      </p:sp>
      <p:sp>
        <p:nvSpPr>
          <p:cNvPr id="25591205" name="Shape 5"/>
          <p:cNvSpPr/>
          <p:nvPr/>
        </p:nvSpPr>
        <p:spPr bwMode="auto">
          <a:xfrm>
            <a:off x="4377267" y="1828800"/>
            <a:ext cx="3437467" cy="1036320"/>
          </a:xfrm>
          <a:prstGeom prst="roundRect">
            <a:avLst>
              <a:gd name="adj" fmla="val 8578"/>
            </a:avLst>
          </a:prstGeom>
          <a:solidFill>
            <a:srgbClr val="222833"/>
          </a:solidFill>
          <a:ln/>
        </p:spPr>
      </p:sp>
      <p:sp>
        <p:nvSpPr>
          <p:cNvPr id="1287250133" name="Text 6"/>
          <p:cNvSpPr/>
          <p:nvPr/>
        </p:nvSpPr>
        <p:spPr bwMode="auto">
          <a:xfrm>
            <a:off x="4555067" y="1981200"/>
            <a:ext cx="31743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7FA8F0"/>
                </a:solidFill>
                <a:latin typeface="JetBrains Mono"/>
                <a:ea typeface="JetBrains Mono"/>
                <a:cs typeface="JetBrains Mono"/>
              </a:rPr>
              <a:t>2</a:t>
            </a:r>
            <a:endParaRPr lang="en-US" sz="1200"/>
          </a:p>
        </p:txBody>
      </p:sp>
      <p:sp>
        <p:nvSpPr>
          <p:cNvPr id="409677729" name="Text 7"/>
          <p:cNvSpPr/>
          <p:nvPr/>
        </p:nvSpPr>
        <p:spPr bwMode="auto">
          <a:xfrm>
            <a:off x="4555067" y="2232661"/>
            <a:ext cx="317432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Server Action salva como PENDING e dispara NOTIFY</a:t>
            </a:r>
            <a:endParaRPr lang="en-US" sz="1400"/>
          </a:p>
        </p:txBody>
      </p:sp>
      <p:sp>
        <p:nvSpPr>
          <p:cNvPr id="1241907781" name="Shape 8"/>
          <p:cNvSpPr/>
          <p:nvPr/>
        </p:nvSpPr>
        <p:spPr bwMode="auto">
          <a:xfrm>
            <a:off x="7941733" y="1828800"/>
            <a:ext cx="3437467" cy="1036320"/>
          </a:xfrm>
          <a:prstGeom prst="roundRect">
            <a:avLst>
              <a:gd name="adj" fmla="val 8578"/>
            </a:avLst>
          </a:prstGeom>
          <a:solidFill>
            <a:srgbClr val="222833"/>
          </a:solidFill>
          <a:ln/>
        </p:spPr>
      </p:sp>
      <p:sp>
        <p:nvSpPr>
          <p:cNvPr id="306246335" name="Text 9"/>
          <p:cNvSpPr/>
          <p:nvPr/>
        </p:nvSpPr>
        <p:spPr bwMode="auto">
          <a:xfrm>
            <a:off x="8119533" y="1981200"/>
            <a:ext cx="31743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7FA8F0"/>
                </a:solidFill>
                <a:latin typeface="JetBrains Mono"/>
                <a:ea typeface="JetBrains Mono"/>
                <a:cs typeface="JetBrains Mono"/>
              </a:rPr>
              <a:t>3</a:t>
            </a:r>
            <a:endParaRPr lang="en-US" sz="1200"/>
          </a:p>
        </p:txBody>
      </p:sp>
      <p:sp>
        <p:nvSpPr>
          <p:cNvPr id="60885880" name="Text 10"/>
          <p:cNvSpPr/>
          <p:nvPr/>
        </p:nvSpPr>
        <p:spPr bwMode="auto">
          <a:xfrm>
            <a:off x="8119533" y="2232661"/>
            <a:ext cx="317432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Judge recebe e busca os casos de teste</a:t>
            </a:r>
            <a:endParaRPr lang="en-US" sz="1400"/>
          </a:p>
        </p:txBody>
      </p:sp>
      <p:sp>
        <p:nvSpPr>
          <p:cNvPr id="1067737725" name="Shape 11"/>
          <p:cNvSpPr/>
          <p:nvPr/>
        </p:nvSpPr>
        <p:spPr bwMode="auto">
          <a:xfrm>
            <a:off x="812800" y="2992121"/>
            <a:ext cx="3437467" cy="1036320"/>
          </a:xfrm>
          <a:prstGeom prst="roundRect">
            <a:avLst>
              <a:gd name="adj" fmla="val 8578"/>
            </a:avLst>
          </a:prstGeom>
          <a:solidFill>
            <a:srgbClr val="222833"/>
          </a:solidFill>
          <a:ln/>
        </p:spPr>
      </p:sp>
      <p:sp>
        <p:nvSpPr>
          <p:cNvPr id="185430384" name="Text 12"/>
          <p:cNvSpPr/>
          <p:nvPr/>
        </p:nvSpPr>
        <p:spPr bwMode="auto">
          <a:xfrm>
            <a:off x="990600" y="3144521"/>
            <a:ext cx="31743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7FA8F0"/>
                </a:solidFill>
                <a:latin typeface="JetBrains Mono"/>
                <a:ea typeface="JetBrains Mono"/>
                <a:cs typeface="JetBrains Mono"/>
              </a:rPr>
              <a:t>4</a:t>
            </a:r>
            <a:endParaRPr lang="en-US" sz="1200"/>
          </a:p>
        </p:txBody>
      </p:sp>
      <p:sp>
        <p:nvSpPr>
          <p:cNvPr id="698984086" name="Text 13"/>
          <p:cNvSpPr/>
          <p:nvPr/>
        </p:nvSpPr>
        <p:spPr bwMode="auto">
          <a:xfrm>
            <a:off x="990600" y="3395979"/>
            <a:ext cx="317432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isolate compila e executa com limites de tempo e memória</a:t>
            </a:r>
            <a:endParaRPr lang="en-US" sz="1400"/>
          </a:p>
        </p:txBody>
      </p:sp>
      <p:sp>
        <p:nvSpPr>
          <p:cNvPr id="1954341890" name="Shape 14"/>
          <p:cNvSpPr/>
          <p:nvPr/>
        </p:nvSpPr>
        <p:spPr bwMode="auto">
          <a:xfrm>
            <a:off x="4377267" y="2992121"/>
            <a:ext cx="3437467" cy="1036320"/>
          </a:xfrm>
          <a:prstGeom prst="roundRect">
            <a:avLst>
              <a:gd name="adj" fmla="val 8578"/>
            </a:avLst>
          </a:prstGeom>
          <a:solidFill>
            <a:srgbClr val="222833"/>
          </a:solidFill>
          <a:ln/>
        </p:spPr>
      </p:sp>
      <p:sp>
        <p:nvSpPr>
          <p:cNvPr id="278047799" name="Text 15"/>
          <p:cNvSpPr/>
          <p:nvPr/>
        </p:nvSpPr>
        <p:spPr bwMode="auto">
          <a:xfrm>
            <a:off x="4555067" y="3144521"/>
            <a:ext cx="31743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7FA8F0"/>
                </a:solidFill>
                <a:latin typeface="JetBrains Mono"/>
                <a:ea typeface="JetBrains Mono"/>
                <a:cs typeface="JetBrains Mono"/>
              </a:rPr>
              <a:t>5</a:t>
            </a:r>
            <a:endParaRPr lang="en-US" sz="1200"/>
          </a:p>
        </p:txBody>
      </p:sp>
      <p:sp>
        <p:nvSpPr>
          <p:cNvPr id="1878833514" name="Text 16"/>
          <p:cNvSpPr/>
          <p:nvPr/>
        </p:nvSpPr>
        <p:spPr bwMode="auto">
          <a:xfrm>
            <a:off x="4555067" y="3395979"/>
            <a:ext cx="317432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Checa restrições: análise estática, depois IA</a:t>
            </a:r>
            <a:endParaRPr lang="en-US" sz="1400"/>
          </a:p>
        </p:txBody>
      </p:sp>
      <p:sp>
        <p:nvSpPr>
          <p:cNvPr id="602352381" name="Shape 17"/>
          <p:cNvSpPr/>
          <p:nvPr/>
        </p:nvSpPr>
        <p:spPr bwMode="auto">
          <a:xfrm>
            <a:off x="7941733" y="2992121"/>
            <a:ext cx="3437467" cy="1036320"/>
          </a:xfrm>
          <a:prstGeom prst="roundRect">
            <a:avLst>
              <a:gd name="adj" fmla="val 8578"/>
            </a:avLst>
          </a:prstGeom>
          <a:solidFill>
            <a:srgbClr val="222833"/>
          </a:solidFill>
          <a:ln/>
        </p:spPr>
      </p:sp>
      <p:sp>
        <p:nvSpPr>
          <p:cNvPr id="780159517" name="Text 18"/>
          <p:cNvSpPr/>
          <p:nvPr/>
        </p:nvSpPr>
        <p:spPr bwMode="auto">
          <a:xfrm>
            <a:off x="8119533" y="3144521"/>
            <a:ext cx="31743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7FA8F0"/>
                </a:solidFill>
                <a:latin typeface="JetBrains Mono"/>
                <a:ea typeface="JetBrains Mono"/>
                <a:cs typeface="JetBrains Mono"/>
              </a:rPr>
              <a:t>6</a:t>
            </a:r>
            <a:endParaRPr lang="en-US" sz="1200"/>
          </a:p>
        </p:txBody>
      </p:sp>
      <p:sp>
        <p:nvSpPr>
          <p:cNvPr id="305922641" name="Text 19"/>
          <p:cNvSpPr/>
          <p:nvPr/>
        </p:nvSpPr>
        <p:spPr bwMode="auto">
          <a:xfrm>
            <a:off x="8119533" y="3395979"/>
            <a:ext cx="317432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F5F3EE"/>
                </a:solidFill>
                <a:latin typeface="IBM Plex Sans"/>
                <a:ea typeface="IBM Plex Sans"/>
                <a:cs typeface="IBM Plex Sans"/>
              </a:rPr>
              <a:t>Veredito salvo e notificação ao aluno</a:t>
            </a:r>
            <a:endParaRPr lang="en-US" sz="1400"/>
          </a:p>
        </p:txBody>
      </p:sp>
      <p:sp>
        <p:nvSpPr>
          <p:cNvPr id="1369124355" name="Text 20"/>
          <p:cNvSpPr/>
          <p:nvPr/>
        </p:nvSpPr>
        <p:spPr bwMode="auto">
          <a:xfrm>
            <a:off x="812800" y="4307842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A9B3C2"/>
                </a:solidFill>
                <a:latin typeface="IBM Plex Sans"/>
                <a:ea typeface="IBM Plex Sans"/>
                <a:cs typeface="IBM Plex Sans"/>
              </a:rPr>
              <a:t>Linguagens</a:t>
            </a:r>
            <a:endParaRPr lang="en-US" sz="1200"/>
          </a:p>
        </p:txBody>
      </p:sp>
      <p:sp>
        <p:nvSpPr>
          <p:cNvPr id="46809961" name="Text 21"/>
          <p:cNvSpPr/>
          <p:nvPr/>
        </p:nvSpPr>
        <p:spPr bwMode="auto">
          <a:xfrm>
            <a:off x="812800" y="4597400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F5F3EE"/>
                </a:solidFill>
                <a:latin typeface="JetBrains Mono"/>
                <a:ea typeface="JetBrains Mono"/>
                <a:cs typeface="JetBrains Mono"/>
              </a:rPr>
              <a:t>C · C++ · Java · Python · Rust · Portugol</a:t>
            </a:r>
            <a:endParaRPr lang="en-US" sz="1400"/>
          </a:p>
        </p:txBody>
      </p:sp>
      <p:sp>
        <p:nvSpPr>
          <p:cNvPr id="1318873016" name="Text 22"/>
          <p:cNvSpPr/>
          <p:nvPr/>
        </p:nvSpPr>
        <p:spPr bwMode="auto">
          <a:xfrm>
            <a:off x="6248400" y="4307842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A9B3C2"/>
                </a:solidFill>
                <a:latin typeface="IBM Plex Sans"/>
                <a:ea typeface="IBM Plex Sans"/>
                <a:cs typeface="IBM Plex Sans"/>
              </a:rPr>
              <a:t>Veredictos</a:t>
            </a:r>
            <a:endParaRPr lang="en-US" sz="1200"/>
          </a:p>
        </p:txBody>
      </p:sp>
      <p:sp>
        <p:nvSpPr>
          <p:cNvPr id="1970975611" name="Text 23"/>
          <p:cNvSpPr/>
          <p:nvPr/>
        </p:nvSpPr>
        <p:spPr bwMode="auto">
          <a:xfrm>
            <a:off x="6248400" y="4597400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F5F3EE"/>
                </a:solidFill>
                <a:latin typeface="JetBrains Mono"/>
                <a:ea typeface="JetBrains Mono"/>
                <a:cs typeface="JetBrains Mono"/>
              </a:rPr>
              <a:t>PASSED · FAILED · ERROR · CONSTRAINT_VIOLATION</a:t>
            </a:r>
            <a:endParaRPr lang="en-US" sz="1400"/>
          </a:p>
        </p:txBody>
      </p:sp>
      <p:sp>
        <p:nvSpPr>
          <p:cNvPr id="894073979" name="Text 24"/>
          <p:cNvSpPr/>
          <p:nvPr/>
        </p:nvSpPr>
        <p:spPr bwMode="auto"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8B95A5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1445244632" name="Text 25"/>
          <p:cNvSpPr/>
          <p:nvPr/>
        </p:nvSpPr>
        <p:spPr bwMode="auto"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8B95A5"/>
                </a:solidFill>
                <a:latin typeface="IBM Plex Sans"/>
                <a:ea typeface="IBM Plex Sans"/>
                <a:cs typeface="IBM Plex Sans"/>
              </a:rPr>
              <a:t>8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693766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08 · Resultados preliminares</a:t>
            </a:r>
            <a:endParaRPr lang="en-US" sz="1200"/>
          </a:p>
        </p:txBody>
      </p:sp>
      <p:sp>
        <p:nvSpPr>
          <p:cNvPr id="1763530109" name="Text 1"/>
          <p:cNvSpPr/>
          <p:nvPr>
            <p:ph type="title"/>
          </p:nvPr>
        </p:nvSpPr>
        <p:spPr bwMode="auto"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Funcionalidades entregues</a:t>
            </a:r>
            <a:endParaRPr lang="en-US" sz="3200"/>
          </a:p>
        </p:txBody>
      </p:sp>
      <p:sp>
        <p:nvSpPr>
          <p:cNvPr id="971528703" name="Shape 2"/>
          <p:cNvSpPr/>
          <p:nvPr/>
        </p:nvSpPr>
        <p:spPr bwMode="auto">
          <a:xfrm>
            <a:off x="815975" y="1831975"/>
            <a:ext cx="5200650" cy="1168612"/>
          </a:xfrm>
          <a:prstGeom prst="roundRect">
            <a:avLst>
              <a:gd name="adj" fmla="val 8422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pic>
        <p:nvPicPr>
          <p:cNvPr id="29741624" name="Image 0" descr="Star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1021821" y="2037823"/>
            <a:ext cx="279400" cy="279400"/>
          </a:xfrm>
          <a:prstGeom prst="rect">
            <a:avLst/>
          </a:prstGeom>
        </p:spPr>
      </p:pic>
      <p:sp>
        <p:nvSpPr>
          <p:cNvPr id="98556562" name="Text 3"/>
          <p:cNvSpPr/>
          <p:nvPr/>
        </p:nvSpPr>
        <p:spPr bwMode="auto">
          <a:xfrm>
            <a:off x="1453621" y="2037823"/>
            <a:ext cx="448787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16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Torneios</a:t>
            </a:r>
            <a:endParaRPr lang="en-US" sz="1600"/>
          </a:p>
        </p:txBody>
      </p:sp>
      <p:sp>
        <p:nvSpPr>
          <p:cNvPr id="1307068556" name="Text 4"/>
          <p:cNvSpPr/>
          <p:nvPr/>
        </p:nvSpPr>
        <p:spPr bwMode="auto">
          <a:xfrm>
            <a:off x="1453621" y="2332459"/>
            <a:ext cx="448787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Placar em tempo real, inscrição com aprovação, rascunho e publicação</a:t>
            </a:r>
            <a:endParaRPr lang="en-US" sz="1300"/>
          </a:p>
        </p:txBody>
      </p:sp>
      <p:sp>
        <p:nvSpPr>
          <p:cNvPr id="175368705" name="Shape 5"/>
          <p:cNvSpPr/>
          <p:nvPr/>
        </p:nvSpPr>
        <p:spPr bwMode="auto">
          <a:xfrm>
            <a:off x="6175375" y="1831975"/>
            <a:ext cx="5200650" cy="1168612"/>
          </a:xfrm>
          <a:prstGeom prst="roundRect">
            <a:avLst>
              <a:gd name="adj" fmla="val 8422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pic>
        <p:nvPicPr>
          <p:cNvPr id="1673907831" name="Image 1" descr="GraduationCap"/>
          <p:cNvPicPr>
            <a:picLocks noChangeAspect="1"/>
          </p:cNvPicPr>
          <p:nvPr/>
        </p:nvPicPr>
        <p:blipFill rotWithShape="1">
          <a:blip r:embed="rId4"/>
          <a:srcRect l="0" t="0" r="0" b="0"/>
          <a:stretch/>
        </p:blipFill>
        <p:spPr bwMode="auto">
          <a:xfrm>
            <a:off x="6381221" y="2037823"/>
            <a:ext cx="279400" cy="279400"/>
          </a:xfrm>
          <a:prstGeom prst="rect">
            <a:avLst/>
          </a:prstGeom>
        </p:spPr>
      </p:pic>
      <p:sp>
        <p:nvSpPr>
          <p:cNvPr id="1664649010" name="Text 6"/>
          <p:cNvSpPr/>
          <p:nvPr/>
        </p:nvSpPr>
        <p:spPr bwMode="auto">
          <a:xfrm>
            <a:off x="6813021" y="2037823"/>
            <a:ext cx="448787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16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Turmas e aulas</a:t>
            </a:r>
            <a:endParaRPr lang="en-US" sz="1600"/>
          </a:p>
        </p:txBody>
      </p:sp>
      <p:sp>
        <p:nvSpPr>
          <p:cNvPr id="1596631202" name="Text 7"/>
          <p:cNvSpPr/>
          <p:nvPr/>
        </p:nvSpPr>
        <p:spPr bwMode="auto">
          <a:xfrm>
            <a:off x="6813021" y="2332459"/>
            <a:ext cx="448787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Entrada por código, prazo, nota por exercício e comentário do professor</a:t>
            </a:r>
            <a:endParaRPr lang="en-US" sz="1300"/>
          </a:p>
        </p:txBody>
      </p:sp>
      <p:sp>
        <p:nvSpPr>
          <p:cNvPr id="951871445" name="Shape 8"/>
          <p:cNvSpPr/>
          <p:nvPr/>
        </p:nvSpPr>
        <p:spPr bwMode="auto">
          <a:xfrm>
            <a:off x="815975" y="3159336"/>
            <a:ext cx="5200650" cy="1168612"/>
          </a:xfrm>
          <a:prstGeom prst="roundRect">
            <a:avLst>
              <a:gd name="adj" fmla="val 8422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pic>
        <p:nvPicPr>
          <p:cNvPr id="567673158" name="Image 2" descr="Lightbulb"/>
          <p:cNvPicPr>
            <a:picLocks noChangeAspect="1"/>
          </p:cNvPicPr>
          <p:nvPr/>
        </p:nvPicPr>
        <p:blipFill rotWithShape="1">
          <a:blip r:embed="rId5"/>
          <a:srcRect l="0" t="0" r="0" b="0"/>
          <a:stretch/>
        </p:blipFill>
        <p:spPr bwMode="auto">
          <a:xfrm>
            <a:off x="1021821" y="3365184"/>
            <a:ext cx="279400" cy="279400"/>
          </a:xfrm>
          <a:prstGeom prst="rect">
            <a:avLst/>
          </a:prstGeom>
        </p:spPr>
      </p:pic>
      <p:sp>
        <p:nvSpPr>
          <p:cNvPr id="1350076273" name="Text 9"/>
          <p:cNvSpPr/>
          <p:nvPr/>
        </p:nvSpPr>
        <p:spPr bwMode="auto">
          <a:xfrm>
            <a:off x="1453621" y="3365184"/>
            <a:ext cx="448787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16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IA em quatro pontos</a:t>
            </a:r>
            <a:endParaRPr lang="en-US" sz="1600"/>
          </a:p>
        </p:txBody>
      </p:sp>
      <p:sp>
        <p:nvSpPr>
          <p:cNvPr id="1390520294" name="Text 10"/>
          <p:cNvSpPr/>
          <p:nvPr/>
        </p:nvSpPr>
        <p:spPr bwMode="auto">
          <a:xfrm>
            <a:off x="1453621" y="3659820"/>
            <a:ext cx="448787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Dica ao aluno, solução de referência, revisão do enunciado, narrativa</a:t>
            </a:r>
            <a:endParaRPr lang="en-US" sz="1300"/>
          </a:p>
        </p:txBody>
      </p:sp>
      <p:sp>
        <p:nvSpPr>
          <p:cNvPr id="1287609604" name="Shape 11"/>
          <p:cNvSpPr/>
          <p:nvPr/>
        </p:nvSpPr>
        <p:spPr bwMode="auto">
          <a:xfrm>
            <a:off x="6175375" y="3159336"/>
            <a:ext cx="5200650" cy="1168612"/>
          </a:xfrm>
          <a:prstGeom prst="roundRect">
            <a:avLst>
              <a:gd name="adj" fmla="val 8422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pic>
        <p:nvPicPr>
          <p:cNvPr id="1187900186" name="Image 3" descr="Lock"/>
          <p:cNvPicPr>
            <a:picLocks noChangeAspect="1"/>
          </p:cNvPicPr>
          <p:nvPr/>
        </p:nvPicPr>
        <p:blipFill rotWithShape="1">
          <a:blip r:embed="rId6"/>
          <a:srcRect l="0" t="0" r="0" b="0"/>
          <a:stretch/>
        </p:blipFill>
        <p:spPr bwMode="auto">
          <a:xfrm>
            <a:off x="6381221" y="3365184"/>
            <a:ext cx="279400" cy="279400"/>
          </a:xfrm>
          <a:prstGeom prst="rect">
            <a:avLst/>
          </a:prstGeom>
        </p:spPr>
      </p:pic>
      <p:sp>
        <p:nvSpPr>
          <p:cNvPr id="750923827" name="Text 12"/>
          <p:cNvSpPr/>
          <p:nvPr/>
        </p:nvSpPr>
        <p:spPr bwMode="auto">
          <a:xfrm>
            <a:off x="6813021" y="3365184"/>
            <a:ext cx="448787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  <a:defRPr/>
            </a:pPr>
            <a:r>
              <a:rPr lang="en-US" sz="1600" b="1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Restrições de solução</a:t>
            </a:r>
            <a:endParaRPr lang="en-US" sz="1600"/>
          </a:p>
        </p:txBody>
      </p:sp>
      <p:sp>
        <p:nvSpPr>
          <p:cNvPr id="1508233717" name="Text 13"/>
          <p:cNvSpPr/>
          <p:nvPr/>
        </p:nvSpPr>
        <p:spPr bwMode="auto">
          <a:xfrm>
            <a:off x="6813021" y="3659820"/>
            <a:ext cx="448787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Limite de laços aninhados, construções proibidas e "deve usar Dijkstra"</a:t>
            </a:r>
            <a:endParaRPr lang="en-US" sz="1300"/>
          </a:p>
        </p:txBody>
      </p:sp>
      <p:sp>
        <p:nvSpPr>
          <p:cNvPr id="2013320290" name="Text 14"/>
          <p:cNvSpPr/>
          <p:nvPr/>
        </p:nvSpPr>
        <p:spPr bwMode="auto">
          <a:xfrm>
            <a:off x="812800" y="461052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Também: interface em português e inglês, notificações e temas.</a:t>
            </a:r>
            <a:endParaRPr lang="en-US" sz="1300"/>
          </a:p>
        </p:txBody>
      </p:sp>
      <p:sp>
        <p:nvSpPr>
          <p:cNvPr id="1288152275" name="Text 15"/>
          <p:cNvSpPr/>
          <p:nvPr/>
        </p:nvSpPr>
        <p:spPr bwMode="auto"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384049603" name="Text 16"/>
          <p:cNvSpPr/>
          <p:nvPr/>
        </p:nvSpPr>
        <p:spPr bwMode="auto"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9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396544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09 · Resultados preliminares</a:t>
            </a:r>
            <a:endParaRPr lang="en-US" sz="1200"/>
          </a:p>
        </p:txBody>
      </p:sp>
      <p:sp>
        <p:nvSpPr>
          <p:cNvPr id="756796816" name="Text 1"/>
          <p:cNvSpPr/>
          <p:nvPr>
            <p:ph type="title"/>
          </p:nvPr>
        </p:nvSpPr>
        <p:spPr bwMode="auto"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O sandbox resiste a código malicioso</a:t>
            </a:r>
            <a:endParaRPr lang="en-US" sz="3200"/>
          </a:p>
        </p:txBody>
      </p:sp>
      <p:sp>
        <p:nvSpPr>
          <p:cNvPr id="1746868617" name="Text 2"/>
          <p:cNvSpPr/>
          <p:nvPr/>
        </p:nvSpPr>
        <p:spPr bwMode="auto">
          <a:xfrm>
            <a:off x="812800" y="2089572"/>
            <a:ext cx="274701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000"/>
              </a:lnSpc>
              <a:buNone/>
              <a:defRPr/>
            </a:pPr>
            <a:r>
              <a:rPr lang="en-US" sz="10000" b="1">
                <a:solidFill>
                  <a:srgbClr val="2563C9"/>
                </a:solidFill>
                <a:latin typeface="IBM Plex Sans"/>
                <a:ea typeface="IBM Plex Sans"/>
                <a:cs typeface="IBM Plex Sans"/>
              </a:rPr>
              <a:t>29</a:t>
            </a:r>
            <a:endParaRPr lang="en-US" sz="10000"/>
          </a:p>
        </p:txBody>
      </p:sp>
      <p:sp>
        <p:nvSpPr>
          <p:cNvPr id="1710298914" name="Text 3"/>
          <p:cNvSpPr/>
          <p:nvPr/>
        </p:nvSpPr>
        <p:spPr bwMode="auto">
          <a:xfrm>
            <a:off x="812800" y="3410372"/>
            <a:ext cx="274701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testes automatizados no judge</a:t>
            </a:r>
            <a:endParaRPr lang="en-US" sz="1600"/>
          </a:p>
        </p:txBody>
      </p:sp>
      <p:sp>
        <p:nvSpPr>
          <p:cNvPr id="1797930150" name="Shape 4"/>
          <p:cNvSpPr/>
          <p:nvPr/>
        </p:nvSpPr>
        <p:spPr bwMode="auto">
          <a:xfrm>
            <a:off x="3835400" y="1828800"/>
            <a:ext cx="7543800" cy="2370773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117857816" name="Shape 5"/>
          <p:cNvSpPr/>
          <p:nvPr/>
        </p:nvSpPr>
        <p:spPr bwMode="auto">
          <a:xfrm>
            <a:off x="3835400" y="1828800"/>
            <a:ext cx="7543800" cy="2370773"/>
          </a:xfrm>
          <a:custGeom>
            <a:avLst/>
            <a:gdLst/>
            <a:ahLst/>
            <a:cxnLst/>
            <a:rect l="l" t="t" r="r" b="b"/>
            <a:pathLst>
              <a:path w="7543800" h="2370773" fill="norm" stroke="1" extrusionOk="0">
                <a:moveTo>
                  <a:pt x="7467600" y="0"/>
                </a:moveTo>
                <a:lnTo>
                  <a:pt x="7467600" y="0"/>
                </a:lnTo>
                <a:arcTo wR="76200" hR="76200" stAng="16200000" swAng="5400000"/>
                <a:lnTo>
                  <a:pt x="7543800" y="2294573"/>
                </a:lnTo>
                <a:arcTo wR="76200" hR="76200" stAng="0" swAng="5400000"/>
                <a:lnTo>
                  <a:pt x="76200" y="2370773"/>
                </a:lnTo>
                <a:arcTo wR="76200" hR="76200" stAng="5400000" swAng="5400000"/>
                <a:lnTo>
                  <a:pt x="0" y="2294573"/>
                </a:lnTo>
                <a:arcTo wR="76200" hR="69850" stAng="10800000" swAng="-5400000"/>
                <a:lnTo>
                  <a:pt x="7467600" y="2364423"/>
                </a:lnTo>
                <a:arcTo wR="69850" hR="69850" stAng="5400000" swAng="-5400000"/>
                <a:lnTo>
                  <a:pt x="7537450" y="76200"/>
                </a:lnTo>
                <a:arcTo wR="69850" hR="76200" stAng="0" swAng="-5400000"/>
                <a:close/>
              </a:path>
            </a:pathLst>
          </a:custGeom>
          <a:solidFill>
            <a:srgbClr val="DDD9CF"/>
          </a:solidFill>
          <a:ln/>
        </p:spPr>
      </p:sp>
      <p:sp>
        <p:nvSpPr>
          <p:cNvPr id="1975981418" name="Shape 6"/>
          <p:cNvSpPr/>
          <p:nvPr/>
        </p:nvSpPr>
        <p:spPr bwMode="auto">
          <a:xfrm>
            <a:off x="3835400" y="1828800"/>
            <a:ext cx="7543800" cy="2370773"/>
          </a:xfrm>
          <a:custGeom>
            <a:avLst/>
            <a:gdLst/>
            <a:ahLst/>
            <a:cxnLst/>
            <a:rect l="l" t="t" r="r" b="b"/>
            <a:pathLst>
              <a:path w="7543800" h="2370773" fill="norm" stroke="1" extrusionOk="0">
                <a:moveTo>
                  <a:pt x="76200" y="2370773"/>
                </a:moveTo>
                <a:lnTo>
                  <a:pt x="76200" y="2370773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467600" y="0"/>
                </a:lnTo>
                <a:arcTo wR="76200" hR="76200" stAng="16200000" swAng="5400000"/>
                <a:lnTo>
                  <a:pt x="7543800" y="76200"/>
                </a:lnTo>
                <a:arcTo wR="76200" hR="64558" stAng="0" swAng="-5400000"/>
                <a:lnTo>
                  <a:pt x="76200" y="11642"/>
                </a:lnTo>
                <a:arcTo wR="64558" hR="64558" stAng="16200000" swAng="-5400000"/>
                <a:lnTo>
                  <a:pt x="11642" y="2294573"/>
                </a:lnTo>
                <a:arcTo wR="64558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607106437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948642" y="1942042"/>
          <a:ext cx="7323138" cy="215011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5126196"/>
                <a:gridCol w="2196941"/>
              </a:tblGrid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 que é verificado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Testes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Restrições estruturais (laços, construções)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Sandbox: todas as 6 linguagens, Portugol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Sandbox: fork bomb, tempo, memória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Correção, compilação e tempo limite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58352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Leitura dos resultados do isolate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  <a:endParaRPr lang="en-US" sz="13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57785" marR="57785" marT="57785" marB="57785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88166012" name="Text 7"/>
          <p:cNvSpPr/>
          <p:nvPr/>
        </p:nvSpPr>
        <p:spPr bwMode="auto">
          <a:xfrm>
            <a:off x="812800" y="447897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Fork bomb limitada a 64 processos · memória: 128 MB (JVM: 2 GB) · laço infinito encerrado pelo tempo de parede.</a:t>
            </a:r>
            <a:endParaRPr lang="en-US" sz="1400"/>
          </a:p>
        </p:txBody>
      </p:sp>
      <p:sp>
        <p:nvSpPr>
          <p:cNvPr id="971739573" name="Text 8"/>
          <p:cNvSpPr/>
          <p:nvPr/>
        </p:nvSpPr>
        <p:spPr bwMode="auto"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1491849004" name="Text 9"/>
          <p:cNvSpPr/>
          <p:nvPr/>
        </p:nvSpPr>
        <p:spPr bwMode="auto"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10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919813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10 · Discussão</a:t>
            </a:r>
            <a:endParaRPr lang="en-US" sz="1200"/>
          </a:p>
        </p:txBody>
      </p:sp>
      <p:sp>
        <p:nvSpPr>
          <p:cNvPr id="783008458" name="Text 1"/>
          <p:cNvSpPr/>
          <p:nvPr>
            <p:ph type="title"/>
          </p:nvPr>
        </p:nvSpPr>
        <p:spPr bwMode="auto"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O sistema está pronto; falta provar que ensina</a:t>
            </a:r>
            <a:endParaRPr lang="en-US" sz="3200"/>
          </a:p>
        </p:txBody>
      </p:sp>
      <p:sp>
        <p:nvSpPr>
          <p:cNvPr id="55086110" name="Shape 2"/>
          <p:cNvSpPr/>
          <p:nvPr/>
        </p:nvSpPr>
        <p:spPr bwMode="auto">
          <a:xfrm>
            <a:off x="815975" y="1857375"/>
            <a:ext cx="5175250" cy="2142384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1709057521" name="Text 3"/>
          <p:cNvSpPr/>
          <p:nvPr/>
        </p:nvSpPr>
        <p:spPr bwMode="auto">
          <a:xfrm>
            <a:off x="1072621" y="2114023"/>
            <a:ext cx="480181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  <a:defRPr/>
            </a:pPr>
            <a:r>
              <a:rPr lang="en-US" sz="1700" b="1">
                <a:solidFill>
                  <a:srgbClr val="1D4FA8"/>
                </a:solidFill>
                <a:latin typeface="IBM Plex Sans"/>
                <a:ea typeface="IBM Plex Sans"/>
                <a:cs typeface="IBM Plex Sans"/>
              </a:rPr>
              <a:t>Pontos fortes</a:t>
            </a:r>
            <a:endParaRPr lang="en-US" sz="1700"/>
          </a:p>
        </p:txBody>
      </p:sp>
      <p:sp>
        <p:nvSpPr>
          <p:cNvPr id="155815058" name="Text 4"/>
          <p:cNvSpPr/>
          <p:nvPr/>
        </p:nvSpPr>
        <p:spPr bwMode="auto">
          <a:xfrm>
            <a:off x="1157584" y="2500101"/>
            <a:ext cx="4709234" cy="1268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037" indent="-169037" algn="l">
              <a:lnSpc>
                <a:spcPts val="1958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Sem broker de mensagens: só PostgreSQL</a:t>
            </a:r>
            <a:endParaRPr lang="en-US" sz="1350"/>
          </a:p>
          <a:p>
            <a:pPr marL="169037" indent="-169037" algn="l">
              <a:lnSpc>
                <a:spcPts val="1958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Isolamento no nível da IOI, sem Docker privilegiado</a:t>
            </a:r>
            <a:endParaRPr lang="en-US" sz="1350"/>
          </a:p>
          <a:p>
            <a:pPr marL="169037" indent="-169037" algn="l">
              <a:lnSpc>
                <a:spcPts val="1958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Tipagem de ponta a ponta (Drizzle + Zod)</a:t>
            </a:r>
            <a:endParaRPr lang="en-US" sz="1350"/>
          </a:p>
          <a:p>
            <a:pPr marL="169037" indent="-169037" algn="l">
              <a:lnSpc>
                <a:spcPts val="1958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IA sob demanda, com entrada delimitada contra prompt injection</a:t>
            </a:r>
            <a:endParaRPr lang="en-US" sz="1350"/>
          </a:p>
        </p:txBody>
      </p:sp>
      <p:sp>
        <p:nvSpPr>
          <p:cNvPr id="1486548831" name="Shape 5"/>
          <p:cNvSpPr/>
          <p:nvPr/>
        </p:nvSpPr>
        <p:spPr bwMode="auto">
          <a:xfrm>
            <a:off x="6200775" y="1857375"/>
            <a:ext cx="5175250" cy="2142384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1155852708" name="Text 6"/>
          <p:cNvSpPr/>
          <p:nvPr/>
        </p:nvSpPr>
        <p:spPr bwMode="auto">
          <a:xfrm>
            <a:off x="6457421" y="2114023"/>
            <a:ext cx="480181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  <a:defRPr/>
            </a:pPr>
            <a:r>
              <a:rPr lang="en-US" sz="1700" b="1">
                <a:solidFill>
                  <a:srgbClr val="8A4214"/>
                </a:solidFill>
                <a:latin typeface="IBM Plex Sans"/>
                <a:ea typeface="IBM Plex Sans"/>
                <a:cs typeface="IBM Plex Sans"/>
              </a:rPr>
              <a:t>Limitações</a:t>
            </a:r>
            <a:endParaRPr lang="en-US" sz="1700"/>
          </a:p>
        </p:txBody>
      </p:sp>
      <p:sp>
        <p:nvSpPr>
          <p:cNvPr id="1261998072" name="Text 7"/>
          <p:cNvSpPr/>
          <p:nvPr/>
        </p:nvSpPr>
        <p:spPr bwMode="auto">
          <a:xfrm>
            <a:off x="6542384" y="2500101"/>
            <a:ext cx="4709234" cy="1268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037" indent="-169037" algn="l">
              <a:lnSpc>
                <a:spcPts val="1958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Ainda sem avaliação com alunos</a:t>
            </a:r>
            <a:endParaRPr lang="en-US" sz="1350"/>
          </a:p>
          <a:p>
            <a:pPr marL="169037" indent="-169037" algn="l">
              <a:lnSpc>
                <a:spcPts val="1958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Análise de laços por texto, não por AST: falso positivo em strings</a:t>
            </a:r>
            <a:endParaRPr lang="en-US" sz="1350"/>
          </a:p>
          <a:p>
            <a:pPr marL="169037" indent="-169037" algn="l">
              <a:lnSpc>
                <a:spcPts val="1958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Depende da API do Gemini (custo e limites)</a:t>
            </a:r>
            <a:endParaRPr lang="en-US" sz="1350"/>
          </a:p>
          <a:p>
            <a:pPr marL="169037" indent="-169037" algn="l">
              <a:lnSpc>
                <a:spcPts val="1958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4A5260"/>
                </a:solidFill>
                <a:latin typeface="IBM Plex Sans"/>
                <a:ea typeface="IBM Plex Sans"/>
                <a:cs typeface="IBM Plex Sans"/>
              </a:rPr>
              <a:t>Implantação exige Linux com cgroups</a:t>
            </a:r>
            <a:endParaRPr lang="en-US" sz="1350"/>
          </a:p>
        </p:txBody>
      </p:sp>
      <p:sp>
        <p:nvSpPr>
          <p:cNvPr id="747467156" name="Text 8"/>
          <p:cNvSpPr/>
          <p:nvPr/>
        </p:nvSpPr>
        <p:spPr bwMode="auto"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431176850" name="Text 9"/>
          <p:cNvSpPr/>
          <p:nvPr/>
        </p:nvSpPr>
        <p:spPr bwMode="auto"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11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553471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11 · Cronograma de conclusão</a:t>
            </a:r>
            <a:endParaRPr lang="en-US" sz="1200"/>
          </a:p>
        </p:txBody>
      </p:sp>
      <p:sp>
        <p:nvSpPr>
          <p:cNvPr id="1155318656" name="Text 1"/>
          <p:cNvSpPr/>
          <p:nvPr>
            <p:ph type="title"/>
          </p:nvPr>
        </p:nvSpPr>
        <p:spPr bwMode="auto"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  <a:defRPr/>
            </a:pPr>
            <a:r>
              <a:rPr lang="en-US" sz="3200" b="1" i="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Próximas etapas até a defesa</a:t>
            </a:r>
            <a:endParaRPr lang="en-US" sz="3200"/>
          </a:p>
        </p:txBody>
      </p:sp>
      <p:sp>
        <p:nvSpPr>
          <p:cNvPr id="415085557" name="Shape 2"/>
          <p:cNvSpPr/>
          <p:nvPr/>
        </p:nvSpPr>
        <p:spPr bwMode="auto">
          <a:xfrm>
            <a:off x="812800" y="1854200"/>
            <a:ext cx="10566400" cy="2941214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/>
        </p:spPr>
      </p:sp>
      <p:sp>
        <p:nvSpPr>
          <p:cNvPr id="1954199204" name="Shape 3"/>
          <p:cNvSpPr/>
          <p:nvPr/>
        </p:nvSpPr>
        <p:spPr bwMode="auto">
          <a:xfrm>
            <a:off x="812800" y="1854200"/>
            <a:ext cx="10566400" cy="2941214"/>
          </a:xfrm>
          <a:custGeom>
            <a:avLst/>
            <a:gdLst/>
            <a:ahLst/>
            <a:cxnLst/>
            <a:rect l="l" t="t" r="r" b="b"/>
            <a:pathLst>
              <a:path w="10566400" h="2941214" fill="norm" stroke="1" extrusionOk="0">
                <a:moveTo>
                  <a:pt x="10490200" y="0"/>
                </a:moveTo>
                <a:lnTo>
                  <a:pt x="10490200" y="0"/>
                </a:lnTo>
                <a:arcTo wR="76200" hR="76200" stAng="16200000" swAng="5400000"/>
                <a:lnTo>
                  <a:pt x="10566400" y="2865014"/>
                </a:lnTo>
                <a:arcTo wR="76200" hR="76200" stAng="0" swAng="5400000"/>
                <a:lnTo>
                  <a:pt x="76200" y="2941214"/>
                </a:lnTo>
                <a:arcTo wR="76200" hR="76200" stAng="5400000" swAng="5400000"/>
                <a:lnTo>
                  <a:pt x="0" y="2865014"/>
                </a:lnTo>
                <a:arcTo wR="76200" hR="69850" stAng="10800000" swAng="-5400000"/>
                <a:lnTo>
                  <a:pt x="10490200" y="2934864"/>
                </a:lnTo>
                <a:arcTo wR="69850" hR="69850" stAng="5400000" swAng="-5400000"/>
                <a:lnTo>
                  <a:pt x="10560050" y="76200"/>
                </a:lnTo>
                <a:arcTo wR="69850" hR="76200" stAng="0" swAng="-5400000"/>
                <a:close/>
              </a:path>
            </a:pathLst>
          </a:custGeom>
          <a:solidFill>
            <a:srgbClr val="DDD9CF"/>
          </a:solidFill>
          <a:ln/>
        </p:spPr>
      </p:sp>
      <p:sp>
        <p:nvSpPr>
          <p:cNvPr id="1402132860" name="Shape 4"/>
          <p:cNvSpPr/>
          <p:nvPr/>
        </p:nvSpPr>
        <p:spPr bwMode="auto">
          <a:xfrm>
            <a:off x="812800" y="1854200"/>
            <a:ext cx="10566400" cy="2941214"/>
          </a:xfrm>
          <a:custGeom>
            <a:avLst/>
            <a:gdLst/>
            <a:ahLst/>
            <a:cxnLst/>
            <a:rect l="l" t="t" r="r" b="b"/>
            <a:pathLst>
              <a:path w="10566400" h="2941214" fill="norm" stroke="1" extrusionOk="0">
                <a:moveTo>
                  <a:pt x="76200" y="2941214"/>
                </a:moveTo>
                <a:lnTo>
                  <a:pt x="76200" y="2941214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4558" stAng="0" swAng="-5400000"/>
                <a:lnTo>
                  <a:pt x="76200" y="11642"/>
                </a:lnTo>
                <a:arcTo wR="64558" hR="64558" stAng="16200000" swAng="-5400000"/>
                <a:lnTo>
                  <a:pt x="11642" y="2865014"/>
                </a:lnTo>
                <a:arcTo wR="64558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32927661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938742" y="1980142"/>
          <a:ext cx="10320338" cy="2695152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25627"/>
                <a:gridCol w="6398609"/>
                <a:gridCol w="3096101"/>
              </a:tblGrid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#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Etapa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Período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CBCBC"/>
                      </a:solidFill>
                    </a:lnL>
                    <a:lnR w="12700" algn="ctr">
                      <a:solidFill>
                        <a:srgbClr val="BCBCBC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rgbClr val="BCBCBC"/>
                      </a:solidFill>
                    </a:lnB>
                    <a:solidFill>
                      <a:srgbClr val="ECECEC"/>
                    </a:solidFill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Atualizar o texto: isolate, 6 linguagens, avaliação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[outubro]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CBCBC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Preparar avaliação: problemas, aula e questionário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[outubro]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B8BEC8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8BEC8"/>
                      </a:solidFill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Aplicar com uma turma: torneio + aula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8BEC8"/>
                      </a:solidFill>
                    </a:lnL>
                    <a:lnR w="12700" algn="ctr">
                      <a:solidFill>
                        <a:srgbClr val="B8BEC8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8BEC8"/>
                      </a:solidFill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[mês]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B8BEC8"/>
                      </a:solidFill>
                    </a:lnL>
                    <a:lnR w="12700" algn="ctr">
                      <a:solidFill>
                        <a:srgbClr val="B8BEC8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B8BEC8"/>
                      </a:solidFill>
                    </a:lnB>
                    <a:solidFill>
                      <a:srgbClr val="E6EEFB"/>
                    </a:solidFill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8BEC8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Analisar os dados e escrever os resultados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8BEC8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[mês]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B8BEC8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Revisão final com a orientadora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[mês]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  <a:tr h="385022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0" algn="ctr">
                      <a:noFill/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Defesa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161A22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[data]</a:t>
                      </a:r>
                      <a:endParaRPr lang="en-US" sz="14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62230" marR="62230" marT="62230" marB="62230" anchor="t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03364017" name="Text 5"/>
          <p:cNvSpPr/>
          <p:nvPr/>
        </p:nvSpPr>
        <p:spPr bwMode="auto"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1169071179" name="Text 6"/>
          <p:cNvSpPr/>
          <p:nvPr/>
        </p:nvSpPr>
        <p:spPr bwMode="auto"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12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5F3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262366" name="Text 0"/>
          <p:cNvSpPr/>
          <p:nvPr/>
        </p:nvSpPr>
        <p:spPr bwMode="auto"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563C9"/>
                </a:solidFill>
                <a:latin typeface="JetBrains Mono"/>
                <a:ea typeface="JetBrains Mono"/>
                <a:cs typeface="JetBrains Mono"/>
              </a:rPr>
              <a:t>Referências</a:t>
            </a:r>
            <a:endParaRPr lang="en-US" sz="1200"/>
          </a:p>
        </p:txBody>
      </p:sp>
      <p:sp>
        <p:nvSpPr>
          <p:cNvPr id="1642299427" name="Text 1"/>
          <p:cNvSpPr/>
          <p:nvPr/>
        </p:nvSpPr>
        <p:spPr bwMode="auto">
          <a:xfrm>
            <a:off x="812800" y="1280158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CAMPOS, C. P.; FERREIRA, C. E. BOCA: um sistema de apoio a competições de programação. WEI, 2004.</a:t>
            </a:r>
            <a:endParaRPr lang="en-US" sz="1200"/>
          </a:p>
        </p:txBody>
      </p:sp>
      <p:sp>
        <p:nvSpPr>
          <p:cNvPr id="1309158333" name="Text 2"/>
          <p:cNvSpPr/>
          <p:nvPr/>
        </p:nvSpPr>
        <p:spPr bwMode="auto">
          <a:xfrm>
            <a:off x="812800" y="1805942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CARNEIRO, M. F. Sistema web para auxílio no treinamento para maratonas de programação. UTFPR, 2012.</a:t>
            </a:r>
            <a:endParaRPr lang="en-US" sz="1200"/>
          </a:p>
        </p:txBody>
      </p:sp>
      <p:sp>
        <p:nvSpPr>
          <p:cNvPr id="1935229810" name="Text 3"/>
          <p:cNvSpPr/>
          <p:nvPr/>
        </p:nvSpPr>
        <p:spPr bwMode="auto">
          <a:xfrm>
            <a:off x="812800" y="2331721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GEMINI TEAM, GOOGLE. Gemini: a family of highly capable multimodal models. 2023.</a:t>
            </a:r>
            <a:endParaRPr lang="en-US" sz="1200"/>
          </a:p>
        </p:txBody>
      </p:sp>
      <p:sp>
        <p:nvSpPr>
          <p:cNvPr id="1740611057" name="Text 4"/>
          <p:cNvSpPr/>
          <p:nvPr/>
        </p:nvSpPr>
        <p:spPr bwMode="auto">
          <a:xfrm>
            <a:off x="812800" y="2857500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LIMA, G. M. Gamma Online Judge: plataforma para as questões das maratonas UnB de programação. 2022.</a:t>
            </a:r>
            <a:endParaRPr lang="en-US" sz="1200"/>
          </a:p>
        </p:txBody>
      </p:sp>
      <p:sp>
        <p:nvSpPr>
          <p:cNvPr id="1682088842" name="Text 5"/>
          <p:cNvSpPr/>
          <p:nvPr/>
        </p:nvSpPr>
        <p:spPr bwMode="auto">
          <a:xfrm>
            <a:off x="812800" y="3383279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MATSAKIS, N. D.; KLOCK, F. S. The Rust language. ACM SIGAda Ada Letters, 2014.</a:t>
            </a:r>
            <a:endParaRPr lang="en-US" sz="1200"/>
          </a:p>
        </p:txBody>
      </p:sp>
      <p:sp>
        <p:nvSpPr>
          <p:cNvPr id="2097667548" name="Text 6"/>
          <p:cNvSpPr/>
          <p:nvPr/>
        </p:nvSpPr>
        <p:spPr bwMode="auto">
          <a:xfrm>
            <a:off x="812800" y="3909058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MERKEL, D. Docker: lightweight Linux containers for consistent development and deployment. Linux Journal, 2014.</a:t>
            </a:r>
            <a:endParaRPr lang="en-US" sz="1200"/>
          </a:p>
        </p:txBody>
      </p:sp>
      <p:sp>
        <p:nvSpPr>
          <p:cNvPr id="1991834582" name="Text 7"/>
          <p:cNvSpPr/>
          <p:nvPr/>
        </p:nvSpPr>
        <p:spPr bwMode="auto">
          <a:xfrm>
            <a:off x="6248400" y="1280158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SILVA, J. T. S. et al. Ataux: uma ferramenta para auxiliar o acompanhamento de submissões de questões de programação. 2021.</a:t>
            </a:r>
            <a:endParaRPr lang="en-US" sz="1200"/>
          </a:p>
        </p:txBody>
      </p:sp>
      <p:sp>
        <p:nvSpPr>
          <p:cNvPr id="1697509109" name="Text 8"/>
          <p:cNvSpPr/>
          <p:nvPr/>
        </p:nvSpPr>
        <p:spPr bwMode="auto">
          <a:xfrm>
            <a:off x="6248400" y="1805942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STONEBRAKER, M.; ROWE, L. A. The design of POSTGRES. ACM SIGMOD, 1986.</a:t>
            </a:r>
            <a:endParaRPr lang="en-US" sz="1200"/>
          </a:p>
        </p:txBody>
      </p:sp>
      <p:sp>
        <p:nvSpPr>
          <p:cNvPr id="1855678330" name="Text 9"/>
          <p:cNvSpPr/>
          <p:nvPr/>
        </p:nvSpPr>
        <p:spPr bwMode="auto">
          <a:xfrm>
            <a:off x="6248400" y="2331721"/>
            <a:ext cx="528472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DRIZZLE TEAM. Drizzle ORM: TypeScript ORM for SQL. 2024.</a:t>
            </a:r>
            <a:endParaRPr lang="en-US" sz="1200"/>
          </a:p>
        </p:txBody>
      </p:sp>
      <p:sp>
        <p:nvSpPr>
          <p:cNvPr id="1483338140" name="Text 10"/>
          <p:cNvSpPr/>
          <p:nvPr/>
        </p:nvSpPr>
        <p:spPr bwMode="auto">
          <a:xfrm>
            <a:off x="6248400" y="2651758"/>
            <a:ext cx="528472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RUN CODES. Run Codes: plataforma de programação online. 2024.</a:t>
            </a:r>
            <a:endParaRPr lang="en-US" sz="1200"/>
          </a:p>
        </p:txBody>
      </p:sp>
      <p:sp>
        <p:nvSpPr>
          <p:cNvPr id="1787534237" name="Text 11"/>
          <p:cNvSpPr/>
          <p:nvPr/>
        </p:nvSpPr>
        <p:spPr bwMode="auto">
          <a:xfrm>
            <a:off x="6248400" y="2971800"/>
            <a:ext cx="528472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VERCEL INC. Next.js: the React framework for the web. 2024.</a:t>
            </a:r>
            <a:endParaRPr lang="en-US" sz="1200"/>
          </a:p>
        </p:txBody>
      </p:sp>
      <p:sp>
        <p:nvSpPr>
          <p:cNvPr id="502131561" name="Text 12"/>
          <p:cNvSpPr/>
          <p:nvPr/>
        </p:nvSpPr>
        <p:spPr bwMode="auto">
          <a:xfrm>
            <a:off x="6248400" y="3291842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BROOKE, J. SUS: a quick and dirty usability scale. Usability Evaluation in Industry, 1996.</a:t>
            </a:r>
            <a:endParaRPr lang="en-US" sz="1200"/>
          </a:p>
        </p:txBody>
      </p:sp>
      <p:sp>
        <p:nvSpPr>
          <p:cNvPr id="1164098258" name="Text 99"/>
          <p:cNvSpPr/>
          <p:nvPr/>
        </p:nvSpPr>
        <p:spPr bwMode="auto">
          <a:xfrm>
            <a:off x="6248400" y="3817621"/>
            <a:ext cx="528472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61A22"/>
                </a:solidFill>
                <a:latin typeface="IBM Plex Sans"/>
                <a:ea typeface="IBM Plex Sans"/>
                <a:cs typeface="IBM Plex Sans"/>
              </a:rPr>
              <a:t>MAREŠ, M.; BLACKHAM, B. A new contest sandbox. Olympiads in Informatics, v. 6, 2012.</a:t>
            </a:r>
            <a:endParaRPr lang="en-US" sz="1200"/>
          </a:p>
        </p:txBody>
      </p:sp>
      <p:sp>
        <p:nvSpPr>
          <p:cNvPr id="332409778" name="Text 13"/>
          <p:cNvSpPr/>
          <p:nvPr/>
        </p:nvSpPr>
        <p:spPr bwMode="auto"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WhyRunner · TCC II</a:t>
            </a:r>
            <a:endParaRPr lang="en-US" sz="1200"/>
          </a:p>
        </p:txBody>
      </p:sp>
      <p:sp>
        <p:nvSpPr>
          <p:cNvPr id="2034699603" name="Text 14"/>
          <p:cNvSpPr/>
          <p:nvPr/>
        </p:nvSpPr>
        <p:spPr bwMode="auto"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280"/>
                </a:solidFill>
                <a:latin typeface="IBM Plex Sans"/>
                <a:ea typeface="IBM Plex Sans"/>
                <a:cs typeface="IBM Plex Sans"/>
              </a:rPr>
              <a:t>13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yRunner — Apresentação Parcial TCC II">
  <a:themeElements>
    <a:clrScheme name="WhyRunner — Apresentação Parcial TCC II">
      <a:dk1>
        <a:srgbClr val="161A22"/>
      </a:dk1>
      <a:lt1>
        <a:srgbClr val="F5F3EE"/>
      </a:lt1>
      <a:dk2>
        <a:srgbClr val="4E5055"/>
      </a:dk2>
      <a:lt2>
        <a:srgbClr val="DFDDDA"/>
      </a:lt2>
      <a:accent1>
        <a:srgbClr val="2563C9"/>
      </a:accent1>
      <a:accent2>
        <a:srgbClr val="7FA8F0"/>
      </a:accent2>
      <a:accent3>
        <a:srgbClr val="1D4FA8"/>
      </a:accent3>
      <a:accent4>
        <a:srgbClr val="8A4214"/>
      </a:accent4>
      <a:accent5>
        <a:srgbClr val="4A5260"/>
      </a:accent5>
      <a:accent6>
        <a:srgbClr val="6B7280"/>
      </a:accent6>
      <a:hlink>
        <a:srgbClr val="0563C1"/>
      </a:hlink>
      <a:folHlink>
        <a:srgbClr val="954F72"/>
      </a:folHlink>
    </a:clrScheme>
    <a:fontScheme name="WhyRunner — Apresentação Parcial TCC II">
      <a:majorFont>
        <a:latin typeface="IBM Plex Sans"/>
        <a:ea typeface="Arial"/>
        <a:cs typeface="Arial"/>
      </a:majorFont>
      <a:minorFont>
        <a:latin typeface="IBM Plex San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WhyRunner — Apresentação Parcial TCC II</dc:title>
  <dc:subject/>
  <dc:creator/>
  <cp:lastModifiedBy/>
  <cp:revision>2</cp:revision>
  <dcterms:created xsi:type="dcterms:W3CDTF">2026-10-05T19:45:20Z</dcterms:created>
  <dcterms:modified xsi:type="dcterms:W3CDTF">2026-10-15T21:34:25Z</dcterms:modified>
</cp:coreProperties>
</file>